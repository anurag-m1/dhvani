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Delhi flies 500 giant national flags with pride — but maintaining them costs 104 crore rupees every year. Storms tear them apart. Pollution degrades them. The government is considering doubling the budget to 208 crores. But we have a better way. Introducing Dhvani — a Smart and Resilient National Flag System that combines advanced material science, IoT sensors, and AI monitoring to extend flag lifespan by 3x and slash costs by 86 percent. Here is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Delhi spends 104 crore rupees annually on 500 high-mast flags — replacing them 4 times a year. Storms tear them. Pollution degrades them. And the proposed solution? Double the replacements to 8 times a year — costing 208 crores. There is no real-time monitoring. Damage is discovered only when someone physically visits the site. This is unsustainable.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three pillars. First: Material Innovation — a Kevlar-Polyester blend that is 4 times stronger, with nano-coating that makes it self-cleaning. Lifespan jumps from 3 months to 12 months. Second: IoT and AI — 5 sensors on every mast, connected via LoRaWAN, with AI computer vision that detects tears in under 3 seconds with 94 percent confidence. Third: Sustainable Lifecycle — 100 percent Flag Code compliant disposal with recycling that generates 30 lakh rupees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polyester fabric lasts just 3 months. Our Kevlar-Polyester blend lasts 12 months — that is 3 times longer. It withstands wind speeds of 150 kilometers per hour. The TiO2 nano-coating is self-cleaning — UV light breaks down dust and pollutants automatically, reducing washing frequency by 70 percent. And we have a graphene-reinforced fabric in the pipeline that lasts 18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flag mast gets 5 sensors — accelerometer, strain gauge, wind speed, humidity, and a 360-degree camera with AI. The camera runs YOLOv8 on a Google Edge TPU. It captures every 30 seconds, detects tears with 94 percent accuracy, classifies severity, and pushes an alert to the command center in under 3 seconds. No more waiting for someone to physically visit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speak for themselves. Current cost: 104 crores. With Dhvani: 43 crores. That is an 86.5 percent reduction — saving 61 crores every single year. The total investment is 43 crores in Year 1, with a payback period of just 8.5 months. Over 5 years, we save 305 crores — a 7.1 times return on investment. And this is with the Kevlar blend. Our graphene roadmap takes savings even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deploy this in 18 months across 4 phases. Phase 1: a 3-month pilot at India Gate and Rashtrapati Bhavan. Phase 2: full rollout to all 500 flags across 8 zones. Phase 3: complete smart system with auto-retract and weather integration. Phase 4: graphene upgrade and scaling to other state capitals. Total investment: 43 crores. Payback: just 8 and a half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Dhvani means sound — the resonant voice of a nation that respects its symbols. Three times the lifespan. 86 percent cost reduction. Damage detected in under 3 seconds. This is not just technology — this is respect for our Tiranga, powered by innovation. Delhi can lead by example, and this system can scale to every state capital in India. Jai Hind.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3" name="Text 1"/>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4" name="Text 2"/>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
        <p:nvSpPr>
          <p:cNvPr id="5" name="Text 3"/>
          <p:cNvSpPr/>
          <p:nvPr/>
        </p:nvSpPr>
        <p:spPr>
          <a:xfrm>
            <a:off x="-571500" y="857250"/>
            <a:ext cx="2857500" cy="2857500"/>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4"/>
          <p:cNvSpPr/>
          <p:nvPr/>
        </p:nvSpPr>
        <p:spPr>
          <a:xfrm>
            <a:off x="7072313" y="2071688"/>
            <a:ext cx="2500313" cy="2500313"/>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5"/>
          <p:cNvSpPr/>
          <p:nvPr/>
        </p:nvSpPr>
        <p:spPr>
          <a:xfrm>
            <a:off x="274320" y="1578769"/>
            <a:ext cx="8595360" cy="848678"/>
          </a:xfrm>
          <a:prstGeom prst="rect">
            <a:avLst/>
          </a:prstGeom>
          <a:noFill/>
          <a:ln/>
        </p:spPr>
        <p:txBody>
          <a:bodyPr wrap="none" lIns="0" tIns="0" rIns="0" bIns="0" rtlCol="0" anchor="t"/>
          <a:lstStyle/>
          <a:p>
            <a:pPr algn="ctr" indent="0" marL="0">
              <a:lnSpc>
                <a:spcPts val="6188"/>
              </a:lnSpc>
              <a:buNone/>
            </a:pPr>
            <a:r>
              <a:rPr lang="en-US" sz="6188" b="1" spc="-112" kern="0" dirty="0">
                <a:solidFill>
                  <a:srgbClr val="FF9933"/>
                </a:solidFill>
                <a:latin typeface="Carlito" pitchFamily="34" charset="0"/>
                <a:ea typeface="Carlito" pitchFamily="34" charset="-122"/>
                <a:cs typeface="Carlito" pitchFamily="34" charset="-120"/>
              </a:rPr>
              <a:t>Dh</a:t>
            </a:r>
            <a:pPr algn="ctr" indent="0" marL="0">
              <a:lnSpc>
                <a:spcPts val="6188"/>
              </a:lnSpc>
              <a:buNone/>
            </a:pPr>
            <a:r>
              <a:rPr lang="en-US" sz="6188" b="1" spc="-112" kern="0" dirty="0">
                <a:solidFill>
                  <a:srgbClr val="FFFFFF"/>
                </a:solidFill>
                <a:latin typeface="Carlito" pitchFamily="34" charset="0"/>
                <a:ea typeface="Carlito" pitchFamily="34" charset="-122"/>
                <a:cs typeface="Carlito" pitchFamily="34" charset="-120"/>
              </a:rPr>
              <a:t>va</a:t>
            </a:r>
            <a:pPr algn="ctr" indent="0" marL="0">
              <a:lnSpc>
                <a:spcPts val="6188"/>
              </a:lnSpc>
              <a:buNone/>
            </a:pPr>
            <a:r>
              <a:rPr lang="en-US" sz="6188" b="1" spc="-112" kern="0" dirty="0">
                <a:solidFill>
                  <a:srgbClr val="138808"/>
                </a:solidFill>
                <a:latin typeface="Carlito" pitchFamily="34" charset="0"/>
                <a:ea typeface="Carlito" pitchFamily="34" charset="-122"/>
                <a:cs typeface="Carlito" pitchFamily="34" charset="-120"/>
              </a:rPr>
              <a:t>vi</a:t>
            </a:r>
            <a:endParaRPr lang="en-US" sz="6188" dirty="0"/>
          </a:p>
        </p:txBody>
      </p:sp>
      <p:sp>
        <p:nvSpPr>
          <p:cNvPr id="8" name="Text 6"/>
          <p:cNvSpPr/>
          <p:nvPr/>
        </p:nvSpPr>
        <p:spPr>
          <a:xfrm>
            <a:off x="2408596" y="2507456"/>
            <a:ext cx="4326809" cy="324041"/>
          </a:xfrm>
          <a:prstGeom prst="rect">
            <a:avLst/>
          </a:prstGeom>
          <a:noFill/>
          <a:ln/>
        </p:spPr>
        <p:txBody>
          <a:bodyPr wrap="square" lIns="0" tIns="0" rIns="0" bIns="0" rtlCol="0" anchor="t"/>
          <a:lstStyle/>
          <a:p>
            <a:pPr algn="ctr" indent="0" marL="0">
              <a:lnSpc>
                <a:spcPts val="2363"/>
              </a:lnSpc>
              <a:buNone/>
            </a:pPr>
            <a:r>
              <a:rPr lang="en-US" sz="1575" spc="56" kern="0" dirty="0">
                <a:solidFill>
                  <a:srgbClr val="FFFFFF"/>
                </a:solidFill>
                <a:latin typeface="Carlito" pitchFamily="34" charset="0"/>
                <a:ea typeface="Carlito" pitchFamily="34" charset="-122"/>
                <a:cs typeface="Carlito" pitchFamily="34" charset="-120"/>
              </a:rPr>
              <a:t>Smart &amp; Resilient National Flag System</a:t>
            </a:r>
            <a:endParaRPr lang="en-US" sz="1575" dirty="0"/>
          </a:p>
        </p:txBody>
      </p:sp>
      <p:sp>
        <p:nvSpPr>
          <p:cNvPr id="9" name="Text 7"/>
          <p:cNvSpPr/>
          <p:nvPr/>
        </p:nvSpPr>
        <p:spPr>
          <a:xfrm>
            <a:off x="3571875" y="3064669"/>
            <a:ext cx="666713" cy="21431"/>
          </a:xfrm>
          <a:prstGeom prst="rect">
            <a:avLst/>
          </a:prstGeom>
          <a:solidFill>
            <a:srgbClr val="FF9933"/>
          </a:solidFill>
          <a:ln/>
        </p:spPr>
        <p:txBody>
          <a:bodyPr wrap="square" rtlCol="0" anchor="ctr"/>
          <a:lstStyle/>
          <a:p>
            <a:pPr indent="0" marL="0">
              <a:buNone/>
            </a:pPr>
            <a:endParaRPr lang="en-US" dirty="0"/>
          </a:p>
        </p:txBody>
      </p:sp>
      <p:sp>
        <p:nvSpPr>
          <p:cNvPr id="10" name="Text 8"/>
          <p:cNvSpPr/>
          <p:nvPr/>
        </p:nvSpPr>
        <p:spPr>
          <a:xfrm>
            <a:off x="4238588" y="3064669"/>
            <a:ext cx="666824" cy="21431"/>
          </a:xfrm>
          <a:prstGeom prst="rect">
            <a:avLst/>
          </a:prstGeom>
          <a:solidFill>
            <a:srgbClr val="FFFFFF"/>
          </a:solidFill>
          <a:ln/>
        </p:spPr>
        <p:txBody>
          <a:bodyPr wrap="square" rtlCol="0" anchor="ctr"/>
          <a:lstStyle/>
          <a:p>
            <a:pPr indent="0" marL="0">
              <a:buNone/>
            </a:pPr>
            <a:endParaRPr lang="en-US" dirty="0"/>
          </a:p>
        </p:txBody>
      </p:sp>
      <p:sp>
        <p:nvSpPr>
          <p:cNvPr id="11" name="Text 9"/>
          <p:cNvSpPr/>
          <p:nvPr/>
        </p:nvSpPr>
        <p:spPr>
          <a:xfrm>
            <a:off x="4905412" y="3064669"/>
            <a:ext cx="666713" cy="21431"/>
          </a:xfrm>
          <a:prstGeom prst="rect">
            <a:avLst/>
          </a:prstGeom>
          <a:solidFill>
            <a:srgbClr val="138808"/>
          </a:solidFill>
          <a:ln/>
        </p:spPr>
        <p:txBody>
          <a:bodyPr wrap="square" rtlCol="0" anchor="ctr"/>
          <a:lstStyle/>
          <a:p>
            <a:pPr indent="0" marL="0">
              <a:buNone/>
            </a:pPr>
            <a:endParaRPr lang="en-US" dirty="0"/>
          </a:p>
        </p:txBody>
      </p:sp>
      <p:sp>
        <p:nvSpPr>
          <p:cNvPr id="12" name="Text 10"/>
          <p:cNvSpPr/>
          <p:nvPr/>
        </p:nvSpPr>
        <p:spPr>
          <a:xfrm>
            <a:off x="2961531" y="3371850"/>
            <a:ext cx="3220938" cy="208312"/>
          </a:xfrm>
          <a:prstGeom prst="rect">
            <a:avLst/>
          </a:prstGeom>
          <a:noFill/>
          <a:ln/>
        </p:spPr>
        <p:txBody>
          <a:bodyPr wrap="square" lIns="0" tIns="0" rIns="0" bIns="0" rtlCol="0" anchor="t"/>
          <a:lstStyle/>
          <a:p>
            <a:pPr algn="ctr" indent="0" marL="0">
              <a:lnSpc>
                <a:spcPts val="1519"/>
              </a:lnSpc>
              <a:buNone/>
            </a:pPr>
            <a:r>
              <a:rPr lang="en-US" sz="1013" spc="28" kern="0" dirty="0">
                <a:solidFill>
                  <a:srgbClr val="9CA3AF"/>
                </a:solidFill>
                <a:latin typeface="Carlito" pitchFamily="34" charset="0"/>
                <a:ea typeface="Carlito" pitchFamily="34" charset="-122"/>
                <a:cs typeface="Carlito" pitchFamily="34" charset="-120"/>
              </a:rPr>
              <a:t>Resilient Tricolour Project | India Innovates Initiative</a:t>
            </a:r>
            <a:endParaRPr lang="en-US" sz="1013" dirty="0"/>
          </a:p>
        </p:txBody>
      </p:sp>
      <p:sp>
        <p:nvSpPr>
          <p:cNvPr id="13" name="Text 11"/>
          <p:cNvSpPr/>
          <p:nvPr/>
        </p:nvSpPr>
        <p:spPr>
          <a:xfrm>
            <a:off x="457200" y="4572000"/>
            <a:ext cx="1144151" cy="185166"/>
          </a:xfrm>
          <a:prstGeom prst="rect">
            <a:avLst/>
          </a:prstGeom>
          <a:noFill/>
          <a:ln/>
        </p:spPr>
        <p:txBody>
          <a:bodyPr wrap="none" lIns="0" tIns="0" rIns="0" bIns="0" rtlCol="0" anchor="t"/>
          <a:lstStyle/>
          <a:p>
            <a:pPr algn="l" indent="0" marL="0">
              <a:lnSpc>
                <a:spcPts val="1350"/>
              </a:lnSpc>
              <a:buNone/>
            </a:pPr>
            <a:r>
              <a:rPr lang="en-US" sz="900" dirty="0">
                <a:solidFill>
                  <a:srgbClr val="9CA3AF"/>
                </a:solidFill>
                <a:latin typeface="Carlito" pitchFamily="34" charset="0"/>
                <a:ea typeface="Carlito" pitchFamily="34" charset="-122"/>
                <a:cs typeface="Carlito" pitchFamily="34" charset="-120"/>
              </a:rPr>
              <a:t>Team Hamaraneta</a:t>
            </a:r>
            <a:endParaRPr lang="en-US" sz="900" dirty="0"/>
          </a:p>
        </p:txBody>
      </p:sp>
      <p:sp>
        <p:nvSpPr>
          <p:cNvPr id="14" name="Text 12"/>
          <p:cNvSpPr/>
          <p:nvPr/>
        </p:nvSpPr>
        <p:spPr>
          <a:xfrm>
            <a:off x="6781133" y="4593431"/>
            <a:ext cx="1905667" cy="164592"/>
          </a:xfrm>
          <a:prstGeom prst="rect">
            <a:avLst/>
          </a:prstGeom>
          <a:noFill/>
          <a:ln/>
        </p:spPr>
        <p:txBody>
          <a:bodyPr wrap="square" lIns="0" tIns="0" rIns="0" bIns="0" rtlCol="0" anchor="t"/>
          <a:lstStyle/>
          <a:p>
            <a:pPr algn="r" indent="0" marL="0">
              <a:lnSpc>
                <a:spcPts val="1181"/>
              </a:lnSpc>
              <a:buNone/>
            </a:pPr>
            <a:r>
              <a:rPr lang="en-US" sz="800" dirty="0">
                <a:solidFill>
                  <a:srgbClr val="6B7280"/>
                </a:solidFill>
                <a:latin typeface="Carlito" pitchFamily="34" charset="0"/>
                <a:ea typeface="Carlito" pitchFamily="34" charset="-122"/>
                <a:cs typeface="Carlito" pitchFamily="34" charset="-120"/>
              </a:rPr>
              <a:t>Pitch for Hon'ble CM Smt. Rekha Gupta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3" name="Text 1"/>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4" name="Text 2"/>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
        <p:nvSpPr>
          <p:cNvPr id="5" name="Text 3"/>
          <p:cNvSpPr/>
          <p:nvPr/>
        </p:nvSpPr>
        <p:spPr>
          <a:xfrm>
            <a:off x="457200" y="628650"/>
            <a:ext cx="8636000" cy="486061"/>
          </a:xfrm>
          <a:prstGeom prst="rect">
            <a:avLst/>
          </a:prstGeom>
          <a:noFill/>
          <a:ln/>
        </p:spPr>
        <p:txBody>
          <a:bodyPr wrap="none" lIns="0" tIns="0" rIns="0" bIns="0" rtlCol="0" anchor="t"/>
          <a:lstStyle/>
          <a:p>
            <a:pPr algn="l" indent="0" marL="0">
              <a:lnSpc>
                <a:spcPts val="3544"/>
              </a:lnSpc>
              <a:buNone/>
            </a:pPr>
            <a:r>
              <a:rPr lang="en-US" sz="2363" b="1" dirty="0">
                <a:solidFill>
                  <a:srgbClr val="FFFFFF"/>
                </a:solidFill>
                <a:latin typeface="Carlito" pitchFamily="34" charset="0"/>
                <a:ea typeface="Carlito" pitchFamily="34" charset="-122"/>
                <a:cs typeface="Carlito" pitchFamily="34" charset="-120"/>
              </a:rPr>
              <a:t>The Problem</a:t>
            </a:r>
            <a:endParaRPr lang="en-US" sz="2363" dirty="0"/>
          </a:p>
        </p:txBody>
      </p:sp>
      <p:sp>
        <p:nvSpPr>
          <p:cNvPr id="6" name="Text 4"/>
          <p:cNvSpPr/>
          <p:nvPr/>
        </p:nvSpPr>
        <p:spPr>
          <a:xfrm>
            <a:off x="630909" y="1335881"/>
            <a:ext cx="2433733" cy="544068"/>
          </a:xfrm>
          <a:prstGeom prst="rect">
            <a:avLst/>
          </a:prstGeom>
          <a:noFill/>
          <a:ln/>
        </p:spPr>
        <p:txBody>
          <a:bodyPr wrap="none" lIns="0" tIns="0" rIns="0" bIns="0" rtlCol="0" anchor="t">
            <a:normAutofit/>
          </a:bodyPr>
          <a:lstStyle/>
          <a:p>
            <a:pPr algn="ctr" indent="0" marL="0">
              <a:lnSpc>
                <a:spcPts val="4050"/>
              </a:lnSpc>
              <a:buNone/>
            </a:pPr>
            <a:r>
              <a:rPr lang="en-US" sz="4050" b="1" dirty="0">
                <a:solidFill>
                  <a:srgbClr val="FF9933"/>
                </a:solidFill>
                <a:latin typeface="Liberation Sans Narrow" pitchFamily="34" charset="0"/>
                <a:ea typeface="Liberation Sans Narrow" pitchFamily="34" charset="-122"/>
                <a:cs typeface="Liberation Sans Narrow" pitchFamily="34" charset="-120"/>
              </a:rPr>
              <a:t>₹104 Cr</a:t>
            </a:r>
            <a:endParaRPr lang="en-US" sz="4050" dirty="0"/>
          </a:p>
        </p:txBody>
      </p:sp>
      <p:sp>
        <p:nvSpPr>
          <p:cNvPr id="7" name="Text 5"/>
          <p:cNvSpPr/>
          <p:nvPr/>
        </p:nvSpPr>
        <p:spPr>
          <a:xfrm>
            <a:off x="733582" y="1907381"/>
            <a:ext cx="2228387" cy="231458"/>
          </a:xfrm>
          <a:prstGeom prst="rect">
            <a:avLst/>
          </a:prstGeom>
          <a:noFill/>
          <a:ln/>
        </p:spPr>
        <p:txBody>
          <a:bodyPr wrap="none" lIns="0" tIns="0" rIns="0" bIns="0" rtlCol="0" anchor="t"/>
          <a:lstStyle/>
          <a:p>
            <a:pPr algn="ctr" indent="0" marL="0">
              <a:lnSpc>
                <a:spcPts val="1688"/>
              </a:lnSpc>
              <a:buNone/>
            </a:pPr>
            <a:r>
              <a:rPr lang="en-US" sz="1125" dirty="0">
                <a:solidFill>
                  <a:srgbClr val="9CA3AF"/>
                </a:solidFill>
                <a:latin typeface="Carlito" pitchFamily="34" charset="0"/>
                <a:ea typeface="Carlito" pitchFamily="34" charset="-122"/>
                <a:cs typeface="Carlito" pitchFamily="34" charset="-120"/>
              </a:rPr>
              <a:t>Annual Cost</a:t>
            </a:r>
            <a:endParaRPr lang="en-US" sz="1125" dirty="0"/>
          </a:p>
        </p:txBody>
      </p:sp>
      <p:sp>
        <p:nvSpPr>
          <p:cNvPr id="8" name="Text 6"/>
          <p:cNvSpPr/>
          <p:nvPr/>
        </p:nvSpPr>
        <p:spPr>
          <a:xfrm>
            <a:off x="2575564" y="1335881"/>
            <a:ext cx="3549624" cy="544068"/>
          </a:xfrm>
          <a:prstGeom prst="rect">
            <a:avLst/>
          </a:prstGeom>
          <a:noFill/>
          <a:ln/>
        </p:spPr>
        <p:txBody>
          <a:bodyPr wrap="none" lIns="0" tIns="0" rIns="0" bIns="0" rtlCol="0" anchor="t">
            <a:normAutofit/>
          </a:bodyPr>
          <a:lstStyle/>
          <a:p>
            <a:pPr algn="ctr" indent="0" marL="0">
              <a:lnSpc>
                <a:spcPts val="4050"/>
              </a:lnSpc>
              <a:buNone/>
            </a:pPr>
            <a:r>
              <a:rPr lang="en-US" sz="4050" b="1" dirty="0">
                <a:solidFill>
                  <a:srgbClr val="EF4444"/>
                </a:solidFill>
                <a:latin typeface="Liberation Sans Narrow" pitchFamily="34" charset="0"/>
                <a:ea typeface="Liberation Sans Narrow" pitchFamily="34" charset="-122"/>
                <a:cs typeface="Liberation Sans Narrow" pitchFamily="34" charset="-120"/>
              </a:rPr>
              <a:t>4→8x</a:t>
            </a:r>
            <a:endParaRPr lang="en-US" sz="4050" dirty="0"/>
          </a:p>
        </p:txBody>
      </p:sp>
      <p:sp>
        <p:nvSpPr>
          <p:cNvPr id="9" name="Text 7"/>
          <p:cNvSpPr/>
          <p:nvPr/>
        </p:nvSpPr>
        <p:spPr>
          <a:xfrm>
            <a:off x="3137214" y="1907381"/>
            <a:ext cx="2426326" cy="231458"/>
          </a:xfrm>
          <a:prstGeom prst="rect">
            <a:avLst/>
          </a:prstGeom>
          <a:noFill/>
          <a:ln/>
        </p:spPr>
        <p:txBody>
          <a:bodyPr wrap="square" lIns="0" tIns="0" rIns="0" bIns="0" rtlCol="0" anchor="t"/>
          <a:lstStyle/>
          <a:p>
            <a:pPr algn="ctr" indent="0" marL="0">
              <a:lnSpc>
                <a:spcPts val="1688"/>
              </a:lnSpc>
              <a:buNone/>
            </a:pPr>
            <a:r>
              <a:rPr lang="en-US" sz="1125" dirty="0">
                <a:solidFill>
                  <a:srgbClr val="9CA3AF"/>
                </a:solidFill>
                <a:latin typeface="Carlito" pitchFamily="34" charset="0"/>
                <a:ea typeface="Carlito" pitchFamily="34" charset="-122"/>
                <a:cs typeface="Carlito" pitchFamily="34" charset="-120"/>
              </a:rPr>
              <a:t>Proposed Replacement Doubling</a:t>
            </a:r>
            <a:endParaRPr lang="en-US" sz="1125" dirty="0"/>
          </a:p>
        </p:txBody>
      </p:sp>
      <p:sp>
        <p:nvSpPr>
          <p:cNvPr id="10" name="Text 8"/>
          <p:cNvSpPr/>
          <p:nvPr/>
        </p:nvSpPr>
        <p:spPr>
          <a:xfrm>
            <a:off x="5574072" y="1335881"/>
            <a:ext cx="3000947" cy="544068"/>
          </a:xfrm>
          <a:prstGeom prst="rect">
            <a:avLst/>
          </a:prstGeom>
          <a:noFill/>
          <a:ln/>
        </p:spPr>
        <p:txBody>
          <a:bodyPr wrap="none" lIns="0" tIns="0" rIns="0" bIns="0" rtlCol="0" anchor="t">
            <a:normAutofit/>
          </a:bodyPr>
          <a:lstStyle/>
          <a:p>
            <a:pPr algn="ctr" indent="0" marL="0">
              <a:lnSpc>
                <a:spcPts val="4050"/>
              </a:lnSpc>
              <a:buNone/>
            </a:pPr>
            <a:r>
              <a:rPr lang="en-US" sz="4050" b="1" dirty="0">
                <a:solidFill>
                  <a:srgbClr val="138808"/>
                </a:solidFill>
                <a:latin typeface="Liberation Sans Narrow" pitchFamily="34" charset="0"/>
                <a:ea typeface="Liberation Sans Narrow" pitchFamily="34" charset="-122"/>
                <a:cs typeface="Liberation Sans Narrow" pitchFamily="34" charset="-120"/>
              </a:rPr>
              <a:t>500 Flags</a:t>
            </a:r>
            <a:endParaRPr lang="en-US" sz="4050" dirty="0"/>
          </a:p>
        </p:txBody>
      </p:sp>
      <p:sp>
        <p:nvSpPr>
          <p:cNvPr id="11" name="Text 9"/>
          <p:cNvSpPr/>
          <p:nvPr/>
        </p:nvSpPr>
        <p:spPr>
          <a:xfrm>
            <a:off x="5700674" y="1907381"/>
            <a:ext cx="2747742" cy="231458"/>
          </a:xfrm>
          <a:prstGeom prst="rect">
            <a:avLst/>
          </a:prstGeom>
          <a:noFill/>
          <a:ln/>
        </p:spPr>
        <p:txBody>
          <a:bodyPr wrap="none" lIns="0" tIns="0" rIns="0" bIns="0" rtlCol="0" anchor="t"/>
          <a:lstStyle/>
          <a:p>
            <a:pPr algn="ctr" indent="0" marL="0">
              <a:lnSpc>
                <a:spcPts val="1688"/>
              </a:lnSpc>
              <a:buNone/>
            </a:pPr>
            <a:r>
              <a:rPr lang="en-US" sz="1125" dirty="0">
                <a:solidFill>
                  <a:srgbClr val="9CA3AF"/>
                </a:solidFill>
                <a:latin typeface="Carlito" pitchFamily="34" charset="0"/>
                <a:ea typeface="Carlito" pitchFamily="34" charset="-122"/>
                <a:cs typeface="Carlito" pitchFamily="34" charset="-120"/>
              </a:rPr>
              <a:t>Across Delhi</a:t>
            </a:r>
            <a:endParaRPr lang="en-US" sz="1125" dirty="0"/>
          </a:p>
        </p:txBody>
      </p:sp>
      <p:sp>
        <p:nvSpPr>
          <p:cNvPr id="12" name="Text 10"/>
          <p:cNvSpPr/>
          <p:nvPr/>
        </p:nvSpPr>
        <p:spPr>
          <a:xfrm>
            <a:off x="460772" y="2468166"/>
            <a:ext cx="2602669" cy="2214563"/>
          </a:xfrm>
          <a:prstGeom prst="roundRect">
            <a:avLst>
              <a:gd name="adj" fmla="val 6882"/>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13" name="Text 11"/>
          <p:cNvSpPr/>
          <p:nvPr/>
        </p:nvSpPr>
        <p:spPr>
          <a:xfrm>
            <a:off x="664369" y="2671763"/>
            <a:ext cx="342900" cy="342900"/>
          </a:xfrm>
          <a:prstGeom prst="ellipse">
            <a:avLst/>
          </a:prstGeom>
          <a:solidFill>
            <a:srgbClr val="FF9933">
              <a:alpha val="12000"/>
            </a:srgbClr>
          </a:solidFill>
          <a:ln/>
        </p:spPr>
        <p:txBody>
          <a:bodyPr wrap="square" rtlCol="0" anchor="ctr"/>
          <a:lstStyle/>
          <a:p>
            <a:pPr indent="0" marL="0">
              <a:buNone/>
            </a:pPr>
            <a:endParaRPr lang="en-US" dirty="0"/>
          </a:p>
        </p:txBody>
      </p:sp>
      <p:sp>
        <p:nvSpPr>
          <p:cNvPr id="14" name="Text 12"/>
          <p:cNvSpPr/>
          <p:nvPr/>
        </p:nvSpPr>
        <p:spPr>
          <a:xfrm>
            <a:off x="701159" y="2708553"/>
            <a:ext cx="269319" cy="269319"/>
          </a:xfrm>
          <a:prstGeom prst="rect">
            <a:avLst/>
          </a:prstGeom>
          <a:noFill/>
          <a:ln/>
        </p:spPr>
        <p:txBody>
          <a:bodyPr wrap="none" lIns="0" tIns="0" rIns="0" bIns="0" rtlCol="0" anchor="ctr"/>
          <a:lstStyle/>
          <a:p>
            <a:pPr algn="ctr" indent="0" marL="0">
              <a:buNone/>
            </a:pPr>
            <a:r>
              <a:rPr lang="en-US" sz="1828" dirty="0">
                <a:solidFill>
                  <a:srgbClr val="FF9933"/>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664369" y="3128963"/>
            <a:ext cx="2195475" cy="254603"/>
          </a:xfrm>
          <a:prstGeom prst="rect">
            <a:avLst/>
          </a:prstGeom>
          <a:noFill/>
          <a:ln/>
        </p:spPr>
        <p:txBody>
          <a:bodyPr wrap="none" lIns="0" tIns="0" rIns="0" bIns="0" rtlCol="0" anchor="t"/>
          <a:lstStyle/>
          <a:p>
            <a:pPr algn="l" indent="0" marL="0">
              <a:lnSpc>
                <a:spcPts val="1856"/>
              </a:lnSpc>
              <a:buNone/>
            </a:pPr>
            <a:r>
              <a:rPr lang="en-US" sz="1238" b="1" dirty="0">
                <a:solidFill>
                  <a:srgbClr val="FFFFFF"/>
                </a:solidFill>
                <a:latin typeface="Carlito" pitchFamily="34" charset="0"/>
                <a:ea typeface="Carlito" pitchFamily="34" charset="-122"/>
                <a:cs typeface="Carlito" pitchFamily="34" charset="-120"/>
              </a:rPr>
              <a:t>Storm Damage</a:t>
            </a:r>
            <a:endParaRPr lang="en-US" sz="1238" dirty="0"/>
          </a:p>
        </p:txBody>
      </p:sp>
      <p:sp>
        <p:nvSpPr>
          <p:cNvPr id="16" name="Text 14"/>
          <p:cNvSpPr/>
          <p:nvPr/>
        </p:nvSpPr>
        <p:spPr>
          <a:xfrm>
            <a:off x="664369" y="3421856"/>
            <a:ext cx="2195475" cy="370332"/>
          </a:xfrm>
          <a:prstGeom prst="rect">
            <a:avLst/>
          </a:prstGeom>
          <a:noFill/>
          <a:ln/>
        </p:spPr>
        <p:txBody>
          <a:bodyPr wrap="square" lIns="0" tIns="0" rIns="0" bIns="0" rtlCol="0" anchor="t"/>
          <a:lstStyle/>
          <a:p>
            <a:pPr algn="l" indent="0" marL="0">
              <a:lnSpc>
                <a:spcPts val="1350"/>
              </a:lnSpc>
              <a:buNone/>
            </a:pPr>
            <a:r>
              <a:rPr lang="en-US" sz="900" dirty="0">
                <a:solidFill>
                  <a:srgbClr val="9CA3AF"/>
                </a:solidFill>
                <a:latin typeface="Carlito" pitchFamily="34" charset="0"/>
                <a:ea typeface="Carlito" pitchFamily="34" charset="-122"/>
                <a:cs typeface="Carlito" pitchFamily="34" charset="-120"/>
              </a:rPr>
              <a:t>Severe summer storms tear flag fabric, requiring emergency replacements</a:t>
            </a:r>
            <a:endParaRPr lang="en-US" sz="900" dirty="0"/>
          </a:p>
        </p:txBody>
      </p:sp>
      <p:sp>
        <p:nvSpPr>
          <p:cNvPr id="17" name="Text 15"/>
          <p:cNvSpPr/>
          <p:nvPr/>
        </p:nvSpPr>
        <p:spPr>
          <a:xfrm>
            <a:off x="3270610" y="2468166"/>
            <a:ext cx="2602781" cy="2214563"/>
          </a:xfrm>
          <a:prstGeom prst="roundRect">
            <a:avLst>
              <a:gd name="adj" fmla="val 6882"/>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18" name="Text 16"/>
          <p:cNvSpPr/>
          <p:nvPr/>
        </p:nvSpPr>
        <p:spPr>
          <a:xfrm>
            <a:off x="3474207" y="2671763"/>
            <a:ext cx="342900" cy="342900"/>
          </a:xfrm>
          <a:prstGeom prst="ellipse">
            <a:avLst/>
          </a:prstGeom>
          <a:solidFill>
            <a:srgbClr val="EF4444">
              <a:alpha val="12000"/>
            </a:srgbClr>
          </a:solidFill>
          <a:ln/>
        </p:spPr>
        <p:txBody>
          <a:bodyPr wrap="square" rtlCol="0" anchor="ctr"/>
          <a:lstStyle/>
          <a:p>
            <a:pPr indent="0" marL="0">
              <a:buNone/>
            </a:pPr>
            <a:endParaRPr lang="en-US" dirty="0"/>
          </a:p>
        </p:txBody>
      </p:sp>
      <p:sp>
        <p:nvSpPr>
          <p:cNvPr id="19" name="Text 17"/>
          <p:cNvSpPr/>
          <p:nvPr/>
        </p:nvSpPr>
        <p:spPr>
          <a:xfrm>
            <a:off x="3510997" y="2708553"/>
            <a:ext cx="269319" cy="269319"/>
          </a:xfrm>
          <a:prstGeom prst="rect">
            <a:avLst/>
          </a:prstGeom>
          <a:noFill/>
          <a:ln/>
        </p:spPr>
        <p:txBody>
          <a:bodyPr wrap="none" lIns="0" tIns="0" rIns="0" bIns="0" rtlCol="0" anchor="ctr"/>
          <a:lstStyle/>
          <a:p>
            <a:pPr algn="ctr" indent="0" marL="0">
              <a:buNone/>
            </a:pPr>
            <a:r>
              <a:rPr lang="en-US" sz="1828" dirty="0">
                <a:solidFill>
                  <a:srgbClr val="EF4444"/>
                </a:solidFill>
                <a:latin typeface="Segoe UI Symbol" pitchFamily="34" charset="0"/>
                <a:ea typeface="Segoe UI Symbol" pitchFamily="34" charset="-122"/>
                <a:cs typeface="Segoe UI Symbol" pitchFamily="34" charset="-120"/>
              </a:rPr>
              <a:t>☁</a:t>
            </a:r>
            <a:endParaRPr lang="en-US" sz="1828" dirty="0"/>
          </a:p>
        </p:txBody>
      </p:sp>
      <p:sp>
        <p:nvSpPr>
          <p:cNvPr id="20" name="Text 18"/>
          <p:cNvSpPr/>
          <p:nvPr/>
        </p:nvSpPr>
        <p:spPr>
          <a:xfrm>
            <a:off x="3474207" y="3128963"/>
            <a:ext cx="2195587" cy="254603"/>
          </a:xfrm>
          <a:prstGeom prst="rect">
            <a:avLst/>
          </a:prstGeom>
          <a:noFill/>
          <a:ln/>
        </p:spPr>
        <p:txBody>
          <a:bodyPr wrap="none" lIns="0" tIns="0" rIns="0" bIns="0" rtlCol="0" anchor="t"/>
          <a:lstStyle/>
          <a:p>
            <a:pPr algn="l" indent="0" marL="0">
              <a:lnSpc>
                <a:spcPts val="1856"/>
              </a:lnSpc>
              <a:buNone/>
            </a:pPr>
            <a:r>
              <a:rPr lang="en-US" sz="1238" b="1" dirty="0">
                <a:solidFill>
                  <a:srgbClr val="FFFFFF"/>
                </a:solidFill>
                <a:latin typeface="Carlito" pitchFamily="34" charset="0"/>
                <a:ea typeface="Carlito" pitchFamily="34" charset="-122"/>
                <a:cs typeface="Carlito" pitchFamily="34" charset="-120"/>
              </a:rPr>
              <a:t>Pollution</a:t>
            </a:r>
            <a:endParaRPr lang="en-US" sz="1238" dirty="0"/>
          </a:p>
        </p:txBody>
      </p:sp>
      <p:sp>
        <p:nvSpPr>
          <p:cNvPr id="21" name="Text 19"/>
          <p:cNvSpPr/>
          <p:nvPr/>
        </p:nvSpPr>
        <p:spPr>
          <a:xfrm>
            <a:off x="3474207" y="3421856"/>
            <a:ext cx="2195587" cy="370332"/>
          </a:xfrm>
          <a:prstGeom prst="rect">
            <a:avLst/>
          </a:prstGeom>
          <a:noFill/>
          <a:ln/>
        </p:spPr>
        <p:txBody>
          <a:bodyPr wrap="square" lIns="0" tIns="0" rIns="0" bIns="0" rtlCol="0" anchor="t"/>
          <a:lstStyle/>
          <a:p>
            <a:pPr algn="l" indent="0" marL="0">
              <a:lnSpc>
                <a:spcPts val="1350"/>
              </a:lnSpc>
              <a:buNone/>
            </a:pPr>
            <a:r>
              <a:rPr lang="en-US" sz="900" dirty="0">
                <a:solidFill>
                  <a:srgbClr val="9CA3AF"/>
                </a:solidFill>
                <a:latin typeface="Carlito" pitchFamily="34" charset="0"/>
                <a:ea typeface="Carlito" pitchFamily="34" charset="-122"/>
                <a:cs typeface="Carlito" pitchFamily="34" charset="-120"/>
              </a:rPr>
              <a:t>Delhi's AQI accelerates fabric degradation and discoloration</a:t>
            </a:r>
            <a:endParaRPr lang="en-US" sz="900" dirty="0"/>
          </a:p>
        </p:txBody>
      </p:sp>
      <p:sp>
        <p:nvSpPr>
          <p:cNvPr id="22" name="Text 20"/>
          <p:cNvSpPr/>
          <p:nvPr/>
        </p:nvSpPr>
        <p:spPr>
          <a:xfrm>
            <a:off x="6080559" y="2468166"/>
            <a:ext cx="2602669" cy="2214563"/>
          </a:xfrm>
          <a:prstGeom prst="roundRect">
            <a:avLst>
              <a:gd name="adj" fmla="val 6882"/>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23" name="Text 21"/>
          <p:cNvSpPr/>
          <p:nvPr/>
        </p:nvSpPr>
        <p:spPr>
          <a:xfrm>
            <a:off x="6284156" y="2671763"/>
            <a:ext cx="342900" cy="342900"/>
          </a:xfrm>
          <a:prstGeom prst="ellipse">
            <a:avLst/>
          </a:prstGeom>
          <a:solidFill>
            <a:srgbClr val="138808">
              <a:alpha val="12000"/>
            </a:srgbClr>
          </a:solidFill>
          <a:ln/>
        </p:spPr>
        <p:txBody>
          <a:bodyPr wrap="square" rtlCol="0" anchor="ctr"/>
          <a:lstStyle/>
          <a:p>
            <a:pPr indent="0" marL="0">
              <a:buNone/>
            </a:pPr>
            <a:endParaRPr lang="en-US" dirty="0"/>
          </a:p>
        </p:txBody>
      </p:sp>
      <p:sp>
        <p:nvSpPr>
          <p:cNvPr id="24" name="Text 22"/>
          <p:cNvSpPr/>
          <p:nvPr/>
        </p:nvSpPr>
        <p:spPr>
          <a:xfrm>
            <a:off x="6320946" y="2708553"/>
            <a:ext cx="269319" cy="269319"/>
          </a:xfrm>
          <a:prstGeom prst="rect">
            <a:avLst/>
          </a:prstGeom>
          <a:noFill/>
          <a:ln/>
        </p:spPr>
        <p:txBody>
          <a:bodyPr wrap="none" lIns="0" tIns="0" rIns="0" bIns="0" rtlCol="0" anchor="ctr"/>
          <a:lstStyle/>
          <a:p>
            <a:pPr algn="ctr" indent="0" marL="0">
              <a:buNone/>
            </a:pPr>
            <a:r>
              <a:rPr lang="en-US" sz="1828" dirty="0">
                <a:solidFill>
                  <a:srgbClr val="138808"/>
                </a:solidFill>
                <a:latin typeface="Segoe UI Symbol" pitchFamily="34" charset="0"/>
                <a:ea typeface="Segoe UI Symbol" pitchFamily="34" charset="-122"/>
                <a:cs typeface="Segoe UI Symbol" pitchFamily="34" charset="-120"/>
              </a:rPr>
              <a:t>⊘</a:t>
            </a:r>
            <a:endParaRPr lang="en-US" sz="1828" dirty="0"/>
          </a:p>
        </p:txBody>
      </p:sp>
      <p:sp>
        <p:nvSpPr>
          <p:cNvPr id="25" name="Text 23"/>
          <p:cNvSpPr/>
          <p:nvPr/>
        </p:nvSpPr>
        <p:spPr>
          <a:xfrm>
            <a:off x="6284156" y="3128963"/>
            <a:ext cx="2195475" cy="254603"/>
          </a:xfrm>
          <a:prstGeom prst="rect">
            <a:avLst/>
          </a:prstGeom>
          <a:noFill/>
          <a:ln/>
        </p:spPr>
        <p:txBody>
          <a:bodyPr wrap="none" lIns="0" tIns="0" rIns="0" bIns="0" rtlCol="0" anchor="t"/>
          <a:lstStyle/>
          <a:p>
            <a:pPr algn="l" indent="0" marL="0">
              <a:lnSpc>
                <a:spcPts val="1856"/>
              </a:lnSpc>
              <a:buNone/>
            </a:pPr>
            <a:r>
              <a:rPr lang="en-US" sz="1238" b="1" dirty="0">
                <a:solidFill>
                  <a:srgbClr val="FFFFFF"/>
                </a:solidFill>
                <a:latin typeface="Carlito" pitchFamily="34" charset="0"/>
                <a:ea typeface="Carlito" pitchFamily="34" charset="-122"/>
                <a:cs typeface="Carlito" pitchFamily="34" charset="-120"/>
              </a:rPr>
              <a:t>Manual Inspection</a:t>
            </a:r>
            <a:endParaRPr lang="en-US" sz="1238" dirty="0"/>
          </a:p>
        </p:txBody>
      </p:sp>
      <p:sp>
        <p:nvSpPr>
          <p:cNvPr id="26" name="Text 24"/>
          <p:cNvSpPr/>
          <p:nvPr/>
        </p:nvSpPr>
        <p:spPr>
          <a:xfrm>
            <a:off x="6284156" y="3421856"/>
            <a:ext cx="2195475" cy="370332"/>
          </a:xfrm>
          <a:prstGeom prst="rect">
            <a:avLst/>
          </a:prstGeom>
          <a:noFill/>
          <a:ln/>
        </p:spPr>
        <p:txBody>
          <a:bodyPr wrap="square" lIns="0" tIns="0" rIns="0" bIns="0" rtlCol="0" anchor="t"/>
          <a:lstStyle/>
          <a:p>
            <a:pPr algn="l" indent="0" marL="0">
              <a:lnSpc>
                <a:spcPts val="1350"/>
              </a:lnSpc>
              <a:buNone/>
            </a:pPr>
            <a:r>
              <a:rPr lang="en-US" sz="900" dirty="0">
                <a:solidFill>
                  <a:srgbClr val="9CA3AF"/>
                </a:solidFill>
                <a:latin typeface="Carlito" pitchFamily="34" charset="0"/>
                <a:ea typeface="Carlito" pitchFamily="34" charset="-122"/>
                <a:cs typeface="Carlito" pitchFamily="34" charset="-120"/>
              </a:rPr>
              <a:t>No real-time monitoring — damage detected only during physical visits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3" name="Text 1"/>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4" name="Text 2"/>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
        <p:nvSpPr>
          <p:cNvPr id="5" name="Text 3"/>
          <p:cNvSpPr/>
          <p:nvPr/>
        </p:nvSpPr>
        <p:spPr>
          <a:xfrm>
            <a:off x="457200" y="628650"/>
            <a:ext cx="8229600" cy="462915"/>
          </a:xfrm>
          <a:prstGeom prst="rect">
            <a:avLst/>
          </a:prstGeom>
          <a:noFill/>
          <a:ln/>
        </p:spPr>
        <p:txBody>
          <a:bodyPr wrap="square" lIns="0" tIns="0" rIns="0" bIns="0" rtlCol="0" anchor="t"/>
          <a:lstStyle/>
          <a:p>
            <a:pPr algn="l" indent="0" marL="0">
              <a:lnSpc>
                <a:spcPts val="3375"/>
              </a:lnSpc>
              <a:buNone/>
            </a:pPr>
            <a:r>
              <a:rPr lang="en-US" sz="2250" b="1" dirty="0">
                <a:solidFill>
                  <a:srgbClr val="FFFFFF"/>
                </a:solidFill>
                <a:latin typeface="Liberation Sans Narrow" pitchFamily="34" charset="0"/>
                <a:ea typeface="Liberation Sans Narrow" pitchFamily="34" charset="-122"/>
                <a:cs typeface="Liberation Sans Narrow" pitchFamily="34" charset="-120"/>
              </a:rPr>
              <a:t>Dhvani: 3-Pillar Smart Flag System</a:t>
            </a:r>
            <a:endParaRPr lang="en-US" sz="2250" dirty="0"/>
          </a:p>
        </p:txBody>
      </p:sp>
      <p:sp>
        <p:nvSpPr>
          <p:cNvPr id="6" name="Text 4"/>
          <p:cNvSpPr/>
          <p:nvPr/>
        </p:nvSpPr>
        <p:spPr>
          <a:xfrm>
            <a:off x="457200" y="1343025"/>
            <a:ext cx="2609813" cy="3343275"/>
          </a:xfrm>
          <a:prstGeom prst="roundRect">
            <a:avLst>
              <a:gd name="adj" fmla="val 5839"/>
            </a:avLst>
          </a:prstGeom>
          <a:solidFill>
            <a:srgbClr val="1A1A1A"/>
          </a:solidFill>
          <a:ln/>
        </p:spPr>
        <p:txBody>
          <a:bodyPr wrap="square" rtlCol="0" anchor="ctr"/>
          <a:lstStyle/>
          <a:p>
            <a:pPr indent="0" marL="0">
              <a:buNone/>
            </a:pPr>
            <a:endParaRPr lang="en-US" dirty="0"/>
          </a:p>
        </p:txBody>
      </p:sp>
      <p:sp>
        <p:nvSpPr>
          <p:cNvPr id="7" name="Shape 5"/>
          <p:cNvSpPr/>
          <p:nvPr/>
        </p:nvSpPr>
        <p:spPr>
          <a:xfrm>
            <a:off x="457200" y="1346597"/>
            <a:ext cx="2609813" cy="0"/>
          </a:xfrm>
          <a:prstGeom prst="line">
            <a:avLst/>
          </a:prstGeom>
          <a:noFill/>
          <a:ln w="7144">
            <a:solidFill>
              <a:srgbClr val="FFFFFF"/>
            </a:solidFill>
            <a:prstDash val="solid"/>
          </a:ln>
        </p:spPr>
      </p:sp>
      <p:sp>
        <p:nvSpPr>
          <p:cNvPr id="8" name="Shape 6"/>
          <p:cNvSpPr/>
          <p:nvPr/>
        </p:nvSpPr>
        <p:spPr>
          <a:xfrm>
            <a:off x="3063441" y="1343025"/>
            <a:ext cx="0" cy="3343275"/>
          </a:xfrm>
          <a:prstGeom prst="line">
            <a:avLst/>
          </a:prstGeom>
          <a:noFill/>
          <a:ln w="7144">
            <a:solidFill>
              <a:srgbClr val="FFFFFF"/>
            </a:solidFill>
            <a:prstDash val="solid"/>
          </a:ln>
        </p:spPr>
      </p:sp>
      <p:sp>
        <p:nvSpPr>
          <p:cNvPr id="9" name="Shape 7"/>
          <p:cNvSpPr/>
          <p:nvPr/>
        </p:nvSpPr>
        <p:spPr>
          <a:xfrm>
            <a:off x="457200" y="4682728"/>
            <a:ext cx="2609813" cy="0"/>
          </a:xfrm>
          <a:prstGeom prst="line">
            <a:avLst/>
          </a:prstGeom>
          <a:noFill/>
          <a:ln w="7144">
            <a:solidFill>
              <a:srgbClr val="FFFFFF"/>
            </a:solidFill>
            <a:prstDash val="solid"/>
          </a:ln>
        </p:spPr>
      </p:sp>
      <p:sp>
        <p:nvSpPr>
          <p:cNvPr id="10" name="Shape 8"/>
          <p:cNvSpPr/>
          <p:nvPr/>
        </p:nvSpPr>
        <p:spPr>
          <a:xfrm>
            <a:off x="475059" y="1343025"/>
            <a:ext cx="0" cy="3343275"/>
          </a:xfrm>
          <a:prstGeom prst="line">
            <a:avLst/>
          </a:prstGeom>
          <a:noFill/>
          <a:ln w="35719">
            <a:solidFill>
              <a:srgbClr val="FF9933"/>
            </a:solidFill>
            <a:prstDash val="solid"/>
          </a:ln>
        </p:spPr>
      </p:sp>
      <p:sp>
        <p:nvSpPr>
          <p:cNvPr id="11" name="Text 9"/>
          <p:cNvSpPr/>
          <p:nvPr/>
        </p:nvSpPr>
        <p:spPr>
          <a:xfrm>
            <a:off x="692944" y="1578769"/>
            <a:ext cx="342900" cy="342900"/>
          </a:xfrm>
          <a:prstGeom prst="ellipse">
            <a:avLst/>
          </a:prstGeom>
          <a:solidFill>
            <a:srgbClr val="FF9933">
              <a:alpha val="12000"/>
            </a:srgbClr>
          </a:solidFill>
          <a:ln/>
        </p:spPr>
        <p:txBody>
          <a:bodyPr wrap="square" rtlCol="0" anchor="ctr"/>
          <a:lstStyle/>
          <a:p>
            <a:pPr indent="0" marL="0">
              <a:buNone/>
            </a:pPr>
            <a:endParaRPr lang="en-US" dirty="0"/>
          </a:p>
        </p:txBody>
      </p:sp>
      <p:sp>
        <p:nvSpPr>
          <p:cNvPr id="12" name="Text 10"/>
          <p:cNvSpPr/>
          <p:nvPr/>
        </p:nvSpPr>
        <p:spPr>
          <a:xfrm>
            <a:off x="729734" y="1615559"/>
            <a:ext cx="269319" cy="269319"/>
          </a:xfrm>
          <a:prstGeom prst="rect">
            <a:avLst/>
          </a:prstGeom>
          <a:noFill/>
          <a:ln/>
        </p:spPr>
        <p:txBody>
          <a:bodyPr wrap="none" lIns="0" tIns="0" rIns="0" bIns="0" rtlCol="0" anchor="ctr"/>
          <a:lstStyle/>
          <a:p>
            <a:pPr algn="ctr" indent="0" marL="0">
              <a:buNone/>
            </a:pPr>
            <a:r>
              <a:rPr lang="en-US" sz="1828" dirty="0">
                <a:solidFill>
                  <a:srgbClr val="FF9933"/>
                </a:solidFill>
                <a:latin typeface="Segoe UI Symbol" pitchFamily="34" charset="0"/>
                <a:ea typeface="Segoe UI Symbol" pitchFamily="34" charset="-122"/>
                <a:cs typeface="Segoe UI Symbol" pitchFamily="34" charset="-120"/>
              </a:rPr>
              <a:t>⚗</a:t>
            </a:r>
            <a:endParaRPr lang="en-US" sz="1828" dirty="0"/>
          </a:p>
        </p:txBody>
      </p:sp>
      <p:sp>
        <p:nvSpPr>
          <p:cNvPr id="13" name="Text 11"/>
          <p:cNvSpPr/>
          <p:nvPr/>
        </p:nvSpPr>
        <p:spPr>
          <a:xfrm>
            <a:off x="692944" y="2035969"/>
            <a:ext cx="2166900" cy="240619"/>
          </a:xfrm>
          <a:prstGeom prst="rect">
            <a:avLst/>
          </a:prstGeom>
          <a:noFill/>
          <a:ln/>
        </p:spPr>
        <p:txBody>
          <a:bodyPr wrap="none" lIns="0" tIns="0" rIns="0" bIns="0" rtlCol="0" anchor="t"/>
          <a:lstStyle/>
          <a:p>
            <a:pPr algn="l" indent="0" marL="0">
              <a:lnSpc>
                <a:spcPts val="1755"/>
              </a:lnSpc>
              <a:buNone/>
            </a:pPr>
            <a:r>
              <a:rPr lang="en-US" sz="1463" b="1" dirty="0">
                <a:solidFill>
                  <a:srgbClr val="FFFFFF"/>
                </a:solidFill>
                <a:latin typeface="Carlito" pitchFamily="34" charset="0"/>
                <a:ea typeface="Carlito" pitchFamily="34" charset="-122"/>
                <a:cs typeface="Carlito" pitchFamily="34" charset="-120"/>
              </a:rPr>
              <a:t>Material Innovation</a:t>
            </a:r>
            <a:endParaRPr lang="en-US" sz="1463" dirty="0"/>
          </a:p>
        </p:txBody>
      </p:sp>
      <p:sp>
        <p:nvSpPr>
          <p:cNvPr id="14" name="Text 12"/>
          <p:cNvSpPr/>
          <p:nvPr/>
        </p:nvSpPr>
        <p:spPr>
          <a:xfrm>
            <a:off x="692944" y="2373064"/>
            <a:ext cx="2166900" cy="388656"/>
          </a:xfrm>
          <a:prstGeom prst="rect">
            <a:avLst/>
          </a:prstGeom>
          <a:noFill/>
          <a:ln/>
        </p:spPr>
        <p:txBody>
          <a:bodyPr wrap="square" lIns="0" tIns="0" rIns="0" bIns="0" rtlCol="0" anchor="t"/>
          <a:lstStyle/>
          <a:p>
            <a:pPr algn="l" indent="0" marL="0">
              <a:lnSpc>
                <a:spcPts val="1418"/>
              </a:lnSpc>
              <a:buNone/>
            </a:pPr>
            <a:r>
              <a:rPr lang="en-US" sz="1013" dirty="0">
                <a:solidFill>
                  <a:srgbClr val="FF9933"/>
                </a:solidFill>
                <a:latin typeface="Carlito" pitchFamily="34" charset="0"/>
                <a:ea typeface="Carlito" pitchFamily="34" charset="-122"/>
                <a:cs typeface="Carlito" pitchFamily="34" charset="-120"/>
              </a:rPr>
              <a:t>Kevlar-Polyester Blend + Nano Coating</a:t>
            </a:r>
            <a:endParaRPr lang="en-US" sz="1013" dirty="0"/>
          </a:p>
        </p:txBody>
      </p:sp>
      <p:sp>
        <p:nvSpPr>
          <p:cNvPr id="15" name="Text 13"/>
          <p:cNvSpPr/>
          <p:nvPr/>
        </p:nvSpPr>
        <p:spPr>
          <a:xfrm>
            <a:off x="692944" y="2847231"/>
            <a:ext cx="2166900" cy="394924"/>
          </a:xfrm>
          <a:prstGeom prst="rect">
            <a:avLst/>
          </a:prstGeom>
          <a:noFill/>
          <a:ln/>
        </p:spPr>
        <p:txBody>
          <a:bodyPr wrap="square" lIns="0" tIns="0" rIns="0" bIns="0" rtlCol="0" anchor="t"/>
          <a:lstStyle/>
          <a:p>
            <a:pPr algn="l" indent="0" marL="0">
              <a:lnSpc>
                <a:spcPts val="1440"/>
              </a:lnSpc>
              <a:buNone/>
            </a:pPr>
            <a:r>
              <a:rPr lang="en-US" sz="900" dirty="0">
                <a:solidFill>
                  <a:srgbClr val="9CA3AF"/>
                </a:solidFill>
                <a:latin typeface="Carlito" pitchFamily="34" charset="0"/>
                <a:ea typeface="Carlito" pitchFamily="34" charset="-122"/>
                <a:cs typeface="Carlito" pitchFamily="34" charset="-120"/>
              </a:rPr>
              <a:t>4x stronger fabric, self-cleaning, 12-month lifespan vs 3 months</a:t>
            </a:r>
            <a:endParaRPr lang="en-US" sz="900" dirty="0"/>
          </a:p>
        </p:txBody>
      </p:sp>
      <p:sp>
        <p:nvSpPr>
          <p:cNvPr id="16" name="Text 14"/>
          <p:cNvSpPr/>
          <p:nvPr/>
        </p:nvSpPr>
        <p:spPr>
          <a:xfrm>
            <a:off x="670084" y="4253675"/>
            <a:ext cx="688881" cy="208026"/>
          </a:xfrm>
          <a:prstGeom prst="roundRect">
            <a:avLst>
              <a:gd name="adj" fmla="val 91575"/>
            </a:avLst>
          </a:prstGeom>
          <a:solidFill>
            <a:srgbClr val="FF9933">
              <a:alpha val="15000"/>
            </a:srgbClr>
          </a:solidFill>
          <a:ln/>
        </p:spPr>
        <p:txBody>
          <a:bodyPr wrap="square" rtlCol="0" anchor="ctr"/>
          <a:lstStyle/>
          <a:p>
            <a:pPr indent="0" marL="0">
              <a:buNone/>
            </a:pPr>
            <a:endParaRPr lang="en-US" dirty="0"/>
          </a:p>
        </p:txBody>
      </p:sp>
      <p:sp>
        <p:nvSpPr>
          <p:cNvPr id="17" name="Text 15"/>
          <p:cNvSpPr/>
          <p:nvPr/>
        </p:nvSpPr>
        <p:spPr>
          <a:xfrm>
            <a:off x="692944" y="4264819"/>
            <a:ext cx="643161" cy="185738"/>
          </a:xfrm>
          <a:prstGeom prst="rect">
            <a:avLst/>
          </a:prstGeom>
          <a:noFill/>
          <a:ln/>
        </p:spPr>
        <p:txBody>
          <a:bodyPr wrap="none" lIns="0" tIns="0" rIns="0" bIns="0" rtlCol="0" anchor="ctr"/>
          <a:lstStyle/>
          <a:p>
            <a:pPr algn="ctr" indent="0" marL="0">
              <a:lnSpc>
                <a:spcPts val="1013"/>
              </a:lnSpc>
              <a:buNone/>
            </a:pPr>
            <a:r>
              <a:rPr lang="en-US" sz="800" dirty="0">
                <a:solidFill>
                  <a:srgbClr val="FF9933"/>
                </a:solidFill>
                <a:latin typeface="Liberation Sans Narrow" pitchFamily="34" charset="0"/>
                <a:ea typeface="Liberation Sans Narrow" pitchFamily="34" charset="-122"/>
                <a:cs typeface="Liberation Sans Narrow" pitchFamily="34" charset="-120"/>
              </a:rPr>
              <a:t>3x Lifespan</a:t>
            </a:r>
            <a:endParaRPr lang="en-US" sz="800" dirty="0"/>
          </a:p>
        </p:txBody>
      </p:sp>
      <p:sp>
        <p:nvSpPr>
          <p:cNvPr id="18" name="Text 16"/>
          <p:cNvSpPr/>
          <p:nvPr/>
        </p:nvSpPr>
        <p:spPr>
          <a:xfrm>
            <a:off x="3267038" y="1343025"/>
            <a:ext cx="2609924" cy="3343275"/>
          </a:xfrm>
          <a:prstGeom prst="roundRect">
            <a:avLst>
              <a:gd name="adj" fmla="val 5839"/>
            </a:avLst>
          </a:prstGeom>
          <a:solidFill>
            <a:srgbClr val="1A1A1A"/>
          </a:solidFill>
          <a:ln/>
        </p:spPr>
        <p:txBody>
          <a:bodyPr wrap="square" rtlCol="0" anchor="ctr"/>
          <a:lstStyle/>
          <a:p>
            <a:pPr indent="0" marL="0">
              <a:buNone/>
            </a:pPr>
            <a:endParaRPr lang="en-US" dirty="0"/>
          </a:p>
        </p:txBody>
      </p:sp>
      <p:sp>
        <p:nvSpPr>
          <p:cNvPr id="19" name="Shape 17"/>
          <p:cNvSpPr/>
          <p:nvPr/>
        </p:nvSpPr>
        <p:spPr>
          <a:xfrm>
            <a:off x="3267038" y="1346597"/>
            <a:ext cx="2609924" cy="0"/>
          </a:xfrm>
          <a:prstGeom prst="line">
            <a:avLst/>
          </a:prstGeom>
          <a:noFill/>
          <a:ln w="7144">
            <a:solidFill>
              <a:srgbClr val="FFFFFF"/>
            </a:solidFill>
            <a:prstDash val="solid"/>
          </a:ln>
        </p:spPr>
      </p:sp>
      <p:sp>
        <p:nvSpPr>
          <p:cNvPr id="20" name="Shape 18"/>
          <p:cNvSpPr/>
          <p:nvPr/>
        </p:nvSpPr>
        <p:spPr>
          <a:xfrm>
            <a:off x="5873390" y="1343025"/>
            <a:ext cx="0" cy="3343275"/>
          </a:xfrm>
          <a:prstGeom prst="line">
            <a:avLst/>
          </a:prstGeom>
          <a:noFill/>
          <a:ln w="7144">
            <a:solidFill>
              <a:srgbClr val="FFFFFF"/>
            </a:solidFill>
            <a:prstDash val="solid"/>
          </a:ln>
        </p:spPr>
      </p:sp>
      <p:sp>
        <p:nvSpPr>
          <p:cNvPr id="21" name="Shape 19"/>
          <p:cNvSpPr/>
          <p:nvPr/>
        </p:nvSpPr>
        <p:spPr>
          <a:xfrm>
            <a:off x="3267038" y="4682728"/>
            <a:ext cx="2609924" cy="0"/>
          </a:xfrm>
          <a:prstGeom prst="line">
            <a:avLst/>
          </a:prstGeom>
          <a:noFill/>
          <a:ln w="7144">
            <a:solidFill>
              <a:srgbClr val="FFFFFF"/>
            </a:solidFill>
            <a:prstDash val="solid"/>
          </a:ln>
        </p:spPr>
      </p:sp>
      <p:sp>
        <p:nvSpPr>
          <p:cNvPr id="22" name="Shape 20"/>
          <p:cNvSpPr/>
          <p:nvPr/>
        </p:nvSpPr>
        <p:spPr>
          <a:xfrm>
            <a:off x="3284897" y="1343025"/>
            <a:ext cx="0" cy="3343275"/>
          </a:xfrm>
          <a:prstGeom prst="line">
            <a:avLst/>
          </a:prstGeom>
          <a:noFill/>
          <a:ln w="35719">
            <a:solidFill>
              <a:srgbClr val="138808"/>
            </a:solidFill>
            <a:prstDash val="solid"/>
          </a:ln>
        </p:spPr>
      </p:sp>
      <p:sp>
        <p:nvSpPr>
          <p:cNvPr id="23" name="Text 21"/>
          <p:cNvSpPr/>
          <p:nvPr/>
        </p:nvSpPr>
        <p:spPr>
          <a:xfrm>
            <a:off x="3502782" y="1578769"/>
            <a:ext cx="342900" cy="342900"/>
          </a:xfrm>
          <a:prstGeom prst="ellipse">
            <a:avLst/>
          </a:prstGeom>
          <a:solidFill>
            <a:srgbClr val="138808">
              <a:alpha val="12000"/>
            </a:srgbClr>
          </a:solidFill>
          <a:ln/>
        </p:spPr>
        <p:txBody>
          <a:bodyPr wrap="square" rtlCol="0" anchor="ctr"/>
          <a:lstStyle/>
          <a:p>
            <a:pPr indent="0" marL="0">
              <a:buNone/>
            </a:pPr>
            <a:endParaRPr lang="en-US" dirty="0"/>
          </a:p>
        </p:txBody>
      </p:sp>
      <p:sp>
        <p:nvSpPr>
          <p:cNvPr id="24" name="Text 22"/>
          <p:cNvSpPr/>
          <p:nvPr/>
        </p:nvSpPr>
        <p:spPr>
          <a:xfrm>
            <a:off x="3539572" y="1615559"/>
            <a:ext cx="269319" cy="269319"/>
          </a:xfrm>
          <a:prstGeom prst="rect">
            <a:avLst/>
          </a:prstGeom>
          <a:noFill/>
          <a:ln/>
        </p:spPr>
        <p:txBody>
          <a:bodyPr wrap="none" lIns="0" tIns="0" rIns="0" bIns="0" rtlCol="0" anchor="ctr"/>
          <a:lstStyle/>
          <a:p>
            <a:pPr algn="ctr" indent="0" marL="0">
              <a:buNone/>
            </a:pPr>
            <a:r>
              <a:rPr lang="en-US" sz="1828" dirty="0">
                <a:solidFill>
                  <a:srgbClr val="138808"/>
                </a:solidFill>
                <a:latin typeface="Segoe UI Symbol" pitchFamily="34" charset="0"/>
                <a:ea typeface="Segoe UI Symbol" pitchFamily="34" charset="-122"/>
                <a:cs typeface="Segoe UI Symbol" pitchFamily="34" charset="-120"/>
              </a:rPr>
              <a:t>▦</a:t>
            </a:r>
            <a:endParaRPr lang="en-US" sz="1828" dirty="0"/>
          </a:p>
        </p:txBody>
      </p:sp>
      <p:sp>
        <p:nvSpPr>
          <p:cNvPr id="25" name="Text 23"/>
          <p:cNvSpPr/>
          <p:nvPr/>
        </p:nvSpPr>
        <p:spPr>
          <a:xfrm>
            <a:off x="3502782" y="2035969"/>
            <a:ext cx="2167012" cy="240619"/>
          </a:xfrm>
          <a:prstGeom prst="rect">
            <a:avLst/>
          </a:prstGeom>
          <a:noFill/>
          <a:ln/>
        </p:spPr>
        <p:txBody>
          <a:bodyPr wrap="none" lIns="0" tIns="0" rIns="0" bIns="0" rtlCol="0" anchor="t"/>
          <a:lstStyle/>
          <a:p>
            <a:pPr algn="l" indent="0" marL="0">
              <a:lnSpc>
                <a:spcPts val="1755"/>
              </a:lnSpc>
              <a:buNone/>
            </a:pPr>
            <a:r>
              <a:rPr lang="en-US" sz="1463" b="1" dirty="0">
                <a:solidFill>
                  <a:srgbClr val="FFFFFF"/>
                </a:solidFill>
                <a:latin typeface="Carlito" pitchFamily="34" charset="0"/>
                <a:ea typeface="Carlito" pitchFamily="34" charset="-122"/>
                <a:cs typeface="Carlito" pitchFamily="34" charset="-120"/>
              </a:rPr>
              <a:t>IoT + AI Monitoring</a:t>
            </a:r>
            <a:endParaRPr lang="en-US" sz="1463" dirty="0"/>
          </a:p>
        </p:txBody>
      </p:sp>
      <p:sp>
        <p:nvSpPr>
          <p:cNvPr id="26" name="Text 24"/>
          <p:cNvSpPr/>
          <p:nvPr/>
        </p:nvSpPr>
        <p:spPr>
          <a:xfrm>
            <a:off x="3502782" y="2373064"/>
            <a:ext cx="2167012" cy="388656"/>
          </a:xfrm>
          <a:prstGeom prst="rect">
            <a:avLst/>
          </a:prstGeom>
          <a:noFill/>
          <a:ln/>
        </p:spPr>
        <p:txBody>
          <a:bodyPr wrap="square" lIns="0" tIns="0" rIns="0" bIns="0" rtlCol="0" anchor="t"/>
          <a:lstStyle/>
          <a:p>
            <a:pPr algn="l" indent="0" marL="0">
              <a:lnSpc>
                <a:spcPts val="1418"/>
              </a:lnSpc>
              <a:buNone/>
            </a:pPr>
            <a:r>
              <a:rPr lang="en-US" sz="1013" dirty="0">
                <a:solidFill>
                  <a:srgbClr val="138808"/>
                </a:solidFill>
                <a:latin typeface="Carlito" pitchFamily="34" charset="0"/>
                <a:ea typeface="Carlito" pitchFamily="34" charset="-122"/>
                <a:cs typeface="Carlito" pitchFamily="34" charset="-120"/>
              </a:rPr>
              <a:t>5 Sensors Per Mast + AI Computer Vision</a:t>
            </a:r>
            <a:endParaRPr lang="en-US" sz="1013" dirty="0"/>
          </a:p>
        </p:txBody>
      </p:sp>
      <p:sp>
        <p:nvSpPr>
          <p:cNvPr id="27" name="Text 25"/>
          <p:cNvSpPr/>
          <p:nvPr/>
        </p:nvSpPr>
        <p:spPr>
          <a:xfrm>
            <a:off x="3502782" y="2847231"/>
            <a:ext cx="2167012" cy="394924"/>
          </a:xfrm>
          <a:prstGeom prst="rect">
            <a:avLst/>
          </a:prstGeom>
          <a:noFill/>
          <a:ln/>
        </p:spPr>
        <p:txBody>
          <a:bodyPr wrap="square" lIns="0" tIns="0" rIns="0" bIns="0" rtlCol="0" anchor="t"/>
          <a:lstStyle/>
          <a:p>
            <a:pPr algn="l" indent="0" marL="0">
              <a:lnSpc>
                <a:spcPts val="1440"/>
              </a:lnSpc>
              <a:buNone/>
            </a:pPr>
            <a:r>
              <a:rPr lang="en-US" sz="900" dirty="0">
                <a:solidFill>
                  <a:srgbClr val="9CA3AF"/>
                </a:solidFill>
                <a:latin typeface="Carlito" pitchFamily="34" charset="0"/>
                <a:ea typeface="Carlito" pitchFamily="34" charset="-122"/>
                <a:cs typeface="Carlito" pitchFamily="34" charset="-120"/>
              </a:rPr>
              <a:t>Real-time tear detection, auto-alerts in &lt;3 seconds, 94% AI confidence</a:t>
            </a:r>
            <a:endParaRPr lang="en-US" sz="900" dirty="0"/>
          </a:p>
        </p:txBody>
      </p:sp>
      <p:sp>
        <p:nvSpPr>
          <p:cNvPr id="28" name="Text 26"/>
          <p:cNvSpPr/>
          <p:nvPr/>
        </p:nvSpPr>
        <p:spPr>
          <a:xfrm>
            <a:off x="3480484" y="4253675"/>
            <a:ext cx="602031" cy="208026"/>
          </a:xfrm>
          <a:prstGeom prst="roundRect">
            <a:avLst>
              <a:gd name="adj" fmla="val 91575"/>
            </a:avLst>
          </a:prstGeom>
          <a:solidFill>
            <a:srgbClr val="138808">
              <a:alpha val="15000"/>
            </a:srgbClr>
          </a:solidFill>
          <a:ln/>
        </p:spPr>
        <p:txBody>
          <a:bodyPr wrap="square" rtlCol="0" anchor="ctr"/>
          <a:lstStyle/>
          <a:p>
            <a:pPr indent="0" marL="0">
              <a:buNone/>
            </a:pPr>
            <a:endParaRPr lang="en-US" dirty="0"/>
          </a:p>
        </p:txBody>
      </p:sp>
      <p:sp>
        <p:nvSpPr>
          <p:cNvPr id="29" name="Text 27"/>
          <p:cNvSpPr/>
          <p:nvPr/>
        </p:nvSpPr>
        <p:spPr>
          <a:xfrm>
            <a:off x="3502782" y="4264819"/>
            <a:ext cx="557436" cy="185738"/>
          </a:xfrm>
          <a:prstGeom prst="rect">
            <a:avLst/>
          </a:prstGeom>
          <a:noFill/>
          <a:ln/>
        </p:spPr>
        <p:txBody>
          <a:bodyPr wrap="none" lIns="0" tIns="0" rIns="0" bIns="0" rtlCol="0" anchor="ctr"/>
          <a:lstStyle/>
          <a:p>
            <a:pPr algn="ctr" indent="0" marL="0">
              <a:lnSpc>
                <a:spcPts val="1013"/>
              </a:lnSpc>
              <a:buNone/>
            </a:pPr>
            <a:r>
              <a:rPr lang="en-US" sz="800" dirty="0">
                <a:solidFill>
                  <a:srgbClr val="138808"/>
                </a:solidFill>
                <a:latin typeface="Carlito" pitchFamily="34" charset="0"/>
                <a:ea typeface="Carlito" pitchFamily="34" charset="-122"/>
                <a:cs typeface="Carlito" pitchFamily="34" charset="-120"/>
              </a:rPr>
              <a:t>Real-time</a:t>
            </a:r>
            <a:endParaRPr lang="en-US" sz="800" dirty="0"/>
          </a:p>
        </p:txBody>
      </p:sp>
      <p:sp>
        <p:nvSpPr>
          <p:cNvPr id="30" name="Text 28"/>
          <p:cNvSpPr/>
          <p:nvPr/>
        </p:nvSpPr>
        <p:spPr>
          <a:xfrm>
            <a:off x="6076987" y="1343025"/>
            <a:ext cx="2609813" cy="3343275"/>
          </a:xfrm>
          <a:prstGeom prst="roundRect">
            <a:avLst>
              <a:gd name="adj" fmla="val 5839"/>
            </a:avLst>
          </a:prstGeom>
          <a:solidFill>
            <a:srgbClr val="1A1A1A"/>
          </a:solidFill>
          <a:ln/>
        </p:spPr>
        <p:txBody>
          <a:bodyPr wrap="square" rtlCol="0" anchor="ctr"/>
          <a:lstStyle/>
          <a:p>
            <a:pPr indent="0" marL="0">
              <a:buNone/>
            </a:pPr>
            <a:endParaRPr lang="en-US" dirty="0"/>
          </a:p>
        </p:txBody>
      </p:sp>
      <p:sp>
        <p:nvSpPr>
          <p:cNvPr id="31" name="Shape 29"/>
          <p:cNvSpPr/>
          <p:nvPr/>
        </p:nvSpPr>
        <p:spPr>
          <a:xfrm>
            <a:off x="6076987" y="1346597"/>
            <a:ext cx="2609813" cy="0"/>
          </a:xfrm>
          <a:prstGeom prst="line">
            <a:avLst/>
          </a:prstGeom>
          <a:noFill/>
          <a:ln w="7144">
            <a:solidFill>
              <a:srgbClr val="FFFFFF"/>
            </a:solidFill>
            <a:prstDash val="solid"/>
          </a:ln>
        </p:spPr>
      </p:sp>
      <p:sp>
        <p:nvSpPr>
          <p:cNvPr id="32" name="Shape 30"/>
          <p:cNvSpPr/>
          <p:nvPr/>
        </p:nvSpPr>
        <p:spPr>
          <a:xfrm>
            <a:off x="8683228" y="1343025"/>
            <a:ext cx="0" cy="3343275"/>
          </a:xfrm>
          <a:prstGeom prst="line">
            <a:avLst/>
          </a:prstGeom>
          <a:noFill/>
          <a:ln w="7144">
            <a:solidFill>
              <a:srgbClr val="FFFFFF"/>
            </a:solidFill>
            <a:prstDash val="solid"/>
          </a:ln>
        </p:spPr>
      </p:sp>
      <p:sp>
        <p:nvSpPr>
          <p:cNvPr id="33" name="Shape 31"/>
          <p:cNvSpPr/>
          <p:nvPr/>
        </p:nvSpPr>
        <p:spPr>
          <a:xfrm>
            <a:off x="6076987" y="4682728"/>
            <a:ext cx="2609813" cy="0"/>
          </a:xfrm>
          <a:prstGeom prst="line">
            <a:avLst/>
          </a:prstGeom>
          <a:noFill/>
          <a:ln w="7144">
            <a:solidFill>
              <a:srgbClr val="FFFFFF"/>
            </a:solidFill>
            <a:prstDash val="solid"/>
          </a:ln>
        </p:spPr>
      </p:sp>
      <p:sp>
        <p:nvSpPr>
          <p:cNvPr id="34" name="Shape 32"/>
          <p:cNvSpPr/>
          <p:nvPr/>
        </p:nvSpPr>
        <p:spPr>
          <a:xfrm>
            <a:off x="6094847" y="1343025"/>
            <a:ext cx="0" cy="3343275"/>
          </a:xfrm>
          <a:prstGeom prst="line">
            <a:avLst/>
          </a:prstGeom>
          <a:noFill/>
          <a:ln w="35719">
            <a:solidFill>
              <a:srgbClr val="FF9933"/>
            </a:solidFill>
            <a:prstDash val="solid"/>
          </a:ln>
        </p:spPr>
      </p:sp>
      <p:sp>
        <p:nvSpPr>
          <p:cNvPr id="35" name="Text 33"/>
          <p:cNvSpPr/>
          <p:nvPr/>
        </p:nvSpPr>
        <p:spPr>
          <a:xfrm>
            <a:off x="6312731" y="1578769"/>
            <a:ext cx="342900" cy="342900"/>
          </a:xfrm>
          <a:prstGeom prst="ellipse">
            <a:avLst/>
          </a:prstGeom>
          <a:solidFill>
            <a:srgbClr val="FF9933">
              <a:alpha val="12000"/>
            </a:srgbClr>
          </a:solidFill>
          <a:ln/>
        </p:spPr>
        <p:txBody>
          <a:bodyPr wrap="square" rtlCol="0" anchor="ctr"/>
          <a:lstStyle/>
          <a:p>
            <a:pPr indent="0" marL="0">
              <a:buNone/>
            </a:pPr>
            <a:endParaRPr lang="en-US" dirty="0"/>
          </a:p>
        </p:txBody>
      </p:sp>
      <p:sp>
        <p:nvSpPr>
          <p:cNvPr id="36" name="Text 34"/>
          <p:cNvSpPr/>
          <p:nvPr/>
        </p:nvSpPr>
        <p:spPr>
          <a:xfrm>
            <a:off x="6349521" y="1615559"/>
            <a:ext cx="269319" cy="269319"/>
          </a:xfrm>
          <a:prstGeom prst="rect">
            <a:avLst/>
          </a:prstGeom>
          <a:noFill/>
          <a:ln/>
        </p:spPr>
        <p:txBody>
          <a:bodyPr wrap="none" lIns="0" tIns="0" rIns="0" bIns="0" rtlCol="0" anchor="ctr"/>
          <a:lstStyle/>
          <a:p>
            <a:pPr algn="ctr" indent="0" marL="0">
              <a:buNone/>
            </a:pPr>
            <a:r>
              <a:rPr lang="en-US" sz="1828" dirty="0">
                <a:solidFill>
                  <a:srgbClr val="FF9933"/>
                </a:solidFill>
                <a:latin typeface="Segoe UI Symbol" pitchFamily="34" charset="0"/>
                <a:ea typeface="Segoe UI Symbol" pitchFamily="34" charset="-122"/>
                <a:cs typeface="Segoe UI Symbol" pitchFamily="34" charset="-120"/>
              </a:rPr>
              <a:t>✿</a:t>
            </a:r>
            <a:endParaRPr lang="en-US" sz="1828" dirty="0"/>
          </a:p>
        </p:txBody>
      </p:sp>
      <p:sp>
        <p:nvSpPr>
          <p:cNvPr id="37" name="Text 35"/>
          <p:cNvSpPr/>
          <p:nvPr/>
        </p:nvSpPr>
        <p:spPr>
          <a:xfrm>
            <a:off x="6312731" y="2035969"/>
            <a:ext cx="2166900" cy="240619"/>
          </a:xfrm>
          <a:prstGeom prst="rect">
            <a:avLst/>
          </a:prstGeom>
          <a:noFill/>
          <a:ln/>
        </p:spPr>
        <p:txBody>
          <a:bodyPr wrap="none" lIns="0" tIns="0" rIns="0" bIns="0" rtlCol="0" anchor="t"/>
          <a:lstStyle/>
          <a:p>
            <a:pPr algn="l" indent="0" marL="0">
              <a:lnSpc>
                <a:spcPts val="1755"/>
              </a:lnSpc>
              <a:buNone/>
            </a:pPr>
            <a:r>
              <a:rPr lang="en-US" sz="1463" b="1" dirty="0">
                <a:solidFill>
                  <a:srgbClr val="FFFFFF"/>
                </a:solidFill>
                <a:latin typeface="Carlito" pitchFamily="34" charset="0"/>
                <a:ea typeface="Carlito" pitchFamily="34" charset="-122"/>
                <a:cs typeface="Carlito" pitchFamily="34" charset="-120"/>
              </a:rPr>
              <a:t>Sustainable Lifecycle</a:t>
            </a:r>
            <a:endParaRPr lang="en-US" sz="1463" dirty="0"/>
          </a:p>
        </p:txBody>
      </p:sp>
      <p:sp>
        <p:nvSpPr>
          <p:cNvPr id="38" name="Text 36"/>
          <p:cNvSpPr/>
          <p:nvPr/>
        </p:nvSpPr>
        <p:spPr>
          <a:xfrm>
            <a:off x="6312731" y="2373064"/>
            <a:ext cx="2166900" cy="388656"/>
          </a:xfrm>
          <a:prstGeom prst="rect">
            <a:avLst/>
          </a:prstGeom>
          <a:noFill/>
          <a:ln/>
        </p:spPr>
        <p:txBody>
          <a:bodyPr wrap="square" lIns="0" tIns="0" rIns="0" bIns="0" rtlCol="0" anchor="t"/>
          <a:lstStyle/>
          <a:p>
            <a:pPr algn="l" indent="0" marL="0">
              <a:lnSpc>
                <a:spcPts val="1418"/>
              </a:lnSpc>
              <a:buNone/>
            </a:pPr>
            <a:r>
              <a:rPr lang="en-US" sz="1013" dirty="0">
                <a:solidFill>
                  <a:srgbClr val="FF9933"/>
                </a:solidFill>
                <a:latin typeface="Carlito" pitchFamily="34" charset="0"/>
                <a:ea typeface="Carlito" pitchFamily="34" charset="-122"/>
                <a:cs typeface="Carlito" pitchFamily="34" charset="-120"/>
              </a:rPr>
              <a:t>Flag Code Compliant Disposal + Recycling</a:t>
            </a:r>
            <a:endParaRPr lang="en-US" sz="1013" dirty="0"/>
          </a:p>
        </p:txBody>
      </p:sp>
      <p:sp>
        <p:nvSpPr>
          <p:cNvPr id="39" name="Text 37"/>
          <p:cNvSpPr/>
          <p:nvPr/>
        </p:nvSpPr>
        <p:spPr>
          <a:xfrm>
            <a:off x="6312731" y="2847231"/>
            <a:ext cx="2166900" cy="394924"/>
          </a:xfrm>
          <a:prstGeom prst="rect">
            <a:avLst/>
          </a:prstGeom>
          <a:noFill/>
          <a:ln/>
        </p:spPr>
        <p:txBody>
          <a:bodyPr wrap="square" lIns="0" tIns="0" rIns="0" bIns="0" rtlCol="0" anchor="t"/>
          <a:lstStyle/>
          <a:p>
            <a:pPr algn="l" indent="0" marL="0">
              <a:lnSpc>
                <a:spcPts val="1440"/>
              </a:lnSpc>
              <a:buNone/>
            </a:pPr>
            <a:r>
              <a:rPr lang="en-US" sz="900" dirty="0">
                <a:solidFill>
                  <a:srgbClr val="9CA3AF"/>
                </a:solidFill>
                <a:latin typeface="Carlito" pitchFamily="34" charset="0"/>
                <a:ea typeface="Carlito" pitchFamily="34" charset="-122"/>
                <a:cs typeface="Carlito" pitchFamily="34" charset="-120"/>
              </a:rPr>
              <a:t>100% respectful disposal with FCC certification, ₹30L/yr recycling revenue</a:t>
            </a:r>
            <a:endParaRPr lang="en-US" sz="900" dirty="0"/>
          </a:p>
        </p:txBody>
      </p:sp>
      <p:sp>
        <p:nvSpPr>
          <p:cNvPr id="40" name="Text 38"/>
          <p:cNvSpPr/>
          <p:nvPr/>
        </p:nvSpPr>
        <p:spPr>
          <a:xfrm>
            <a:off x="6289871" y="4253675"/>
            <a:ext cx="636307" cy="208026"/>
          </a:xfrm>
          <a:prstGeom prst="roundRect">
            <a:avLst>
              <a:gd name="adj" fmla="val 91575"/>
            </a:avLst>
          </a:prstGeom>
          <a:solidFill>
            <a:srgbClr val="FFFFFF">
              <a:alpha val="10000"/>
            </a:srgbClr>
          </a:solidFill>
          <a:ln/>
        </p:spPr>
        <p:txBody>
          <a:bodyPr wrap="square" rtlCol="0" anchor="ctr"/>
          <a:lstStyle/>
          <a:p>
            <a:pPr indent="0" marL="0">
              <a:buNone/>
            </a:pPr>
            <a:endParaRPr lang="en-US" dirty="0"/>
          </a:p>
        </p:txBody>
      </p:sp>
      <p:sp>
        <p:nvSpPr>
          <p:cNvPr id="41" name="Text 39"/>
          <p:cNvSpPr/>
          <p:nvPr/>
        </p:nvSpPr>
        <p:spPr>
          <a:xfrm>
            <a:off x="6312731" y="4264819"/>
            <a:ext cx="590587" cy="185738"/>
          </a:xfrm>
          <a:prstGeom prst="rect">
            <a:avLst/>
          </a:prstGeom>
          <a:noFill/>
          <a:ln/>
        </p:spPr>
        <p:txBody>
          <a:bodyPr wrap="none" lIns="0" tIns="0" rIns="0" bIns="0" rtlCol="0" anchor="ctr"/>
          <a:lstStyle/>
          <a:p>
            <a:pPr algn="ctr" indent="0" marL="0">
              <a:lnSpc>
                <a:spcPts val="1013"/>
              </a:lnSpc>
              <a:buNone/>
            </a:pPr>
            <a:r>
              <a:rPr lang="en-US" sz="800" dirty="0">
                <a:solidFill>
                  <a:srgbClr val="FFFFFF"/>
                </a:solidFill>
                <a:latin typeface="Carlito" pitchFamily="34" charset="0"/>
                <a:ea typeface="Carlito" pitchFamily="34" charset="-122"/>
                <a:cs typeface="Carlito" pitchFamily="34" charset="-120"/>
              </a:rPr>
              <a:t>Compliant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F0F0F"/>
          </a:solidFill>
          <a:ln/>
        </p:spPr>
        <p:txBody>
          <a:bodyPr wrap="square" rtlCol="0" anchor="ctr"/>
          <a:lstStyle/>
          <a:p>
            <a:pPr indent="0" marL="0">
              <a:buNone/>
            </a:pPr>
            <a:endParaRPr lang="en-US" dirty="0"/>
          </a:p>
        </p:txBody>
      </p:sp>
      <p:sp>
        <p:nvSpPr>
          <p:cNvPr id="3" name="Text 1"/>
          <p:cNvSpPr/>
          <p:nvPr/>
        </p:nvSpPr>
        <p:spPr>
          <a:xfrm>
            <a:off x="514350" y="514350"/>
            <a:ext cx="8115300" cy="314758"/>
          </a:xfrm>
          <a:prstGeom prst="rect">
            <a:avLst/>
          </a:prstGeom>
          <a:noFill/>
          <a:ln/>
        </p:spPr>
        <p:txBody>
          <a:bodyPr wrap="square" lIns="0" tIns="0" rIns="0" bIns="0" rtlCol="0" anchor="t"/>
          <a:lstStyle/>
          <a:p>
            <a:pPr algn="l" indent="0" marL="0">
              <a:lnSpc>
                <a:spcPts val="2295"/>
              </a:lnSpc>
              <a:buNone/>
            </a:pPr>
            <a:r>
              <a:rPr lang="en-US" sz="1913" b="1" dirty="0">
                <a:solidFill>
                  <a:srgbClr val="FFFFFF"/>
                </a:solidFill>
                <a:latin typeface="Carlito" pitchFamily="34" charset="0"/>
                <a:ea typeface="Carlito" pitchFamily="34" charset="-122"/>
                <a:cs typeface="Carlito" pitchFamily="34" charset="-120"/>
              </a:rPr>
              <a:t>Material Innovation: </a:t>
            </a:r>
            <a:pPr algn="l" indent="0" marL="0">
              <a:lnSpc>
                <a:spcPts val="2295"/>
              </a:lnSpc>
              <a:buNone/>
            </a:pPr>
            <a:r>
              <a:rPr lang="en-US" sz="1913" b="1" dirty="0">
                <a:solidFill>
                  <a:srgbClr val="FF9933"/>
                </a:solidFill>
                <a:latin typeface="Liberation Sans Narrow" pitchFamily="34" charset="0"/>
                <a:ea typeface="Liberation Sans Narrow" pitchFamily="34" charset="-122"/>
                <a:cs typeface="Liberation Sans Narrow" pitchFamily="34" charset="-120"/>
              </a:rPr>
              <a:t>3x Stronger</a:t>
            </a:r>
            <a:pPr algn="l" indent="0" marL="0">
              <a:lnSpc>
                <a:spcPts val="2295"/>
              </a:lnSpc>
              <a:buNone/>
            </a:pPr>
            <a:r>
              <a:rPr lang="en-US" sz="1913" b="1" dirty="0">
                <a:solidFill>
                  <a:srgbClr val="FFFFFF"/>
                </a:solidFill>
                <a:latin typeface="Carlito" pitchFamily="34" charset="0"/>
                <a:ea typeface="Carlito" pitchFamily="34" charset="-122"/>
                <a:cs typeface="Carlito" pitchFamily="34" charset="-120"/>
              </a:rPr>
              <a:t>, </a:t>
            </a:r>
            <a:pPr algn="l" indent="0" marL="0">
              <a:lnSpc>
                <a:spcPts val="2295"/>
              </a:lnSpc>
              <a:buNone/>
            </a:pPr>
            <a:r>
              <a:rPr lang="en-US" sz="1913" b="1" dirty="0">
                <a:solidFill>
                  <a:srgbClr val="138808"/>
                </a:solidFill>
                <a:latin typeface="Carlito" pitchFamily="34" charset="0"/>
                <a:ea typeface="Carlito" pitchFamily="34" charset="-122"/>
                <a:cs typeface="Carlito" pitchFamily="34" charset="-120"/>
              </a:rPr>
              <a:t>Self-Cleaning</a:t>
            </a:r>
            <a:endParaRPr lang="en-US" sz="1913" dirty="0"/>
          </a:p>
        </p:txBody>
      </p:sp>
      <p:sp>
        <p:nvSpPr>
          <p:cNvPr id="4" name="Text 2"/>
          <p:cNvSpPr/>
          <p:nvPr/>
        </p:nvSpPr>
        <p:spPr>
          <a:xfrm>
            <a:off x="514350" y="1062968"/>
            <a:ext cx="4783855" cy="231458"/>
          </a:xfrm>
          <a:prstGeom prst="rect">
            <a:avLst/>
          </a:prstGeom>
          <a:noFill/>
          <a:ln/>
        </p:spPr>
        <p:txBody>
          <a:bodyPr wrap="none" lIns="0" tIns="0" rIns="0" bIns="0" rtlCol="0" anchor="t"/>
          <a:lstStyle/>
          <a:p>
            <a:pPr algn="l" indent="0" marL="0">
              <a:lnSpc>
                <a:spcPts val="1688"/>
              </a:lnSpc>
              <a:buNone/>
            </a:pPr>
            <a:r>
              <a:rPr lang="en-US" sz="1125" b="1" spc="56" kern="0" dirty="0">
                <a:solidFill>
                  <a:srgbClr val="9CA3AF"/>
                </a:solidFill>
                <a:latin typeface="Carlito" pitchFamily="34" charset="0"/>
                <a:ea typeface="Carlito" pitchFamily="34" charset="-122"/>
                <a:cs typeface="Carlito" pitchFamily="34" charset="-120"/>
              </a:rPr>
              <a:t>CURRENT VS PROPOSED</a:t>
            </a:r>
            <a:endParaRPr lang="en-US" sz="1125" dirty="0"/>
          </a:p>
        </p:txBody>
      </p:sp>
      <p:sp>
        <p:nvSpPr>
          <p:cNvPr id="5" name="Text 3"/>
          <p:cNvSpPr/>
          <p:nvPr/>
        </p:nvSpPr>
        <p:spPr>
          <a:xfrm>
            <a:off x="517922" y="1423727"/>
            <a:ext cx="3907631" cy="2175272"/>
          </a:xfrm>
          <a:prstGeom prst="roundRect">
            <a:avLst>
              <a:gd name="adj" fmla="val 7006"/>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21494" y="1427299"/>
            <a:ext cx="3900488" cy="396478"/>
          </a:xfrm>
          <a:prstGeom prst="rect">
            <a:avLst/>
          </a:prstGeom>
          <a:solidFill>
            <a:srgbClr val="FFFFFF">
              <a:alpha val="4000"/>
            </a:srgbClr>
          </a:solidFill>
          <a:ln/>
        </p:spPr>
        <p:txBody>
          <a:bodyPr wrap="square" rtlCol="0" anchor="ctr"/>
          <a:lstStyle/>
          <a:p>
            <a:pPr indent="0" marL="0">
              <a:buNone/>
            </a:pPr>
            <a:endParaRPr lang="en-US" dirty="0"/>
          </a:p>
        </p:txBody>
      </p:sp>
      <p:sp>
        <p:nvSpPr>
          <p:cNvPr id="7" name="Shape 5"/>
          <p:cNvSpPr/>
          <p:nvPr/>
        </p:nvSpPr>
        <p:spPr>
          <a:xfrm>
            <a:off x="521494" y="1820205"/>
            <a:ext cx="3900488" cy="0"/>
          </a:xfrm>
          <a:prstGeom prst="line">
            <a:avLst/>
          </a:prstGeom>
          <a:noFill/>
          <a:ln w="7144">
            <a:solidFill>
              <a:srgbClr val="FFFFFF"/>
            </a:solidFill>
            <a:prstDash val="solid"/>
          </a:ln>
        </p:spPr>
      </p:sp>
      <p:sp>
        <p:nvSpPr>
          <p:cNvPr id="8" name="Text 6"/>
          <p:cNvSpPr/>
          <p:nvPr/>
        </p:nvSpPr>
        <p:spPr>
          <a:xfrm>
            <a:off x="692944" y="1541599"/>
            <a:ext cx="1716881" cy="160734"/>
          </a:xfrm>
          <a:prstGeom prst="rect">
            <a:avLst/>
          </a:prstGeom>
          <a:noFill/>
          <a:ln/>
        </p:spPr>
        <p:txBody>
          <a:bodyPr wrap="none" lIns="0" tIns="0" rIns="0" bIns="0" rtlCol="0" anchor="t"/>
          <a:lstStyle/>
          <a:p>
            <a:pPr algn="l" indent="0" marL="0">
              <a:lnSpc>
                <a:spcPts val="1266"/>
              </a:lnSpc>
              <a:buNone/>
            </a:pPr>
            <a:r>
              <a:rPr lang="en-US" sz="844" b="1" dirty="0">
                <a:solidFill>
                  <a:srgbClr val="9CA3AF"/>
                </a:solidFill>
                <a:latin typeface="Carlito" pitchFamily="34" charset="0"/>
                <a:ea typeface="Carlito" pitchFamily="34" charset="-122"/>
                <a:cs typeface="Carlito" pitchFamily="34" charset="-120"/>
              </a:rPr>
              <a:t>Specification</a:t>
            </a:r>
            <a:endParaRPr lang="en-US" sz="844" dirty="0"/>
          </a:p>
        </p:txBody>
      </p:sp>
      <p:sp>
        <p:nvSpPr>
          <p:cNvPr id="9" name="Text 7"/>
          <p:cNvSpPr/>
          <p:nvPr/>
        </p:nvSpPr>
        <p:spPr>
          <a:xfrm>
            <a:off x="2011372" y="1541599"/>
            <a:ext cx="1339310" cy="160734"/>
          </a:xfrm>
          <a:prstGeom prst="rect">
            <a:avLst/>
          </a:prstGeom>
          <a:noFill/>
          <a:ln/>
        </p:spPr>
        <p:txBody>
          <a:bodyPr wrap="none" lIns="0" tIns="0" rIns="0" bIns="0" rtlCol="0" anchor="t"/>
          <a:lstStyle/>
          <a:p>
            <a:pPr algn="ctr" indent="0" marL="0">
              <a:lnSpc>
                <a:spcPts val="1266"/>
              </a:lnSpc>
              <a:buNone/>
            </a:pPr>
            <a:r>
              <a:rPr lang="en-US" sz="844" b="1" dirty="0">
                <a:solidFill>
                  <a:srgbClr val="EF4444"/>
                </a:solidFill>
                <a:latin typeface="Carlito" pitchFamily="34" charset="0"/>
                <a:ea typeface="Carlito" pitchFamily="34" charset="-122"/>
                <a:cs typeface="Carlito" pitchFamily="34" charset="-120"/>
              </a:rPr>
              <a:t>Current</a:t>
            </a:r>
            <a:endParaRPr lang="en-US" sz="844" dirty="0"/>
          </a:p>
        </p:txBody>
      </p:sp>
      <p:sp>
        <p:nvSpPr>
          <p:cNvPr id="10" name="Text 8"/>
          <p:cNvSpPr/>
          <p:nvPr/>
        </p:nvSpPr>
        <p:spPr>
          <a:xfrm>
            <a:off x="2911221" y="1541599"/>
            <a:ext cx="1339310" cy="160734"/>
          </a:xfrm>
          <a:prstGeom prst="rect">
            <a:avLst/>
          </a:prstGeom>
          <a:noFill/>
          <a:ln/>
        </p:spPr>
        <p:txBody>
          <a:bodyPr wrap="none" lIns="0" tIns="0" rIns="0" bIns="0" rtlCol="0" anchor="t"/>
          <a:lstStyle/>
          <a:p>
            <a:pPr algn="ctr" indent="0" marL="0">
              <a:lnSpc>
                <a:spcPts val="1266"/>
              </a:lnSpc>
              <a:buNone/>
            </a:pPr>
            <a:r>
              <a:rPr lang="en-US" sz="844" b="1" dirty="0">
                <a:solidFill>
                  <a:srgbClr val="138808"/>
                </a:solidFill>
                <a:latin typeface="Carlito" pitchFamily="34" charset="0"/>
                <a:ea typeface="Carlito" pitchFamily="34" charset="-122"/>
                <a:cs typeface="Carlito" pitchFamily="34" charset="-120"/>
              </a:rPr>
              <a:t>Proposed</a:t>
            </a:r>
            <a:endParaRPr lang="en-US" sz="844" dirty="0"/>
          </a:p>
        </p:txBody>
      </p:sp>
      <p:sp>
        <p:nvSpPr>
          <p:cNvPr id="11" name="Shape 9"/>
          <p:cNvSpPr/>
          <p:nvPr/>
        </p:nvSpPr>
        <p:spPr>
          <a:xfrm>
            <a:off x="521494" y="2377418"/>
            <a:ext cx="3900488" cy="0"/>
          </a:xfrm>
          <a:prstGeom prst="line">
            <a:avLst/>
          </a:prstGeom>
          <a:noFill/>
          <a:ln w="7144">
            <a:solidFill>
              <a:srgbClr val="FFFFFF"/>
            </a:solidFill>
            <a:prstDash val="solid"/>
          </a:ln>
        </p:spPr>
      </p:sp>
      <p:sp>
        <p:nvSpPr>
          <p:cNvPr id="12" name="Text 10"/>
          <p:cNvSpPr/>
          <p:nvPr/>
        </p:nvSpPr>
        <p:spPr>
          <a:xfrm>
            <a:off x="692944" y="2013086"/>
            <a:ext cx="1875092" cy="185166"/>
          </a:xfrm>
          <a:prstGeom prst="rect">
            <a:avLst/>
          </a:prstGeom>
          <a:noFill/>
          <a:ln/>
        </p:spPr>
        <p:txBody>
          <a:bodyPr wrap="none" lIns="0" tIns="0" rIns="0" bIns="0" rtlCol="0" anchor="t"/>
          <a:lstStyle/>
          <a:p>
            <a:pPr algn="l" indent="0" marL="0">
              <a:lnSpc>
                <a:spcPts val="1350"/>
              </a:lnSpc>
              <a:buNone/>
            </a:pPr>
            <a:r>
              <a:rPr lang="en-US" sz="900" dirty="0">
                <a:solidFill>
                  <a:srgbClr val="FFFFFF"/>
                </a:solidFill>
                <a:latin typeface="Carlito" pitchFamily="34" charset="0"/>
                <a:ea typeface="Carlito" pitchFamily="34" charset="-122"/>
                <a:cs typeface="Carlito" pitchFamily="34" charset="-120"/>
              </a:rPr>
              <a:t>Fabric</a:t>
            </a:r>
            <a:endParaRPr lang="en-US" sz="900" dirty="0"/>
          </a:p>
        </p:txBody>
      </p:sp>
      <p:sp>
        <p:nvSpPr>
          <p:cNvPr id="13" name="Text 11"/>
          <p:cNvSpPr/>
          <p:nvPr/>
        </p:nvSpPr>
        <p:spPr>
          <a:xfrm>
            <a:off x="2067874" y="2018444"/>
            <a:ext cx="1226306" cy="173593"/>
          </a:xfrm>
          <a:prstGeom prst="rect">
            <a:avLst/>
          </a:prstGeom>
          <a:noFill/>
          <a:ln/>
        </p:spPr>
        <p:txBody>
          <a:bodyPr wrap="none" lIns="0" tIns="0" rIns="0" bIns="0" rtlCol="0" anchor="t"/>
          <a:lstStyle/>
          <a:p>
            <a:pPr algn="ctr" indent="0" marL="0">
              <a:lnSpc>
                <a:spcPts val="1266"/>
              </a:lnSpc>
              <a:buNone/>
            </a:pPr>
            <a:r>
              <a:rPr lang="en-US" sz="844" dirty="0">
                <a:solidFill>
                  <a:srgbClr val="9CA3AF"/>
                </a:solidFill>
                <a:latin typeface="Carlito" pitchFamily="34" charset="0"/>
                <a:ea typeface="Carlito" pitchFamily="34" charset="-122"/>
                <a:cs typeface="Carlito" pitchFamily="34" charset="-120"/>
              </a:rPr>
              <a:t>Standard Polyester</a:t>
            </a:r>
            <a:endParaRPr lang="en-US" sz="844" dirty="0"/>
          </a:p>
        </p:txBody>
      </p:sp>
      <p:sp>
        <p:nvSpPr>
          <p:cNvPr id="14" name="Text 12"/>
          <p:cNvSpPr/>
          <p:nvPr/>
        </p:nvSpPr>
        <p:spPr>
          <a:xfrm>
            <a:off x="3099562" y="1938077"/>
            <a:ext cx="1150970" cy="321469"/>
          </a:xfrm>
          <a:prstGeom prst="rect">
            <a:avLst/>
          </a:prstGeom>
          <a:noFill/>
          <a:ln/>
        </p:spPr>
        <p:txBody>
          <a:bodyPr wrap="square" lIns="0" tIns="0" rIns="0" bIns="0" rtlCol="0" anchor="t"/>
          <a:lstStyle/>
          <a:p>
            <a:pPr algn="ctr" indent="0" marL="0">
              <a:lnSpc>
                <a:spcPts val="1266"/>
              </a:lnSpc>
              <a:buNone/>
            </a:pPr>
            <a:r>
              <a:rPr lang="en-US" sz="844" dirty="0">
                <a:solidFill>
                  <a:srgbClr val="FFFFFF"/>
                </a:solidFill>
                <a:latin typeface="Carlito" pitchFamily="34" charset="0"/>
                <a:ea typeface="Carlito" pitchFamily="34" charset="-122"/>
                <a:cs typeface="Carlito" pitchFamily="34" charset="-120"/>
              </a:rPr>
              <a:t>Kevlar-Polyester Blend</a:t>
            </a:r>
            <a:endParaRPr lang="en-US" sz="844" dirty="0"/>
          </a:p>
        </p:txBody>
      </p:sp>
      <p:sp>
        <p:nvSpPr>
          <p:cNvPr id="15" name="Shape 13"/>
          <p:cNvSpPr/>
          <p:nvPr/>
        </p:nvSpPr>
        <p:spPr>
          <a:xfrm>
            <a:off x="521494" y="2784611"/>
            <a:ext cx="3900488" cy="0"/>
          </a:xfrm>
          <a:prstGeom prst="line">
            <a:avLst/>
          </a:prstGeom>
          <a:noFill/>
          <a:ln w="7144">
            <a:solidFill>
              <a:srgbClr val="FFFFFF"/>
            </a:solidFill>
            <a:prstDash val="solid"/>
          </a:ln>
        </p:spPr>
      </p:sp>
      <p:sp>
        <p:nvSpPr>
          <p:cNvPr id="16" name="Text 14"/>
          <p:cNvSpPr/>
          <p:nvPr/>
        </p:nvSpPr>
        <p:spPr>
          <a:xfrm>
            <a:off x="692944" y="2495290"/>
            <a:ext cx="1875092" cy="171450"/>
          </a:xfrm>
          <a:prstGeom prst="rect">
            <a:avLst/>
          </a:prstGeom>
          <a:noFill/>
          <a:ln/>
        </p:spPr>
        <p:txBody>
          <a:bodyPr wrap="none" lIns="0" tIns="0" rIns="0" bIns="0" rtlCol="0" anchor="t"/>
          <a:lstStyle/>
          <a:p>
            <a:pPr algn="l" indent="0" marL="0">
              <a:lnSpc>
                <a:spcPts val="1350"/>
              </a:lnSpc>
              <a:buNone/>
            </a:pPr>
            <a:r>
              <a:rPr lang="en-US" sz="900" dirty="0">
                <a:solidFill>
                  <a:srgbClr val="FFFFFF"/>
                </a:solidFill>
                <a:latin typeface="Carlito" pitchFamily="34" charset="0"/>
                <a:ea typeface="Carlito" pitchFamily="34" charset="-122"/>
                <a:cs typeface="Carlito" pitchFamily="34" charset="-120"/>
              </a:rPr>
              <a:t>Lifespan</a:t>
            </a:r>
            <a:endParaRPr lang="en-US" sz="900" dirty="0"/>
          </a:p>
        </p:txBody>
      </p:sp>
      <p:sp>
        <p:nvSpPr>
          <p:cNvPr id="17" name="Text 15"/>
          <p:cNvSpPr/>
          <p:nvPr/>
        </p:nvSpPr>
        <p:spPr>
          <a:xfrm>
            <a:off x="2011372" y="2500647"/>
            <a:ext cx="1339310" cy="166092"/>
          </a:xfrm>
          <a:prstGeom prst="rect">
            <a:avLst/>
          </a:prstGeom>
          <a:noFill/>
          <a:ln/>
        </p:spPr>
        <p:txBody>
          <a:bodyPr wrap="none" lIns="0" tIns="0" rIns="0" bIns="0" rtlCol="0" anchor="t"/>
          <a:lstStyle/>
          <a:p>
            <a:pPr algn="ctr" indent="0" marL="0">
              <a:lnSpc>
                <a:spcPts val="1266"/>
              </a:lnSpc>
              <a:buNone/>
            </a:pPr>
            <a:r>
              <a:rPr lang="en-US" sz="844" dirty="0">
                <a:solidFill>
                  <a:srgbClr val="9CA3AF"/>
                </a:solidFill>
                <a:latin typeface="Liberation Sans Narrow" pitchFamily="34" charset="0"/>
                <a:ea typeface="Liberation Sans Narrow" pitchFamily="34" charset="-122"/>
                <a:cs typeface="Liberation Sans Narrow" pitchFamily="34" charset="-120"/>
              </a:rPr>
              <a:t>3 months</a:t>
            </a:r>
            <a:endParaRPr lang="en-US" sz="844" dirty="0"/>
          </a:p>
        </p:txBody>
      </p:sp>
      <p:sp>
        <p:nvSpPr>
          <p:cNvPr id="18" name="Text 16"/>
          <p:cNvSpPr/>
          <p:nvPr/>
        </p:nvSpPr>
        <p:spPr>
          <a:xfrm>
            <a:off x="3275617" y="2516721"/>
            <a:ext cx="685943" cy="131159"/>
          </a:xfrm>
          <a:prstGeom prst="rect">
            <a:avLst/>
          </a:prstGeom>
          <a:noFill/>
          <a:ln/>
        </p:spPr>
        <p:txBody>
          <a:bodyPr wrap="none" lIns="0" tIns="0" rIns="0" bIns="0" rtlCol="0" anchor="t"/>
          <a:lstStyle/>
          <a:p>
            <a:pPr algn="ctr" indent="0" marL="0">
              <a:lnSpc>
                <a:spcPts val="1266"/>
              </a:lnSpc>
              <a:buNone/>
            </a:pPr>
            <a:r>
              <a:rPr lang="en-US" sz="844" b="1" dirty="0">
                <a:solidFill>
                  <a:srgbClr val="138808"/>
                </a:solidFill>
                <a:latin typeface="Liberation Sans Narrow" pitchFamily="34" charset="0"/>
                <a:ea typeface="Liberation Sans Narrow" pitchFamily="34" charset="-122"/>
                <a:cs typeface="Liberation Sans Narrow" pitchFamily="34" charset="-120"/>
              </a:rPr>
              <a:t>12 months</a:t>
            </a:r>
            <a:endParaRPr lang="en-US" sz="844" dirty="0"/>
          </a:p>
        </p:txBody>
      </p:sp>
      <p:sp>
        <p:nvSpPr>
          <p:cNvPr id="19" name="Text 17"/>
          <p:cNvSpPr/>
          <p:nvPr/>
        </p:nvSpPr>
        <p:spPr>
          <a:xfrm>
            <a:off x="3961209" y="2515046"/>
            <a:ext cx="142875" cy="142875"/>
          </a:xfrm>
          <a:prstGeom prst="rect">
            <a:avLst/>
          </a:prstGeom>
          <a:noFill/>
          <a:ln/>
        </p:spPr>
        <p:txBody>
          <a:bodyPr wrap="none" lIns="0" tIns="0" rIns="0" bIns="0" rtlCol="0" anchor="ctr"/>
          <a:lstStyle/>
          <a:p>
            <a:pPr algn="ctr" indent="0" marL="0">
              <a:buNone/>
            </a:pPr>
            <a:r>
              <a:rPr lang="en-US" sz="1406" dirty="0">
                <a:solidFill>
                  <a:srgbClr val="138808"/>
                </a:solidFill>
                <a:latin typeface="Segoe UI Symbol" pitchFamily="34" charset="0"/>
                <a:ea typeface="Segoe UI Symbol" pitchFamily="34" charset="-122"/>
                <a:cs typeface="Segoe UI Symbol" pitchFamily="34" charset="-120"/>
              </a:rPr>
              <a:t>✓</a:t>
            </a:r>
            <a:endParaRPr lang="en-US" sz="1406" dirty="0"/>
          </a:p>
        </p:txBody>
      </p:sp>
      <p:sp>
        <p:nvSpPr>
          <p:cNvPr id="20" name="Shape 18"/>
          <p:cNvSpPr/>
          <p:nvPr/>
        </p:nvSpPr>
        <p:spPr>
          <a:xfrm>
            <a:off x="521494" y="3191805"/>
            <a:ext cx="3900488" cy="0"/>
          </a:xfrm>
          <a:prstGeom prst="line">
            <a:avLst/>
          </a:prstGeom>
          <a:noFill/>
          <a:ln w="7144">
            <a:solidFill>
              <a:srgbClr val="FFFFFF"/>
            </a:solidFill>
            <a:prstDash val="solid"/>
          </a:ln>
        </p:spPr>
      </p:sp>
      <p:sp>
        <p:nvSpPr>
          <p:cNvPr id="21" name="Text 19"/>
          <p:cNvSpPr/>
          <p:nvPr/>
        </p:nvSpPr>
        <p:spPr>
          <a:xfrm>
            <a:off x="692944" y="2902483"/>
            <a:ext cx="1538161" cy="171450"/>
          </a:xfrm>
          <a:prstGeom prst="rect">
            <a:avLst/>
          </a:prstGeom>
          <a:noFill/>
          <a:ln/>
        </p:spPr>
        <p:txBody>
          <a:bodyPr wrap="none" lIns="0" tIns="0" rIns="0" bIns="0" rtlCol="0" anchor="t"/>
          <a:lstStyle/>
          <a:p>
            <a:pPr algn="l" indent="0" marL="0">
              <a:lnSpc>
                <a:spcPts val="1350"/>
              </a:lnSpc>
              <a:buNone/>
            </a:pPr>
            <a:r>
              <a:rPr lang="en-US" sz="900" dirty="0">
                <a:solidFill>
                  <a:srgbClr val="FFFFFF"/>
                </a:solidFill>
                <a:latin typeface="Carlito" pitchFamily="34" charset="0"/>
                <a:ea typeface="Carlito" pitchFamily="34" charset="-122"/>
                <a:cs typeface="Carlito" pitchFamily="34" charset="-120"/>
              </a:rPr>
              <a:t>Tensile Strength</a:t>
            </a:r>
            <a:endParaRPr lang="en-US" sz="900" dirty="0"/>
          </a:p>
        </p:txBody>
      </p:sp>
      <p:sp>
        <p:nvSpPr>
          <p:cNvPr id="22" name="Text 20"/>
          <p:cNvSpPr/>
          <p:nvPr/>
        </p:nvSpPr>
        <p:spPr>
          <a:xfrm>
            <a:off x="2011372" y="2907841"/>
            <a:ext cx="1339310" cy="166092"/>
          </a:xfrm>
          <a:prstGeom prst="rect">
            <a:avLst/>
          </a:prstGeom>
          <a:noFill/>
          <a:ln/>
        </p:spPr>
        <p:txBody>
          <a:bodyPr wrap="none" lIns="0" tIns="0" rIns="0" bIns="0" rtlCol="0" anchor="t"/>
          <a:lstStyle/>
          <a:p>
            <a:pPr algn="ctr" indent="0" marL="0">
              <a:lnSpc>
                <a:spcPts val="1266"/>
              </a:lnSpc>
              <a:buNone/>
            </a:pPr>
            <a:r>
              <a:rPr lang="en-US" sz="844" dirty="0">
                <a:solidFill>
                  <a:srgbClr val="9CA3AF"/>
                </a:solidFill>
                <a:latin typeface="Liberation Sans Narrow" pitchFamily="34" charset="0"/>
                <a:ea typeface="Liberation Sans Narrow" pitchFamily="34" charset="-122"/>
                <a:cs typeface="Liberation Sans Narrow" pitchFamily="34" charset="-120"/>
              </a:rPr>
              <a:t>450 N/m²</a:t>
            </a:r>
            <a:endParaRPr lang="en-US" sz="844" dirty="0"/>
          </a:p>
        </p:txBody>
      </p:sp>
      <p:sp>
        <p:nvSpPr>
          <p:cNvPr id="23" name="Text 21"/>
          <p:cNvSpPr/>
          <p:nvPr/>
        </p:nvSpPr>
        <p:spPr>
          <a:xfrm>
            <a:off x="3294492" y="2923915"/>
            <a:ext cx="648081" cy="131159"/>
          </a:xfrm>
          <a:prstGeom prst="rect">
            <a:avLst/>
          </a:prstGeom>
          <a:noFill/>
          <a:ln/>
        </p:spPr>
        <p:txBody>
          <a:bodyPr wrap="none" lIns="0" tIns="0" rIns="0" bIns="0" rtlCol="0" anchor="t"/>
          <a:lstStyle/>
          <a:p>
            <a:pPr algn="ctr" indent="0" marL="0">
              <a:lnSpc>
                <a:spcPts val="1266"/>
              </a:lnSpc>
              <a:buNone/>
            </a:pPr>
            <a:r>
              <a:rPr lang="en-US" sz="844" b="1" dirty="0">
                <a:solidFill>
                  <a:srgbClr val="138808"/>
                </a:solidFill>
                <a:latin typeface="Liberation Sans Narrow" pitchFamily="34" charset="0"/>
                <a:ea typeface="Liberation Sans Narrow" pitchFamily="34" charset="-122"/>
                <a:cs typeface="Liberation Sans Narrow" pitchFamily="34" charset="-120"/>
              </a:rPr>
              <a:t>1200 N/m²</a:t>
            </a:r>
            <a:endParaRPr lang="en-US" sz="844" dirty="0"/>
          </a:p>
        </p:txBody>
      </p:sp>
      <p:sp>
        <p:nvSpPr>
          <p:cNvPr id="24" name="Text 22"/>
          <p:cNvSpPr/>
          <p:nvPr/>
        </p:nvSpPr>
        <p:spPr>
          <a:xfrm>
            <a:off x="3946364" y="2922240"/>
            <a:ext cx="142875" cy="142875"/>
          </a:xfrm>
          <a:prstGeom prst="rect">
            <a:avLst/>
          </a:prstGeom>
          <a:noFill/>
          <a:ln/>
        </p:spPr>
        <p:txBody>
          <a:bodyPr wrap="none" lIns="0" tIns="0" rIns="0" bIns="0" rtlCol="0" anchor="ctr"/>
          <a:lstStyle/>
          <a:p>
            <a:pPr algn="ctr" indent="0" marL="0">
              <a:buNone/>
            </a:pPr>
            <a:r>
              <a:rPr lang="en-US" sz="1406" dirty="0">
                <a:solidFill>
                  <a:srgbClr val="138808"/>
                </a:solidFill>
                <a:latin typeface="Segoe UI Symbol" pitchFamily="34" charset="0"/>
                <a:ea typeface="Segoe UI Symbol" pitchFamily="34" charset="-122"/>
                <a:cs typeface="Segoe UI Symbol" pitchFamily="34" charset="-120"/>
              </a:rPr>
              <a:t>✓</a:t>
            </a:r>
            <a:endParaRPr lang="en-US" sz="1406" dirty="0"/>
          </a:p>
        </p:txBody>
      </p:sp>
      <p:sp>
        <p:nvSpPr>
          <p:cNvPr id="25" name="Text 23"/>
          <p:cNvSpPr/>
          <p:nvPr/>
        </p:nvSpPr>
        <p:spPr>
          <a:xfrm>
            <a:off x="692944" y="3309677"/>
            <a:ext cx="1716881" cy="185166"/>
          </a:xfrm>
          <a:prstGeom prst="rect">
            <a:avLst/>
          </a:prstGeom>
          <a:noFill/>
          <a:ln/>
        </p:spPr>
        <p:txBody>
          <a:bodyPr wrap="none" lIns="0" tIns="0" rIns="0" bIns="0" rtlCol="0" anchor="t"/>
          <a:lstStyle/>
          <a:p>
            <a:pPr algn="l" indent="0" marL="0">
              <a:lnSpc>
                <a:spcPts val="1350"/>
              </a:lnSpc>
              <a:buNone/>
            </a:pPr>
            <a:r>
              <a:rPr lang="en-US" sz="900" dirty="0">
                <a:solidFill>
                  <a:srgbClr val="FFFFFF"/>
                </a:solidFill>
                <a:latin typeface="Carlito" pitchFamily="34" charset="0"/>
                <a:ea typeface="Carlito" pitchFamily="34" charset="-122"/>
                <a:cs typeface="Carlito" pitchFamily="34" charset="-120"/>
              </a:rPr>
              <a:t>Cost per m²</a:t>
            </a:r>
            <a:endParaRPr lang="en-US" sz="900" dirty="0"/>
          </a:p>
        </p:txBody>
      </p:sp>
      <p:sp>
        <p:nvSpPr>
          <p:cNvPr id="26" name="Text 24"/>
          <p:cNvSpPr/>
          <p:nvPr/>
        </p:nvSpPr>
        <p:spPr>
          <a:xfrm>
            <a:off x="2011372" y="3315035"/>
            <a:ext cx="1339310" cy="173593"/>
          </a:xfrm>
          <a:prstGeom prst="rect">
            <a:avLst/>
          </a:prstGeom>
          <a:noFill/>
          <a:ln/>
        </p:spPr>
        <p:txBody>
          <a:bodyPr wrap="none" lIns="0" tIns="0" rIns="0" bIns="0" rtlCol="0" anchor="t"/>
          <a:lstStyle/>
          <a:p>
            <a:pPr algn="ctr" indent="0" marL="0">
              <a:lnSpc>
                <a:spcPts val="1266"/>
              </a:lnSpc>
              <a:buNone/>
            </a:pPr>
            <a:r>
              <a:rPr lang="en-US" sz="844" dirty="0">
                <a:solidFill>
                  <a:srgbClr val="9CA3AF"/>
                </a:solidFill>
                <a:latin typeface="Liberation Sans Narrow" pitchFamily="34" charset="0"/>
                <a:ea typeface="Liberation Sans Narrow" pitchFamily="34" charset="-122"/>
                <a:cs typeface="Liberation Sans Narrow" pitchFamily="34" charset="-120"/>
              </a:rPr>
              <a:t>₹350/m²</a:t>
            </a:r>
            <a:endParaRPr lang="en-US" sz="844" dirty="0"/>
          </a:p>
        </p:txBody>
      </p:sp>
      <p:sp>
        <p:nvSpPr>
          <p:cNvPr id="27" name="Text 25"/>
          <p:cNvSpPr/>
          <p:nvPr/>
        </p:nvSpPr>
        <p:spPr>
          <a:xfrm>
            <a:off x="3298334" y="3331108"/>
            <a:ext cx="640509" cy="131159"/>
          </a:xfrm>
          <a:prstGeom prst="rect">
            <a:avLst/>
          </a:prstGeom>
          <a:noFill/>
          <a:ln/>
        </p:spPr>
        <p:txBody>
          <a:bodyPr wrap="none" lIns="0" tIns="0" rIns="0" bIns="0" rtlCol="0" anchor="t"/>
          <a:lstStyle/>
          <a:p>
            <a:pPr algn="ctr" indent="0" marL="0">
              <a:lnSpc>
                <a:spcPts val="1266"/>
              </a:lnSpc>
              <a:buNone/>
            </a:pPr>
            <a:r>
              <a:rPr lang="en-US" sz="844" b="1" dirty="0">
                <a:solidFill>
                  <a:srgbClr val="138808"/>
                </a:solidFill>
                <a:latin typeface="Liberation Sans Narrow" pitchFamily="34" charset="0"/>
                <a:ea typeface="Liberation Sans Narrow" pitchFamily="34" charset="-122"/>
                <a:cs typeface="Liberation Sans Narrow" pitchFamily="34" charset="-120"/>
              </a:rPr>
              <a:t>₹1,450/m²</a:t>
            </a:r>
            <a:endParaRPr lang="en-US" sz="844" dirty="0"/>
          </a:p>
        </p:txBody>
      </p:sp>
      <p:sp>
        <p:nvSpPr>
          <p:cNvPr id="28" name="Text 26"/>
          <p:cNvSpPr/>
          <p:nvPr/>
        </p:nvSpPr>
        <p:spPr>
          <a:xfrm>
            <a:off x="3943462" y="3329434"/>
            <a:ext cx="142875" cy="142875"/>
          </a:xfrm>
          <a:prstGeom prst="rect">
            <a:avLst/>
          </a:prstGeom>
          <a:noFill/>
          <a:ln/>
        </p:spPr>
        <p:txBody>
          <a:bodyPr wrap="none" lIns="0" tIns="0" rIns="0" bIns="0" rtlCol="0" anchor="ctr"/>
          <a:lstStyle/>
          <a:p>
            <a:pPr algn="ctr" indent="0" marL="0">
              <a:buNone/>
            </a:pPr>
            <a:r>
              <a:rPr lang="en-US" sz="1406" dirty="0">
                <a:solidFill>
                  <a:srgbClr val="138808"/>
                </a:solidFill>
                <a:latin typeface="Segoe UI Symbol" pitchFamily="34" charset="0"/>
                <a:ea typeface="Segoe UI Symbol" pitchFamily="34" charset="-122"/>
                <a:cs typeface="Segoe UI Symbol" pitchFamily="34" charset="-120"/>
              </a:rPr>
              <a:t>✓</a:t>
            </a:r>
            <a:endParaRPr lang="en-US" sz="1406" dirty="0"/>
          </a:p>
        </p:txBody>
      </p:sp>
      <p:sp>
        <p:nvSpPr>
          <p:cNvPr id="29" name="Text 27"/>
          <p:cNvSpPr/>
          <p:nvPr/>
        </p:nvSpPr>
        <p:spPr>
          <a:xfrm>
            <a:off x="4714875" y="1062968"/>
            <a:ext cx="4429125" cy="231458"/>
          </a:xfrm>
          <a:prstGeom prst="rect">
            <a:avLst/>
          </a:prstGeom>
          <a:noFill/>
          <a:ln/>
        </p:spPr>
        <p:txBody>
          <a:bodyPr wrap="none" lIns="0" tIns="0" rIns="0" bIns="0" rtlCol="0" anchor="t"/>
          <a:lstStyle/>
          <a:p>
            <a:pPr algn="l" indent="0" marL="0">
              <a:lnSpc>
                <a:spcPts val="1688"/>
              </a:lnSpc>
              <a:buNone/>
            </a:pPr>
            <a:r>
              <a:rPr lang="en-US" sz="1125" b="1" spc="56" kern="0" dirty="0">
                <a:solidFill>
                  <a:srgbClr val="9CA3AF"/>
                </a:solidFill>
                <a:latin typeface="Carlito" pitchFamily="34" charset="0"/>
                <a:ea typeface="Carlito" pitchFamily="34" charset="-122"/>
                <a:cs typeface="Carlito" pitchFamily="34" charset="-120"/>
              </a:rPr>
              <a:t>KEY TECHNOLOGIES</a:t>
            </a:r>
            <a:endParaRPr lang="en-US" sz="1125" dirty="0"/>
          </a:p>
        </p:txBody>
      </p:sp>
      <p:sp>
        <p:nvSpPr>
          <p:cNvPr id="30" name="Text 28"/>
          <p:cNvSpPr/>
          <p:nvPr/>
        </p:nvSpPr>
        <p:spPr>
          <a:xfrm>
            <a:off x="4714875" y="1434443"/>
            <a:ext cx="3914775" cy="857250"/>
          </a:xfrm>
          <a:prstGeom prst="roundRect">
            <a:avLst>
              <a:gd name="adj" fmla="val 15556"/>
            </a:avLst>
          </a:prstGeom>
          <a:solidFill>
            <a:srgbClr val="1A1A1A"/>
          </a:solidFill>
          <a:ln/>
        </p:spPr>
        <p:txBody>
          <a:bodyPr wrap="square" rtlCol="0" anchor="ctr"/>
          <a:lstStyle/>
          <a:p>
            <a:pPr indent="0" marL="0">
              <a:buNone/>
            </a:pPr>
            <a:endParaRPr lang="en-US" dirty="0"/>
          </a:p>
        </p:txBody>
      </p:sp>
      <p:sp>
        <p:nvSpPr>
          <p:cNvPr id="31" name="Shape 29"/>
          <p:cNvSpPr/>
          <p:nvPr/>
        </p:nvSpPr>
        <p:spPr>
          <a:xfrm>
            <a:off x="4714875" y="1438015"/>
            <a:ext cx="3914775" cy="0"/>
          </a:xfrm>
          <a:prstGeom prst="line">
            <a:avLst/>
          </a:prstGeom>
          <a:noFill/>
          <a:ln w="7144">
            <a:solidFill>
              <a:srgbClr val="FFFFFF"/>
            </a:solidFill>
            <a:prstDash val="solid"/>
          </a:ln>
        </p:spPr>
      </p:sp>
      <p:sp>
        <p:nvSpPr>
          <p:cNvPr id="32" name="Shape 30"/>
          <p:cNvSpPr/>
          <p:nvPr/>
        </p:nvSpPr>
        <p:spPr>
          <a:xfrm>
            <a:off x="8626078" y="1434443"/>
            <a:ext cx="0" cy="857250"/>
          </a:xfrm>
          <a:prstGeom prst="line">
            <a:avLst/>
          </a:prstGeom>
          <a:noFill/>
          <a:ln w="7144">
            <a:solidFill>
              <a:srgbClr val="FFFFFF"/>
            </a:solidFill>
            <a:prstDash val="solid"/>
          </a:ln>
        </p:spPr>
      </p:sp>
      <p:sp>
        <p:nvSpPr>
          <p:cNvPr id="33" name="Shape 31"/>
          <p:cNvSpPr/>
          <p:nvPr/>
        </p:nvSpPr>
        <p:spPr>
          <a:xfrm>
            <a:off x="4714875" y="2288121"/>
            <a:ext cx="3914775" cy="0"/>
          </a:xfrm>
          <a:prstGeom prst="line">
            <a:avLst/>
          </a:prstGeom>
          <a:noFill/>
          <a:ln w="7144">
            <a:solidFill>
              <a:srgbClr val="FFFFFF"/>
            </a:solidFill>
            <a:prstDash val="solid"/>
          </a:ln>
        </p:spPr>
      </p:sp>
      <p:sp>
        <p:nvSpPr>
          <p:cNvPr id="34" name="Shape 32"/>
          <p:cNvSpPr/>
          <p:nvPr/>
        </p:nvSpPr>
        <p:spPr>
          <a:xfrm>
            <a:off x="4725591" y="1434443"/>
            <a:ext cx="0" cy="857250"/>
          </a:xfrm>
          <a:prstGeom prst="line">
            <a:avLst/>
          </a:prstGeom>
          <a:noFill/>
          <a:ln w="21431">
            <a:solidFill>
              <a:srgbClr val="FF9933"/>
            </a:solidFill>
            <a:prstDash val="solid"/>
          </a:ln>
        </p:spPr>
      </p:sp>
      <p:sp>
        <p:nvSpPr>
          <p:cNvPr id="35" name="Text 33"/>
          <p:cNvSpPr/>
          <p:nvPr/>
        </p:nvSpPr>
        <p:spPr>
          <a:xfrm>
            <a:off x="4893469" y="1584461"/>
            <a:ext cx="314325" cy="314325"/>
          </a:xfrm>
          <a:prstGeom prst="ellipse">
            <a:avLst/>
          </a:prstGeom>
          <a:solidFill>
            <a:srgbClr val="FF9933">
              <a:alpha val="12000"/>
            </a:srgbClr>
          </a:solidFill>
          <a:ln/>
        </p:spPr>
        <p:txBody>
          <a:bodyPr wrap="square" rtlCol="0" anchor="ctr"/>
          <a:lstStyle/>
          <a:p>
            <a:pPr indent="0" marL="0">
              <a:buNone/>
            </a:pPr>
            <a:endParaRPr lang="en-US" dirty="0"/>
          </a:p>
        </p:txBody>
      </p:sp>
      <p:sp>
        <p:nvSpPr>
          <p:cNvPr id="36" name="Text 34"/>
          <p:cNvSpPr/>
          <p:nvPr/>
        </p:nvSpPr>
        <p:spPr>
          <a:xfrm>
            <a:off x="4926330" y="1617323"/>
            <a:ext cx="248602" cy="248602"/>
          </a:xfrm>
          <a:prstGeom prst="rect">
            <a:avLst/>
          </a:prstGeom>
          <a:noFill/>
          <a:ln/>
        </p:spPr>
        <p:txBody>
          <a:bodyPr wrap="none" lIns="0" tIns="0" rIns="0" bIns="0" rtlCol="0" anchor="ctr"/>
          <a:lstStyle/>
          <a:p>
            <a:pPr algn="ctr" indent="0" marL="0">
              <a:buNone/>
            </a:pPr>
            <a:r>
              <a:rPr lang="en-US" sz="1688" dirty="0">
                <a:solidFill>
                  <a:srgbClr val="FF9933"/>
                </a:solidFill>
                <a:latin typeface="Segoe UI Symbol" pitchFamily="34" charset="0"/>
                <a:ea typeface="Segoe UI Symbol" pitchFamily="34" charset="-122"/>
                <a:cs typeface="Segoe UI Symbol" pitchFamily="34" charset="-120"/>
              </a:rPr>
              <a:t>⚗</a:t>
            </a:r>
            <a:endParaRPr lang="en-US" sz="1688" dirty="0"/>
          </a:p>
        </p:txBody>
      </p:sp>
      <p:sp>
        <p:nvSpPr>
          <p:cNvPr id="37" name="Text 35"/>
          <p:cNvSpPr/>
          <p:nvPr/>
        </p:nvSpPr>
        <p:spPr>
          <a:xfrm>
            <a:off x="5307806" y="1645183"/>
            <a:ext cx="3157538"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Carlito" pitchFamily="34" charset="0"/>
                <a:ea typeface="Carlito" pitchFamily="34" charset="-122"/>
                <a:cs typeface="Carlito" pitchFamily="34" charset="-120"/>
              </a:rPr>
              <a:t>Kevlar Fiber Reinforcement</a:t>
            </a:r>
            <a:endParaRPr lang="en-US" sz="1013" dirty="0"/>
          </a:p>
        </p:txBody>
      </p:sp>
      <p:sp>
        <p:nvSpPr>
          <p:cNvPr id="38" name="Text 36"/>
          <p:cNvSpPr/>
          <p:nvPr/>
        </p:nvSpPr>
        <p:spPr>
          <a:xfrm>
            <a:off x="4893469" y="1970224"/>
            <a:ext cx="3681603" cy="171450"/>
          </a:xfrm>
          <a:prstGeom prst="rect">
            <a:avLst/>
          </a:prstGeom>
          <a:noFill/>
          <a:ln/>
        </p:spPr>
        <p:txBody>
          <a:bodyPr wrap="square" lIns="0" tIns="0" rIns="0" bIns="0" rtlCol="0" anchor="t"/>
          <a:lstStyle/>
          <a:p>
            <a:pPr algn="l" indent="0" marL="0">
              <a:lnSpc>
                <a:spcPts val="1350"/>
              </a:lnSpc>
              <a:buNone/>
            </a:pPr>
            <a:r>
              <a:rPr lang="en-US" sz="844" dirty="0">
                <a:solidFill>
                  <a:srgbClr val="D1D5DB"/>
                </a:solidFill>
                <a:latin typeface="Carlito" pitchFamily="34" charset="0"/>
                <a:ea typeface="Carlito" pitchFamily="34" charset="-122"/>
                <a:cs typeface="Carlito" pitchFamily="34" charset="-120"/>
              </a:rPr>
              <a:t>15% Kevlar blend withstands 150 km/h winds</a:t>
            </a:r>
            <a:endParaRPr lang="en-US" sz="844" dirty="0"/>
          </a:p>
        </p:txBody>
      </p:sp>
      <p:sp>
        <p:nvSpPr>
          <p:cNvPr id="39" name="Text 37"/>
          <p:cNvSpPr/>
          <p:nvPr/>
        </p:nvSpPr>
        <p:spPr>
          <a:xfrm>
            <a:off x="4714875" y="2420280"/>
            <a:ext cx="3914775" cy="857250"/>
          </a:xfrm>
          <a:prstGeom prst="roundRect">
            <a:avLst>
              <a:gd name="adj" fmla="val 15556"/>
            </a:avLst>
          </a:prstGeom>
          <a:solidFill>
            <a:srgbClr val="1A1A1A"/>
          </a:solidFill>
          <a:ln/>
        </p:spPr>
        <p:txBody>
          <a:bodyPr wrap="square" rtlCol="0" anchor="ctr"/>
          <a:lstStyle/>
          <a:p>
            <a:pPr indent="0" marL="0">
              <a:buNone/>
            </a:pPr>
            <a:endParaRPr lang="en-US" dirty="0"/>
          </a:p>
        </p:txBody>
      </p:sp>
      <p:sp>
        <p:nvSpPr>
          <p:cNvPr id="40" name="Shape 38"/>
          <p:cNvSpPr/>
          <p:nvPr/>
        </p:nvSpPr>
        <p:spPr>
          <a:xfrm>
            <a:off x="4714875" y="2423852"/>
            <a:ext cx="3914775" cy="0"/>
          </a:xfrm>
          <a:prstGeom prst="line">
            <a:avLst/>
          </a:prstGeom>
          <a:noFill/>
          <a:ln w="7144">
            <a:solidFill>
              <a:srgbClr val="FFFFFF"/>
            </a:solidFill>
            <a:prstDash val="solid"/>
          </a:ln>
        </p:spPr>
      </p:sp>
      <p:sp>
        <p:nvSpPr>
          <p:cNvPr id="41" name="Shape 39"/>
          <p:cNvSpPr/>
          <p:nvPr/>
        </p:nvSpPr>
        <p:spPr>
          <a:xfrm>
            <a:off x="8626078" y="2420280"/>
            <a:ext cx="0" cy="857250"/>
          </a:xfrm>
          <a:prstGeom prst="line">
            <a:avLst/>
          </a:prstGeom>
          <a:noFill/>
          <a:ln w="7144">
            <a:solidFill>
              <a:srgbClr val="FFFFFF"/>
            </a:solidFill>
            <a:prstDash val="solid"/>
          </a:ln>
        </p:spPr>
      </p:sp>
      <p:sp>
        <p:nvSpPr>
          <p:cNvPr id="42" name="Shape 40"/>
          <p:cNvSpPr/>
          <p:nvPr/>
        </p:nvSpPr>
        <p:spPr>
          <a:xfrm>
            <a:off x="4714875" y="3273958"/>
            <a:ext cx="3914775" cy="0"/>
          </a:xfrm>
          <a:prstGeom prst="line">
            <a:avLst/>
          </a:prstGeom>
          <a:noFill/>
          <a:ln w="7144">
            <a:solidFill>
              <a:srgbClr val="FFFFFF"/>
            </a:solidFill>
            <a:prstDash val="solid"/>
          </a:ln>
        </p:spPr>
      </p:sp>
      <p:sp>
        <p:nvSpPr>
          <p:cNvPr id="43" name="Shape 41"/>
          <p:cNvSpPr/>
          <p:nvPr/>
        </p:nvSpPr>
        <p:spPr>
          <a:xfrm>
            <a:off x="4725591" y="2420280"/>
            <a:ext cx="0" cy="857250"/>
          </a:xfrm>
          <a:prstGeom prst="line">
            <a:avLst/>
          </a:prstGeom>
          <a:noFill/>
          <a:ln w="21431">
            <a:solidFill>
              <a:srgbClr val="138808"/>
            </a:solidFill>
            <a:prstDash val="solid"/>
          </a:ln>
        </p:spPr>
      </p:sp>
      <p:sp>
        <p:nvSpPr>
          <p:cNvPr id="44" name="Text 42"/>
          <p:cNvSpPr/>
          <p:nvPr/>
        </p:nvSpPr>
        <p:spPr>
          <a:xfrm>
            <a:off x="4893469" y="2570299"/>
            <a:ext cx="314325" cy="314325"/>
          </a:xfrm>
          <a:prstGeom prst="ellipse">
            <a:avLst/>
          </a:prstGeom>
          <a:solidFill>
            <a:srgbClr val="138808">
              <a:alpha val="12000"/>
            </a:srgbClr>
          </a:solidFill>
          <a:ln/>
        </p:spPr>
        <p:txBody>
          <a:bodyPr wrap="square" rtlCol="0" anchor="ctr"/>
          <a:lstStyle/>
          <a:p>
            <a:pPr indent="0" marL="0">
              <a:buNone/>
            </a:pPr>
            <a:endParaRPr lang="en-US" dirty="0"/>
          </a:p>
        </p:txBody>
      </p:sp>
      <p:sp>
        <p:nvSpPr>
          <p:cNvPr id="45" name="Text 43"/>
          <p:cNvSpPr/>
          <p:nvPr/>
        </p:nvSpPr>
        <p:spPr>
          <a:xfrm>
            <a:off x="4926330" y="2603160"/>
            <a:ext cx="248602" cy="248602"/>
          </a:xfrm>
          <a:prstGeom prst="rect">
            <a:avLst/>
          </a:prstGeom>
          <a:noFill/>
          <a:ln/>
        </p:spPr>
        <p:txBody>
          <a:bodyPr wrap="none" lIns="0" tIns="0" rIns="0" bIns="0" rtlCol="0" anchor="ctr"/>
          <a:lstStyle/>
          <a:p>
            <a:pPr algn="ctr" indent="0" marL="0">
              <a:buNone/>
            </a:pPr>
            <a:r>
              <a:rPr lang="en-US" sz="1688" dirty="0">
                <a:solidFill>
                  <a:srgbClr val="138808"/>
                </a:solidFill>
                <a:latin typeface="Segoe UI Symbol" pitchFamily="34" charset="0"/>
                <a:ea typeface="Segoe UI Symbol" pitchFamily="34" charset="-122"/>
                <a:cs typeface="Segoe UI Symbol" pitchFamily="34" charset="-120"/>
              </a:rPr>
              <a:t>⚒</a:t>
            </a:r>
            <a:endParaRPr lang="en-US" sz="1688" dirty="0"/>
          </a:p>
        </p:txBody>
      </p:sp>
      <p:sp>
        <p:nvSpPr>
          <p:cNvPr id="46" name="Text 44"/>
          <p:cNvSpPr/>
          <p:nvPr/>
        </p:nvSpPr>
        <p:spPr>
          <a:xfrm>
            <a:off x="5307806" y="2631021"/>
            <a:ext cx="3157538"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TiO2 Nano Coating</a:t>
            </a:r>
            <a:endParaRPr lang="en-US" sz="1013" dirty="0"/>
          </a:p>
        </p:txBody>
      </p:sp>
      <p:sp>
        <p:nvSpPr>
          <p:cNvPr id="47" name="Text 45"/>
          <p:cNvSpPr/>
          <p:nvPr/>
        </p:nvSpPr>
        <p:spPr>
          <a:xfrm>
            <a:off x="4893469" y="2956061"/>
            <a:ext cx="3571875" cy="171450"/>
          </a:xfrm>
          <a:prstGeom prst="rect">
            <a:avLst/>
          </a:prstGeom>
          <a:noFill/>
          <a:ln/>
        </p:spPr>
        <p:txBody>
          <a:bodyPr wrap="square" lIns="0" tIns="0" rIns="0" bIns="0" rtlCol="0" anchor="t"/>
          <a:lstStyle/>
          <a:p>
            <a:pPr algn="l" indent="0" marL="0">
              <a:lnSpc>
                <a:spcPts val="1350"/>
              </a:lnSpc>
              <a:buNone/>
            </a:pPr>
            <a:r>
              <a:rPr lang="en-US" sz="844" dirty="0">
                <a:solidFill>
                  <a:srgbClr val="D1D5DB"/>
                </a:solidFill>
                <a:latin typeface="Carlito" pitchFamily="34" charset="0"/>
                <a:ea typeface="Carlito" pitchFamily="34" charset="-122"/>
                <a:cs typeface="Carlito" pitchFamily="34" charset="-120"/>
              </a:rPr>
              <a:t>UV-activated self-cleaning reduces washing by 70%</a:t>
            </a:r>
            <a:endParaRPr lang="en-US" sz="844" dirty="0"/>
          </a:p>
        </p:txBody>
      </p:sp>
      <p:sp>
        <p:nvSpPr>
          <p:cNvPr id="48" name="Text 46"/>
          <p:cNvSpPr/>
          <p:nvPr/>
        </p:nvSpPr>
        <p:spPr>
          <a:xfrm>
            <a:off x="4714875" y="3406118"/>
            <a:ext cx="3914775" cy="857250"/>
          </a:xfrm>
          <a:prstGeom prst="roundRect">
            <a:avLst>
              <a:gd name="adj" fmla="val 15556"/>
            </a:avLst>
          </a:prstGeom>
          <a:solidFill>
            <a:srgbClr val="1A1A1A"/>
          </a:solidFill>
          <a:ln/>
        </p:spPr>
        <p:txBody>
          <a:bodyPr wrap="square" rtlCol="0" anchor="ctr"/>
          <a:lstStyle/>
          <a:p>
            <a:pPr indent="0" marL="0">
              <a:buNone/>
            </a:pPr>
            <a:endParaRPr lang="en-US" dirty="0"/>
          </a:p>
        </p:txBody>
      </p:sp>
      <p:sp>
        <p:nvSpPr>
          <p:cNvPr id="49" name="Shape 47"/>
          <p:cNvSpPr/>
          <p:nvPr/>
        </p:nvSpPr>
        <p:spPr>
          <a:xfrm>
            <a:off x="4714875" y="3409690"/>
            <a:ext cx="3914775" cy="0"/>
          </a:xfrm>
          <a:prstGeom prst="line">
            <a:avLst/>
          </a:prstGeom>
          <a:noFill/>
          <a:ln w="7144">
            <a:solidFill>
              <a:srgbClr val="FFFFFF"/>
            </a:solidFill>
            <a:prstDash val="solid"/>
          </a:ln>
        </p:spPr>
      </p:sp>
      <p:sp>
        <p:nvSpPr>
          <p:cNvPr id="50" name="Shape 48"/>
          <p:cNvSpPr/>
          <p:nvPr/>
        </p:nvSpPr>
        <p:spPr>
          <a:xfrm>
            <a:off x="8626078" y="3406118"/>
            <a:ext cx="0" cy="857250"/>
          </a:xfrm>
          <a:prstGeom prst="line">
            <a:avLst/>
          </a:prstGeom>
          <a:noFill/>
          <a:ln w="7144">
            <a:solidFill>
              <a:srgbClr val="FFFFFF"/>
            </a:solidFill>
            <a:prstDash val="solid"/>
          </a:ln>
        </p:spPr>
      </p:sp>
      <p:sp>
        <p:nvSpPr>
          <p:cNvPr id="51" name="Shape 49"/>
          <p:cNvSpPr/>
          <p:nvPr/>
        </p:nvSpPr>
        <p:spPr>
          <a:xfrm>
            <a:off x="4714875" y="4259796"/>
            <a:ext cx="3914775" cy="0"/>
          </a:xfrm>
          <a:prstGeom prst="line">
            <a:avLst/>
          </a:prstGeom>
          <a:noFill/>
          <a:ln w="7144">
            <a:solidFill>
              <a:srgbClr val="FFFFFF"/>
            </a:solidFill>
            <a:prstDash val="solid"/>
          </a:ln>
        </p:spPr>
      </p:sp>
      <p:sp>
        <p:nvSpPr>
          <p:cNvPr id="52" name="Shape 50"/>
          <p:cNvSpPr/>
          <p:nvPr/>
        </p:nvSpPr>
        <p:spPr>
          <a:xfrm>
            <a:off x="4725591" y="3406118"/>
            <a:ext cx="0" cy="857250"/>
          </a:xfrm>
          <a:prstGeom prst="line">
            <a:avLst/>
          </a:prstGeom>
          <a:noFill/>
          <a:ln w="21431">
            <a:solidFill>
              <a:srgbClr val="A78BFA"/>
            </a:solidFill>
            <a:prstDash val="solid"/>
          </a:ln>
        </p:spPr>
      </p:sp>
      <p:sp>
        <p:nvSpPr>
          <p:cNvPr id="53" name="Text 51"/>
          <p:cNvSpPr/>
          <p:nvPr/>
        </p:nvSpPr>
        <p:spPr>
          <a:xfrm>
            <a:off x="4893469" y="3556136"/>
            <a:ext cx="314325" cy="314325"/>
          </a:xfrm>
          <a:prstGeom prst="ellipse">
            <a:avLst/>
          </a:prstGeom>
          <a:solidFill>
            <a:srgbClr val="A78BFA">
              <a:alpha val="12000"/>
            </a:srgbClr>
          </a:solidFill>
          <a:ln/>
        </p:spPr>
        <p:txBody>
          <a:bodyPr wrap="square" rtlCol="0" anchor="ctr"/>
          <a:lstStyle/>
          <a:p>
            <a:pPr indent="0" marL="0">
              <a:buNone/>
            </a:pPr>
            <a:endParaRPr lang="en-US" dirty="0"/>
          </a:p>
        </p:txBody>
      </p:sp>
      <p:sp>
        <p:nvSpPr>
          <p:cNvPr id="54" name="Text 52"/>
          <p:cNvSpPr/>
          <p:nvPr/>
        </p:nvSpPr>
        <p:spPr>
          <a:xfrm>
            <a:off x="4926330" y="3588998"/>
            <a:ext cx="248602" cy="248602"/>
          </a:xfrm>
          <a:prstGeom prst="rect">
            <a:avLst/>
          </a:prstGeom>
          <a:noFill/>
          <a:ln/>
        </p:spPr>
        <p:txBody>
          <a:bodyPr wrap="none" lIns="0" tIns="0" rIns="0" bIns="0" rtlCol="0" anchor="ctr"/>
          <a:lstStyle/>
          <a:p>
            <a:pPr algn="ctr" indent="0" marL="0">
              <a:buNone/>
            </a:pPr>
            <a:r>
              <a:rPr lang="en-US" sz="1688" dirty="0">
                <a:solidFill>
                  <a:srgbClr val="A78BFA"/>
                </a:solidFill>
                <a:latin typeface="Segoe UI Symbol" pitchFamily="34" charset="0"/>
                <a:ea typeface="Segoe UI Symbol" pitchFamily="34" charset="-122"/>
                <a:cs typeface="Segoe UI Symbol" pitchFamily="34" charset="-120"/>
              </a:rPr>
              <a:t>→</a:t>
            </a:r>
            <a:endParaRPr lang="en-US" sz="1688" dirty="0"/>
          </a:p>
        </p:txBody>
      </p:sp>
      <p:sp>
        <p:nvSpPr>
          <p:cNvPr id="55" name="Text 53"/>
          <p:cNvSpPr/>
          <p:nvPr/>
        </p:nvSpPr>
        <p:spPr>
          <a:xfrm>
            <a:off x="5307806" y="3616858"/>
            <a:ext cx="1402100"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Carlito" pitchFamily="34" charset="0"/>
                <a:ea typeface="Carlito" pitchFamily="34" charset="-122"/>
                <a:cs typeface="Carlito" pitchFamily="34" charset="-120"/>
              </a:rPr>
              <a:t>Graphene (Future)</a:t>
            </a:r>
            <a:endParaRPr lang="en-US" sz="1013" dirty="0"/>
          </a:p>
        </p:txBody>
      </p:sp>
      <p:sp>
        <p:nvSpPr>
          <p:cNvPr id="56" name="Text 54"/>
          <p:cNvSpPr/>
          <p:nvPr/>
        </p:nvSpPr>
        <p:spPr>
          <a:xfrm>
            <a:off x="6483324" y="3623288"/>
            <a:ext cx="475211" cy="180023"/>
          </a:xfrm>
          <a:prstGeom prst="roundRect">
            <a:avLst>
              <a:gd name="adj" fmla="val 63492"/>
            </a:avLst>
          </a:prstGeom>
          <a:solidFill>
            <a:srgbClr val="A78BFA">
              <a:alpha val="15000"/>
            </a:srgbClr>
          </a:solidFill>
          <a:ln/>
        </p:spPr>
        <p:txBody>
          <a:bodyPr wrap="square" rtlCol="0" anchor="ctr"/>
          <a:lstStyle/>
          <a:p>
            <a:pPr indent="0" marL="0">
              <a:buNone/>
            </a:pPr>
            <a:endParaRPr lang="en-US" dirty="0"/>
          </a:p>
        </p:txBody>
      </p:sp>
      <p:sp>
        <p:nvSpPr>
          <p:cNvPr id="57" name="Text 55"/>
          <p:cNvSpPr/>
          <p:nvPr/>
        </p:nvSpPr>
        <p:spPr>
          <a:xfrm>
            <a:off x="6500924" y="3632932"/>
            <a:ext cx="440010" cy="160734"/>
          </a:xfrm>
          <a:prstGeom prst="rect">
            <a:avLst/>
          </a:prstGeom>
          <a:noFill/>
          <a:ln/>
        </p:spPr>
        <p:txBody>
          <a:bodyPr wrap="none" lIns="0" tIns="0" rIns="0" bIns="0" rtlCol="0" anchor="ctr"/>
          <a:lstStyle/>
          <a:p>
            <a:pPr algn="ctr" indent="0" marL="0">
              <a:lnSpc>
                <a:spcPts val="928"/>
              </a:lnSpc>
              <a:buNone/>
            </a:pPr>
            <a:r>
              <a:rPr lang="en-US" sz="800" dirty="0">
                <a:solidFill>
                  <a:srgbClr val="A78BFA"/>
                </a:solidFill>
                <a:latin typeface="Liberation Sans Narrow" pitchFamily="34" charset="0"/>
                <a:ea typeface="Liberation Sans Narrow" pitchFamily="34" charset="-122"/>
                <a:cs typeface="Liberation Sans Narrow" pitchFamily="34" charset="-120"/>
              </a:rPr>
              <a:t>Phase 4</a:t>
            </a:r>
            <a:endParaRPr lang="en-US" sz="800" dirty="0"/>
          </a:p>
        </p:txBody>
      </p:sp>
      <p:sp>
        <p:nvSpPr>
          <p:cNvPr id="58" name="Text 56"/>
          <p:cNvSpPr/>
          <p:nvPr/>
        </p:nvSpPr>
        <p:spPr>
          <a:xfrm>
            <a:off x="4893469" y="3941899"/>
            <a:ext cx="3571875" cy="171450"/>
          </a:xfrm>
          <a:prstGeom prst="rect">
            <a:avLst/>
          </a:prstGeom>
          <a:noFill/>
          <a:ln/>
        </p:spPr>
        <p:txBody>
          <a:bodyPr wrap="square" lIns="0" tIns="0" rIns="0" bIns="0" rtlCol="0" anchor="t"/>
          <a:lstStyle/>
          <a:p>
            <a:pPr algn="l" indent="0" marL="0">
              <a:lnSpc>
                <a:spcPts val="1350"/>
              </a:lnSpc>
              <a:buNone/>
            </a:pPr>
            <a:r>
              <a:rPr lang="en-US" sz="844" dirty="0">
                <a:solidFill>
                  <a:srgbClr val="D1D5DB"/>
                </a:solidFill>
                <a:latin typeface="Carlito" pitchFamily="34" charset="0"/>
                <a:ea typeface="Carlito" pitchFamily="34" charset="-122"/>
                <a:cs typeface="Carlito" pitchFamily="34" charset="-120"/>
              </a:rPr>
              <a:t>18-month lifespan, ultra-lightweight — ready for Phase 4</a:t>
            </a:r>
            <a:endParaRPr lang="en-US" sz="844" dirty="0"/>
          </a:p>
        </p:txBody>
      </p:sp>
      <p:sp>
        <p:nvSpPr>
          <p:cNvPr id="59" name="Text 57"/>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60" name="Text 58"/>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61" name="Text 59"/>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F0F0F"/>
          </a:solidFill>
          <a:ln/>
        </p:spPr>
        <p:txBody>
          <a:bodyPr wrap="square" rtlCol="0" anchor="ctr"/>
          <a:lstStyle/>
          <a:p>
            <a:pPr indent="0" marL="0">
              <a:buNone/>
            </a:pPr>
            <a:endParaRPr lang="en-US" dirty="0"/>
          </a:p>
        </p:txBody>
      </p:sp>
      <p:sp>
        <p:nvSpPr>
          <p:cNvPr id="3" name="Text 1"/>
          <p:cNvSpPr/>
          <p:nvPr/>
        </p:nvSpPr>
        <p:spPr>
          <a:xfrm>
            <a:off x="514350" y="514350"/>
            <a:ext cx="8115300" cy="314758"/>
          </a:xfrm>
          <a:prstGeom prst="rect">
            <a:avLst/>
          </a:prstGeom>
          <a:noFill/>
          <a:ln/>
        </p:spPr>
        <p:txBody>
          <a:bodyPr wrap="square" lIns="0" tIns="0" rIns="0" bIns="0" rtlCol="0" anchor="t"/>
          <a:lstStyle/>
          <a:p>
            <a:pPr algn="l" indent="0" marL="0">
              <a:lnSpc>
                <a:spcPts val="2295"/>
              </a:lnSpc>
              <a:buNone/>
            </a:pPr>
            <a:r>
              <a:rPr lang="en-US" sz="1913" b="1" dirty="0">
                <a:solidFill>
                  <a:srgbClr val="FFFFFF"/>
                </a:solidFill>
                <a:latin typeface="Carlito" pitchFamily="34" charset="0"/>
                <a:ea typeface="Carlito" pitchFamily="34" charset="-122"/>
                <a:cs typeface="Carlito" pitchFamily="34" charset="-120"/>
              </a:rPr>
              <a:t>Smart Monitoring: Detect Damage in </a:t>
            </a:r>
            <a:pPr algn="l" indent="0" marL="0">
              <a:lnSpc>
                <a:spcPts val="2295"/>
              </a:lnSpc>
              <a:buNone/>
            </a:pPr>
            <a:r>
              <a:rPr lang="en-US" sz="1913" b="1" dirty="0">
                <a:solidFill>
                  <a:srgbClr val="FF9933"/>
                </a:solidFill>
                <a:latin typeface="Liberation Sans Narrow" pitchFamily="34" charset="0"/>
                <a:ea typeface="Liberation Sans Narrow" pitchFamily="34" charset="-122"/>
                <a:cs typeface="Liberation Sans Narrow" pitchFamily="34" charset="-120"/>
              </a:rPr>
              <a:t>&lt;3 Seconds</a:t>
            </a:r>
            <a:endParaRPr lang="en-US" sz="1913" dirty="0"/>
          </a:p>
        </p:txBody>
      </p:sp>
      <p:sp>
        <p:nvSpPr>
          <p:cNvPr id="4" name="Text 2"/>
          <p:cNvSpPr/>
          <p:nvPr/>
        </p:nvSpPr>
        <p:spPr>
          <a:xfrm>
            <a:off x="514350" y="1034393"/>
            <a:ext cx="4770526" cy="208312"/>
          </a:xfrm>
          <a:prstGeom prst="rect">
            <a:avLst/>
          </a:prstGeom>
          <a:noFill/>
          <a:ln/>
        </p:spPr>
        <p:txBody>
          <a:bodyPr wrap="none" lIns="0" tIns="0" rIns="0" bIns="0" rtlCol="0" anchor="t"/>
          <a:lstStyle/>
          <a:p>
            <a:pPr algn="l" indent="0" marL="0">
              <a:lnSpc>
                <a:spcPts val="1519"/>
              </a:lnSpc>
              <a:buNone/>
            </a:pPr>
            <a:r>
              <a:rPr lang="en-US" sz="1013" b="1" spc="56" kern="0" dirty="0">
                <a:solidFill>
                  <a:srgbClr val="9CA3AF"/>
                </a:solidFill>
                <a:latin typeface="Liberation Sans Narrow" pitchFamily="34" charset="0"/>
                <a:ea typeface="Liberation Sans Narrow" pitchFamily="34" charset="-122"/>
                <a:cs typeface="Liberation Sans Narrow" pitchFamily="34" charset="-120"/>
              </a:rPr>
              <a:t>5 SENSORS PER MAST</a:t>
            </a:r>
            <a:endParaRPr lang="en-US" sz="1013" dirty="0"/>
          </a:p>
        </p:txBody>
      </p:sp>
      <p:sp>
        <p:nvSpPr>
          <p:cNvPr id="5" name="Text 3"/>
          <p:cNvSpPr/>
          <p:nvPr/>
        </p:nvSpPr>
        <p:spPr>
          <a:xfrm>
            <a:off x="517922" y="1345146"/>
            <a:ext cx="3879056" cy="2632472"/>
          </a:xfrm>
          <a:prstGeom prst="roundRect">
            <a:avLst>
              <a:gd name="adj" fmla="val 5789"/>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6" name="Shape 4"/>
          <p:cNvSpPr/>
          <p:nvPr/>
        </p:nvSpPr>
        <p:spPr>
          <a:xfrm>
            <a:off x="692944" y="1905930"/>
            <a:ext cx="3529013" cy="0"/>
          </a:xfrm>
          <a:prstGeom prst="line">
            <a:avLst/>
          </a:prstGeom>
          <a:noFill/>
          <a:ln w="7144">
            <a:solidFill>
              <a:srgbClr val="FFFFFF"/>
            </a:solidFill>
            <a:prstDash val="solid"/>
          </a:ln>
        </p:spPr>
      </p:sp>
      <p:sp>
        <p:nvSpPr>
          <p:cNvPr id="7" name="Text 5"/>
          <p:cNvSpPr/>
          <p:nvPr/>
        </p:nvSpPr>
        <p:spPr>
          <a:xfrm>
            <a:off x="692944" y="1504094"/>
            <a:ext cx="300038" cy="300038"/>
          </a:xfrm>
          <a:prstGeom prst="roundRect">
            <a:avLst>
              <a:gd name="adj" fmla="val 31746"/>
            </a:avLst>
          </a:prstGeom>
          <a:solidFill>
            <a:srgbClr val="FF9933">
              <a:alpha val="12000"/>
            </a:srgbClr>
          </a:solidFill>
          <a:ln/>
        </p:spPr>
        <p:txBody>
          <a:bodyPr wrap="square" rtlCol="0" anchor="ctr"/>
          <a:lstStyle/>
          <a:p>
            <a:pPr indent="0" marL="0">
              <a:buNone/>
            </a:pPr>
            <a:endParaRPr lang="en-US" dirty="0"/>
          </a:p>
        </p:txBody>
      </p:sp>
      <p:sp>
        <p:nvSpPr>
          <p:cNvPr id="8" name="Text 6"/>
          <p:cNvSpPr/>
          <p:nvPr/>
        </p:nvSpPr>
        <p:spPr>
          <a:xfrm>
            <a:off x="729020" y="1540170"/>
            <a:ext cx="227886" cy="227886"/>
          </a:xfrm>
          <a:prstGeom prst="rect">
            <a:avLst/>
          </a:prstGeom>
          <a:noFill/>
          <a:ln/>
        </p:spPr>
        <p:txBody>
          <a:bodyPr wrap="none" lIns="0" tIns="0" rIns="0" bIns="0" rtlCol="0" anchor="ctr"/>
          <a:lstStyle/>
          <a:p>
            <a:pPr algn="ctr" indent="0" marL="0">
              <a:buNone/>
            </a:pPr>
            <a:r>
              <a:rPr lang="en-US" sz="1547" dirty="0">
                <a:solidFill>
                  <a:srgbClr val="FF9933"/>
                </a:solidFill>
                <a:latin typeface="Segoe UI Symbol" pitchFamily="34" charset="0"/>
                <a:ea typeface="Segoe UI Symbol" pitchFamily="34" charset="-122"/>
                <a:cs typeface="Segoe UI Symbol" pitchFamily="34" charset="-120"/>
              </a:rPr>
              <a:t>✦</a:t>
            </a:r>
            <a:endParaRPr lang="en-US" sz="1547" dirty="0"/>
          </a:p>
        </p:txBody>
      </p:sp>
      <p:sp>
        <p:nvSpPr>
          <p:cNvPr id="9" name="Text 7"/>
          <p:cNvSpPr/>
          <p:nvPr/>
        </p:nvSpPr>
        <p:spPr>
          <a:xfrm>
            <a:off x="1107281" y="1498736"/>
            <a:ext cx="930784" cy="144018"/>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Accelerometer</a:t>
            </a:r>
            <a:endParaRPr lang="en-US" sz="900" dirty="0"/>
          </a:p>
        </p:txBody>
      </p:sp>
      <p:sp>
        <p:nvSpPr>
          <p:cNvPr id="10" name="Text 8"/>
          <p:cNvSpPr/>
          <p:nvPr/>
        </p:nvSpPr>
        <p:spPr>
          <a:xfrm>
            <a:off x="1107281" y="1670186"/>
            <a:ext cx="930784" cy="139303"/>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Vibration patterns</a:t>
            </a:r>
            <a:endParaRPr lang="en-US" sz="800" dirty="0"/>
          </a:p>
        </p:txBody>
      </p:sp>
      <p:sp>
        <p:nvSpPr>
          <p:cNvPr id="11" name="Shape 9"/>
          <p:cNvSpPr/>
          <p:nvPr/>
        </p:nvSpPr>
        <p:spPr>
          <a:xfrm>
            <a:off x="692944" y="2409565"/>
            <a:ext cx="3529013" cy="0"/>
          </a:xfrm>
          <a:prstGeom prst="line">
            <a:avLst/>
          </a:prstGeom>
          <a:noFill/>
          <a:ln w="7144">
            <a:solidFill>
              <a:srgbClr val="FFFFFF"/>
            </a:solidFill>
            <a:prstDash val="solid"/>
          </a:ln>
        </p:spPr>
      </p:sp>
      <p:sp>
        <p:nvSpPr>
          <p:cNvPr id="12" name="Text 10"/>
          <p:cNvSpPr/>
          <p:nvPr/>
        </p:nvSpPr>
        <p:spPr>
          <a:xfrm>
            <a:off x="692944" y="2007729"/>
            <a:ext cx="300038" cy="300038"/>
          </a:xfrm>
          <a:prstGeom prst="roundRect">
            <a:avLst>
              <a:gd name="adj" fmla="val 31746"/>
            </a:avLst>
          </a:prstGeom>
          <a:solidFill>
            <a:srgbClr val="138808">
              <a:alpha val="12000"/>
            </a:srgbClr>
          </a:solidFill>
          <a:ln/>
        </p:spPr>
        <p:txBody>
          <a:bodyPr wrap="square" rtlCol="0" anchor="ctr"/>
          <a:lstStyle/>
          <a:p>
            <a:pPr indent="0" marL="0">
              <a:buNone/>
            </a:pPr>
            <a:endParaRPr lang="en-US" dirty="0"/>
          </a:p>
        </p:txBody>
      </p:sp>
      <p:sp>
        <p:nvSpPr>
          <p:cNvPr id="13" name="Text 11"/>
          <p:cNvSpPr/>
          <p:nvPr/>
        </p:nvSpPr>
        <p:spPr>
          <a:xfrm>
            <a:off x="729020" y="2043805"/>
            <a:ext cx="227886" cy="227886"/>
          </a:xfrm>
          <a:prstGeom prst="rect">
            <a:avLst/>
          </a:prstGeom>
          <a:noFill/>
          <a:ln/>
        </p:spPr>
        <p:txBody>
          <a:bodyPr wrap="none" lIns="0" tIns="0" rIns="0" bIns="0" rtlCol="0" anchor="ctr"/>
          <a:lstStyle/>
          <a:p>
            <a:pPr algn="ctr" indent="0" marL="0">
              <a:buNone/>
            </a:pPr>
            <a:r>
              <a:rPr lang="en-US" sz="1547" dirty="0">
                <a:solidFill>
                  <a:srgbClr val="138808"/>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1107281" y="2002371"/>
            <a:ext cx="833715" cy="144018"/>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Strain Gauge</a:t>
            </a:r>
            <a:endParaRPr lang="en-US" sz="900" dirty="0"/>
          </a:p>
        </p:txBody>
      </p:sp>
      <p:sp>
        <p:nvSpPr>
          <p:cNvPr id="15" name="Text 13"/>
          <p:cNvSpPr/>
          <p:nvPr/>
        </p:nvSpPr>
        <p:spPr>
          <a:xfrm>
            <a:off x="1107281" y="2173821"/>
            <a:ext cx="833715" cy="139303"/>
          </a:xfrm>
          <a:prstGeom prst="rect">
            <a:avLst/>
          </a:prstGeom>
          <a:noFill/>
          <a:ln/>
        </p:spPr>
        <p:txBody>
          <a:bodyPr wrap="non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Fabric tension</a:t>
            </a:r>
            <a:endParaRPr lang="en-US" sz="800" dirty="0"/>
          </a:p>
        </p:txBody>
      </p:sp>
      <p:sp>
        <p:nvSpPr>
          <p:cNvPr id="16" name="Shape 14"/>
          <p:cNvSpPr/>
          <p:nvPr/>
        </p:nvSpPr>
        <p:spPr>
          <a:xfrm>
            <a:off x="692944" y="2913199"/>
            <a:ext cx="3529013" cy="0"/>
          </a:xfrm>
          <a:prstGeom prst="line">
            <a:avLst/>
          </a:prstGeom>
          <a:noFill/>
          <a:ln w="7144">
            <a:solidFill>
              <a:srgbClr val="FFFFFF"/>
            </a:solidFill>
            <a:prstDash val="solid"/>
          </a:ln>
        </p:spPr>
      </p:sp>
      <p:sp>
        <p:nvSpPr>
          <p:cNvPr id="17" name="Text 15"/>
          <p:cNvSpPr/>
          <p:nvPr/>
        </p:nvSpPr>
        <p:spPr>
          <a:xfrm>
            <a:off x="692944" y="2511363"/>
            <a:ext cx="300038" cy="300038"/>
          </a:xfrm>
          <a:prstGeom prst="roundRect">
            <a:avLst>
              <a:gd name="adj" fmla="val 31746"/>
            </a:avLst>
          </a:prstGeom>
          <a:solidFill>
            <a:srgbClr val="FF9933">
              <a:alpha val="12000"/>
            </a:srgbClr>
          </a:solidFill>
          <a:ln/>
        </p:spPr>
        <p:txBody>
          <a:bodyPr wrap="square" rtlCol="0" anchor="ctr"/>
          <a:lstStyle/>
          <a:p>
            <a:pPr indent="0" marL="0">
              <a:buNone/>
            </a:pPr>
            <a:endParaRPr lang="en-US" dirty="0"/>
          </a:p>
        </p:txBody>
      </p:sp>
      <p:sp>
        <p:nvSpPr>
          <p:cNvPr id="18" name="Text 16"/>
          <p:cNvSpPr/>
          <p:nvPr/>
        </p:nvSpPr>
        <p:spPr>
          <a:xfrm>
            <a:off x="729020" y="2547439"/>
            <a:ext cx="227886" cy="227886"/>
          </a:xfrm>
          <a:prstGeom prst="rect">
            <a:avLst/>
          </a:prstGeom>
          <a:noFill/>
          <a:ln/>
        </p:spPr>
        <p:txBody>
          <a:bodyPr wrap="none" lIns="0" tIns="0" rIns="0" bIns="0" rtlCol="0" anchor="ctr"/>
          <a:lstStyle/>
          <a:p>
            <a:pPr algn="ctr" indent="0" marL="0">
              <a:buNone/>
            </a:pPr>
            <a:r>
              <a:rPr lang="en-US" sz="1547" dirty="0">
                <a:solidFill>
                  <a:srgbClr val="FF9933"/>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1107281" y="2506005"/>
            <a:ext cx="1049699" cy="144018"/>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Wind Speed</a:t>
            </a:r>
            <a:endParaRPr lang="en-US" sz="900" dirty="0"/>
          </a:p>
        </p:txBody>
      </p:sp>
      <p:sp>
        <p:nvSpPr>
          <p:cNvPr id="20" name="Text 18"/>
          <p:cNvSpPr/>
          <p:nvPr/>
        </p:nvSpPr>
        <p:spPr>
          <a:xfrm>
            <a:off x="1107281" y="2677455"/>
            <a:ext cx="1049699" cy="139303"/>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Auto-retract &gt;80 km/h</a:t>
            </a:r>
            <a:endParaRPr lang="en-US" sz="800" dirty="0"/>
          </a:p>
        </p:txBody>
      </p:sp>
      <p:sp>
        <p:nvSpPr>
          <p:cNvPr id="21" name="Shape 19"/>
          <p:cNvSpPr/>
          <p:nvPr/>
        </p:nvSpPr>
        <p:spPr>
          <a:xfrm>
            <a:off x="692944" y="3416833"/>
            <a:ext cx="3529013" cy="0"/>
          </a:xfrm>
          <a:prstGeom prst="line">
            <a:avLst/>
          </a:prstGeom>
          <a:noFill/>
          <a:ln w="7144">
            <a:solidFill>
              <a:srgbClr val="FFFFFF"/>
            </a:solidFill>
            <a:prstDash val="solid"/>
          </a:ln>
        </p:spPr>
      </p:sp>
      <p:sp>
        <p:nvSpPr>
          <p:cNvPr id="22" name="Text 20"/>
          <p:cNvSpPr/>
          <p:nvPr/>
        </p:nvSpPr>
        <p:spPr>
          <a:xfrm>
            <a:off x="692944" y="3014997"/>
            <a:ext cx="300038" cy="300038"/>
          </a:xfrm>
          <a:prstGeom prst="roundRect">
            <a:avLst>
              <a:gd name="adj" fmla="val 31746"/>
            </a:avLst>
          </a:prstGeom>
          <a:solidFill>
            <a:srgbClr val="138808">
              <a:alpha val="12000"/>
            </a:srgbClr>
          </a:solidFill>
          <a:ln/>
        </p:spPr>
        <p:txBody>
          <a:bodyPr wrap="square" rtlCol="0" anchor="ctr"/>
          <a:lstStyle/>
          <a:p>
            <a:pPr indent="0" marL="0">
              <a:buNone/>
            </a:pPr>
            <a:endParaRPr lang="en-US" dirty="0"/>
          </a:p>
        </p:txBody>
      </p:sp>
      <p:sp>
        <p:nvSpPr>
          <p:cNvPr id="23" name="Text 21"/>
          <p:cNvSpPr/>
          <p:nvPr/>
        </p:nvSpPr>
        <p:spPr>
          <a:xfrm>
            <a:off x="729020" y="3051073"/>
            <a:ext cx="227886" cy="227886"/>
          </a:xfrm>
          <a:prstGeom prst="rect">
            <a:avLst/>
          </a:prstGeom>
          <a:noFill/>
          <a:ln/>
        </p:spPr>
        <p:txBody>
          <a:bodyPr wrap="none" lIns="0" tIns="0" rIns="0" bIns="0" rtlCol="0" anchor="ctr"/>
          <a:lstStyle/>
          <a:p>
            <a:pPr algn="ctr" indent="0" marL="0">
              <a:buNone/>
            </a:pPr>
            <a:r>
              <a:rPr lang="en-US" sz="1547" dirty="0">
                <a:solidFill>
                  <a:srgbClr val="138808"/>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1107281" y="3009640"/>
            <a:ext cx="1043988" cy="144018"/>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Humidity</a:t>
            </a:r>
            <a:endParaRPr lang="en-US" sz="900" dirty="0"/>
          </a:p>
        </p:txBody>
      </p:sp>
      <p:sp>
        <p:nvSpPr>
          <p:cNvPr id="25" name="Text 23"/>
          <p:cNvSpPr/>
          <p:nvPr/>
        </p:nvSpPr>
        <p:spPr>
          <a:xfrm>
            <a:off x="1107281" y="3181090"/>
            <a:ext cx="955901" cy="139303"/>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Moisture absorption</a:t>
            </a:r>
            <a:endParaRPr lang="en-US" sz="800" dirty="0"/>
          </a:p>
        </p:txBody>
      </p:sp>
      <p:sp>
        <p:nvSpPr>
          <p:cNvPr id="26" name="Text 24"/>
          <p:cNvSpPr/>
          <p:nvPr/>
        </p:nvSpPr>
        <p:spPr>
          <a:xfrm>
            <a:off x="692944" y="3518632"/>
            <a:ext cx="300038" cy="300038"/>
          </a:xfrm>
          <a:prstGeom prst="roundRect">
            <a:avLst>
              <a:gd name="adj" fmla="val 31746"/>
            </a:avLst>
          </a:prstGeom>
          <a:solidFill>
            <a:srgbClr val="FF9933">
              <a:alpha val="12000"/>
            </a:srgbClr>
          </a:solidFill>
          <a:ln/>
        </p:spPr>
        <p:txBody>
          <a:bodyPr wrap="square" rtlCol="0" anchor="ctr"/>
          <a:lstStyle/>
          <a:p>
            <a:pPr indent="0" marL="0">
              <a:buNone/>
            </a:pPr>
            <a:endParaRPr lang="en-US" dirty="0"/>
          </a:p>
        </p:txBody>
      </p:sp>
      <p:sp>
        <p:nvSpPr>
          <p:cNvPr id="27" name="Text 25"/>
          <p:cNvSpPr/>
          <p:nvPr/>
        </p:nvSpPr>
        <p:spPr>
          <a:xfrm>
            <a:off x="729020" y="3554708"/>
            <a:ext cx="227886" cy="227886"/>
          </a:xfrm>
          <a:prstGeom prst="rect">
            <a:avLst/>
          </a:prstGeom>
          <a:noFill/>
          <a:ln/>
        </p:spPr>
        <p:txBody>
          <a:bodyPr wrap="none" lIns="0" tIns="0" rIns="0" bIns="0" rtlCol="0" anchor="ctr"/>
          <a:lstStyle/>
          <a:p>
            <a:pPr algn="ctr" indent="0" marL="0">
              <a:buNone/>
            </a:pPr>
            <a:r>
              <a:rPr lang="en-US" sz="1547" dirty="0">
                <a:solidFill>
                  <a:srgbClr val="FF9933"/>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1107281" y="3513274"/>
            <a:ext cx="1107260" cy="144018"/>
          </a:xfrm>
          <a:prstGeom prst="rect">
            <a:avLst/>
          </a:prstGeom>
          <a:noFill/>
          <a:ln/>
        </p:spPr>
        <p:txBody>
          <a:bodyPr wrap="none" lIns="0" tIns="0" rIns="0" bIns="0" rtlCol="0" anchor="t">
            <a:normAutofit/>
          </a:bodyPr>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Camera AI-CV</a:t>
            </a:r>
            <a:endParaRPr lang="en-US" sz="900" dirty="0"/>
          </a:p>
        </p:txBody>
      </p:sp>
      <p:sp>
        <p:nvSpPr>
          <p:cNvPr id="29" name="Text 27"/>
          <p:cNvSpPr/>
          <p:nvPr/>
        </p:nvSpPr>
        <p:spPr>
          <a:xfrm>
            <a:off x="1107281" y="3684724"/>
            <a:ext cx="1107260" cy="164592"/>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YOLOv8 tear detection</a:t>
            </a:r>
            <a:endParaRPr lang="en-US" sz="800" dirty="0"/>
          </a:p>
        </p:txBody>
      </p:sp>
      <p:sp>
        <p:nvSpPr>
          <p:cNvPr id="30" name="Text 28"/>
          <p:cNvSpPr/>
          <p:nvPr/>
        </p:nvSpPr>
        <p:spPr>
          <a:xfrm>
            <a:off x="514350" y="4152640"/>
            <a:ext cx="4827875" cy="164592"/>
          </a:xfrm>
          <a:prstGeom prst="rect">
            <a:avLst/>
          </a:prstGeom>
          <a:noFill/>
          <a:ln/>
        </p:spPr>
        <p:txBody>
          <a:bodyPr wrap="none" lIns="0" tIns="0" rIns="0" bIns="0" rtlCol="0" anchor="t"/>
          <a:lstStyle/>
          <a:p>
            <a:pPr algn="l" indent="0" marL="0">
              <a:lnSpc>
                <a:spcPts val="1181"/>
              </a:lnSpc>
              <a:buNone/>
            </a:pPr>
            <a:r>
              <a:rPr lang="en-US" sz="800" b="1" spc="56" kern="0" dirty="0">
                <a:solidFill>
                  <a:srgbClr val="9CA3AF"/>
                </a:solidFill>
                <a:latin typeface="Carlito" pitchFamily="34" charset="0"/>
                <a:ea typeface="Carlito" pitchFamily="34" charset="-122"/>
                <a:cs typeface="Carlito" pitchFamily="34" charset="-120"/>
              </a:rPr>
              <a:t>COMMUNICATION STACK</a:t>
            </a:r>
            <a:endParaRPr lang="en-US" sz="800" dirty="0"/>
          </a:p>
        </p:txBody>
      </p:sp>
      <p:sp>
        <p:nvSpPr>
          <p:cNvPr id="31" name="Text 29"/>
          <p:cNvSpPr/>
          <p:nvPr/>
        </p:nvSpPr>
        <p:spPr>
          <a:xfrm>
            <a:off x="491490" y="4375582"/>
            <a:ext cx="1230578" cy="264919"/>
          </a:xfrm>
          <a:prstGeom prst="roundRect">
            <a:avLst>
              <a:gd name="adj" fmla="val 28764"/>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32" name="Text 30"/>
          <p:cNvSpPr/>
          <p:nvPr/>
        </p:nvSpPr>
        <p:spPr>
          <a:xfrm>
            <a:off x="771525" y="4452677"/>
            <a:ext cx="820527" cy="107156"/>
          </a:xfrm>
          <a:prstGeom prst="rect">
            <a:avLst/>
          </a:prstGeom>
          <a:noFill/>
          <a:ln/>
        </p:spPr>
        <p:txBody>
          <a:bodyPr wrap="none" lIns="0" tIns="0" rIns="0" bIns="0" rtlCol="0" anchor="ctr"/>
          <a:lstStyle/>
          <a:p>
            <a:pPr algn="ctr" indent="0" marL="0">
              <a:lnSpc>
                <a:spcPts val="109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LoRaWAN 868MHz</a:t>
            </a:r>
            <a:endParaRPr lang="en-US" sz="800" dirty="0"/>
          </a:p>
        </p:txBody>
      </p:sp>
      <p:sp>
        <p:nvSpPr>
          <p:cNvPr id="33" name="Text 31"/>
          <p:cNvSpPr/>
          <p:nvPr/>
        </p:nvSpPr>
        <p:spPr>
          <a:xfrm>
            <a:off x="621506" y="4454463"/>
            <a:ext cx="107156" cy="107156"/>
          </a:xfrm>
          <a:prstGeom prst="rect">
            <a:avLst/>
          </a:prstGeom>
          <a:noFill/>
          <a:ln/>
        </p:spPr>
        <p:txBody>
          <a:bodyPr wrap="none" lIns="0" tIns="0" rIns="0" bIns="0" rtlCol="0" anchor="ctr"/>
          <a:lstStyle/>
          <a:p>
            <a:pPr algn="ctr" indent="0" marL="0">
              <a:buNone/>
            </a:pPr>
            <a:r>
              <a:rPr lang="en-US" sz="1055" dirty="0">
                <a:solidFill>
                  <a:srgbClr val="FF9933"/>
                </a:solidFill>
                <a:latin typeface="Segoe UI Symbol" pitchFamily="34" charset="0"/>
                <a:ea typeface="Segoe UI Symbol" pitchFamily="34" charset="-122"/>
                <a:cs typeface="Segoe UI Symbol" pitchFamily="34" charset="-120"/>
              </a:rPr>
              <a:t>◌</a:t>
            </a:r>
            <a:endParaRPr lang="en-US" sz="1055" dirty="0"/>
          </a:p>
        </p:txBody>
      </p:sp>
      <p:sp>
        <p:nvSpPr>
          <p:cNvPr id="34" name="Text 32"/>
          <p:cNvSpPr/>
          <p:nvPr/>
        </p:nvSpPr>
        <p:spPr>
          <a:xfrm>
            <a:off x="1756358" y="4450891"/>
            <a:ext cx="114300" cy="114300"/>
          </a:xfrm>
          <a:prstGeom prst="rect">
            <a:avLst/>
          </a:prstGeom>
          <a:noFill/>
          <a:ln/>
        </p:spPr>
        <p:txBody>
          <a:bodyPr wrap="none" lIns="0" tIns="0" rIns="0" bIns="0" rtlCol="0" anchor="ctr"/>
          <a:lstStyle/>
          <a:p>
            <a:pPr algn="ctr" indent="0" marL="0">
              <a:buNone/>
            </a:pPr>
            <a:r>
              <a:rPr lang="en-US" sz="1125" dirty="0">
                <a:solidFill>
                  <a:srgbClr val="9CA3AF"/>
                </a:solidFill>
                <a:latin typeface="Segoe UI Symbol" pitchFamily="34" charset="0"/>
                <a:ea typeface="Segoe UI Symbol" pitchFamily="34" charset="-122"/>
                <a:cs typeface="Segoe UI Symbol" pitchFamily="34" charset="-120"/>
              </a:rPr>
              <a:t>→</a:t>
            </a:r>
            <a:endParaRPr lang="en-US" sz="1125" dirty="0"/>
          </a:p>
        </p:txBody>
      </p:sp>
      <p:sp>
        <p:nvSpPr>
          <p:cNvPr id="35" name="Text 33"/>
          <p:cNvSpPr/>
          <p:nvPr/>
        </p:nvSpPr>
        <p:spPr>
          <a:xfrm>
            <a:off x="1904948" y="4375582"/>
            <a:ext cx="728283" cy="264919"/>
          </a:xfrm>
          <a:prstGeom prst="roundRect">
            <a:avLst>
              <a:gd name="adj" fmla="val 28764"/>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36" name="Text 34"/>
          <p:cNvSpPr/>
          <p:nvPr/>
        </p:nvSpPr>
        <p:spPr>
          <a:xfrm>
            <a:off x="2184983" y="4452677"/>
            <a:ext cx="318232" cy="107156"/>
          </a:xfrm>
          <a:prstGeom prst="rect">
            <a:avLst/>
          </a:prstGeom>
          <a:noFill/>
          <a:ln/>
        </p:spPr>
        <p:txBody>
          <a:bodyPr wrap="none" lIns="0" tIns="0" rIns="0" bIns="0" rtlCol="0" anchor="ctr"/>
          <a:lstStyle/>
          <a:p>
            <a:pPr algn="ctr" indent="0" marL="0">
              <a:lnSpc>
                <a:spcPts val="1097"/>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4G LTE</a:t>
            </a:r>
            <a:endParaRPr lang="en-US" sz="800" dirty="0"/>
          </a:p>
        </p:txBody>
      </p:sp>
      <p:sp>
        <p:nvSpPr>
          <p:cNvPr id="37" name="Text 35"/>
          <p:cNvSpPr/>
          <p:nvPr/>
        </p:nvSpPr>
        <p:spPr>
          <a:xfrm>
            <a:off x="2034964" y="4454463"/>
            <a:ext cx="107156" cy="107156"/>
          </a:xfrm>
          <a:prstGeom prst="rect">
            <a:avLst/>
          </a:prstGeom>
          <a:noFill/>
          <a:ln/>
        </p:spPr>
        <p:txBody>
          <a:bodyPr wrap="none" lIns="0" tIns="0" rIns="0" bIns="0" rtlCol="0" anchor="ctr"/>
          <a:lstStyle/>
          <a:p>
            <a:pPr algn="ctr" indent="0" marL="0">
              <a:buNone/>
            </a:pPr>
            <a:r>
              <a:rPr lang="en-US" sz="1055" dirty="0">
                <a:solidFill>
                  <a:srgbClr val="138808"/>
                </a:solidFill>
                <a:latin typeface="Segoe UI Symbol" pitchFamily="34" charset="0"/>
                <a:ea typeface="Segoe UI Symbol" pitchFamily="34" charset="-122"/>
                <a:cs typeface="Segoe UI Symbol" pitchFamily="34" charset="-120"/>
              </a:rPr>
              <a:t>▯</a:t>
            </a:r>
            <a:endParaRPr lang="en-US" sz="1055" dirty="0"/>
          </a:p>
        </p:txBody>
      </p:sp>
      <p:sp>
        <p:nvSpPr>
          <p:cNvPr id="38" name="Text 36"/>
          <p:cNvSpPr/>
          <p:nvPr/>
        </p:nvSpPr>
        <p:spPr>
          <a:xfrm>
            <a:off x="2667521" y="4450891"/>
            <a:ext cx="114300" cy="114300"/>
          </a:xfrm>
          <a:prstGeom prst="rect">
            <a:avLst/>
          </a:prstGeom>
          <a:noFill/>
          <a:ln/>
        </p:spPr>
        <p:txBody>
          <a:bodyPr wrap="none" lIns="0" tIns="0" rIns="0" bIns="0" rtlCol="0" anchor="ctr"/>
          <a:lstStyle/>
          <a:p>
            <a:pPr algn="ctr" indent="0" marL="0">
              <a:buNone/>
            </a:pPr>
            <a:r>
              <a:rPr lang="en-US" sz="1125" dirty="0">
                <a:solidFill>
                  <a:srgbClr val="9CA3AF"/>
                </a:solidFill>
                <a:latin typeface="Segoe UI Symbol" pitchFamily="34" charset="0"/>
                <a:ea typeface="Segoe UI Symbol" pitchFamily="34" charset="-122"/>
                <a:cs typeface="Segoe UI Symbol" pitchFamily="34" charset="-120"/>
              </a:rPr>
              <a:t>→</a:t>
            </a:r>
            <a:endParaRPr lang="en-US" sz="1125" dirty="0"/>
          </a:p>
        </p:txBody>
      </p:sp>
      <p:sp>
        <p:nvSpPr>
          <p:cNvPr id="39" name="Text 37"/>
          <p:cNvSpPr/>
          <p:nvPr/>
        </p:nvSpPr>
        <p:spPr>
          <a:xfrm>
            <a:off x="2816111" y="4375582"/>
            <a:ext cx="963915" cy="264919"/>
          </a:xfrm>
          <a:prstGeom prst="roundRect">
            <a:avLst>
              <a:gd name="adj" fmla="val 28764"/>
            </a:avLst>
          </a:prstGeom>
          <a:solidFill>
            <a:srgbClr val="FFFFFF">
              <a:alpha val="6000"/>
            </a:srgbClr>
          </a:solidFill>
          <a:ln w="7144">
            <a:solidFill>
              <a:srgbClr val="FFFFFF"/>
            </a:solidFill>
            <a:prstDash val="solid"/>
          </a:ln>
        </p:spPr>
        <p:txBody>
          <a:bodyPr wrap="square" rtlCol="0" anchor="ctr"/>
          <a:lstStyle/>
          <a:p>
            <a:pPr indent="0" marL="0">
              <a:buNone/>
            </a:pPr>
            <a:endParaRPr lang="en-US" dirty="0"/>
          </a:p>
        </p:txBody>
      </p:sp>
      <p:sp>
        <p:nvSpPr>
          <p:cNvPr id="40" name="Text 38"/>
          <p:cNvSpPr/>
          <p:nvPr/>
        </p:nvSpPr>
        <p:spPr>
          <a:xfrm>
            <a:off x="3096146" y="4452677"/>
            <a:ext cx="553864" cy="107156"/>
          </a:xfrm>
          <a:prstGeom prst="rect">
            <a:avLst/>
          </a:prstGeom>
          <a:noFill/>
          <a:ln/>
        </p:spPr>
        <p:txBody>
          <a:bodyPr wrap="none" lIns="0" tIns="0" rIns="0" bIns="0" rtlCol="0" anchor="ctr"/>
          <a:lstStyle/>
          <a:p>
            <a:pPr algn="ctr" indent="0" marL="0">
              <a:lnSpc>
                <a:spcPts val="1097"/>
              </a:lnSpc>
              <a:buNone/>
            </a:pPr>
            <a:r>
              <a:rPr lang="en-US" sz="800" dirty="0">
                <a:solidFill>
                  <a:srgbClr val="FFFFFF"/>
                </a:solidFill>
                <a:latin typeface="Carlito" pitchFamily="34" charset="0"/>
                <a:ea typeface="Carlito" pitchFamily="34" charset="-122"/>
                <a:cs typeface="Carlito" pitchFamily="34" charset="-120"/>
              </a:rPr>
              <a:t>Edge TPU AI</a:t>
            </a:r>
            <a:endParaRPr lang="en-US" sz="800" dirty="0"/>
          </a:p>
        </p:txBody>
      </p:sp>
      <p:sp>
        <p:nvSpPr>
          <p:cNvPr id="41" name="Text 39"/>
          <p:cNvSpPr/>
          <p:nvPr/>
        </p:nvSpPr>
        <p:spPr>
          <a:xfrm>
            <a:off x="2946127" y="4454463"/>
            <a:ext cx="107156" cy="107156"/>
          </a:xfrm>
          <a:prstGeom prst="rect">
            <a:avLst/>
          </a:prstGeom>
          <a:noFill/>
          <a:ln/>
        </p:spPr>
        <p:txBody>
          <a:bodyPr wrap="none" lIns="0" tIns="0" rIns="0" bIns="0" rtlCol="0" anchor="ctr"/>
          <a:lstStyle/>
          <a:p>
            <a:pPr algn="ctr" indent="0" marL="0">
              <a:buNone/>
            </a:pPr>
            <a:r>
              <a:rPr lang="en-US" sz="1055" dirty="0">
                <a:solidFill>
                  <a:srgbClr val="FF9933"/>
                </a:solidFill>
                <a:latin typeface="Segoe UI Symbol" pitchFamily="34" charset="0"/>
                <a:ea typeface="Segoe UI Symbol" pitchFamily="34" charset="-122"/>
                <a:cs typeface="Segoe UI Symbol" pitchFamily="34" charset="-120"/>
              </a:rPr>
              <a:t>▦</a:t>
            </a:r>
            <a:endParaRPr lang="en-US" sz="1055" dirty="0"/>
          </a:p>
        </p:txBody>
      </p:sp>
      <p:sp>
        <p:nvSpPr>
          <p:cNvPr id="42" name="Text 40"/>
          <p:cNvSpPr/>
          <p:nvPr/>
        </p:nvSpPr>
        <p:spPr>
          <a:xfrm>
            <a:off x="3814316" y="4450891"/>
            <a:ext cx="114300" cy="114300"/>
          </a:xfrm>
          <a:prstGeom prst="rect">
            <a:avLst/>
          </a:prstGeom>
          <a:noFill/>
          <a:ln/>
        </p:spPr>
        <p:txBody>
          <a:bodyPr wrap="none" lIns="0" tIns="0" rIns="0" bIns="0" rtlCol="0" anchor="ctr"/>
          <a:lstStyle/>
          <a:p>
            <a:pPr algn="ctr" indent="0" marL="0">
              <a:buNone/>
            </a:pPr>
            <a:r>
              <a:rPr lang="en-US" sz="1125" dirty="0">
                <a:solidFill>
                  <a:srgbClr val="9CA3AF"/>
                </a:solidFill>
                <a:latin typeface="Segoe UI Symbol" pitchFamily="34" charset="0"/>
                <a:ea typeface="Segoe UI Symbol" pitchFamily="34" charset="-122"/>
                <a:cs typeface="Segoe UI Symbol" pitchFamily="34" charset="-120"/>
              </a:rPr>
              <a:t>→</a:t>
            </a:r>
            <a:endParaRPr lang="en-US" sz="1125" dirty="0"/>
          </a:p>
        </p:txBody>
      </p:sp>
      <p:sp>
        <p:nvSpPr>
          <p:cNvPr id="43" name="Text 41"/>
          <p:cNvSpPr/>
          <p:nvPr/>
        </p:nvSpPr>
        <p:spPr>
          <a:xfrm>
            <a:off x="491490" y="4672047"/>
            <a:ext cx="801618" cy="264919"/>
          </a:xfrm>
          <a:prstGeom prst="roundRect">
            <a:avLst>
              <a:gd name="adj" fmla="val 28764"/>
            </a:avLst>
          </a:prstGeom>
          <a:solidFill>
            <a:srgbClr val="FF9933">
              <a:alpha val="15000"/>
            </a:srgbClr>
          </a:solidFill>
          <a:ln w="7144">
            <a:solidFill>
              <a:srgbClr val="FF9933"/>
            </a:solidFill>
            <a:prstDash val="solid"/>
          </a:ln>
        </p:spPr>
        <p:txBody>
          <a:bodyPr wrap="square" rtlCol="0" anchor="ctr"/>
          <a:lstStyle/>
          <a:p>
            <a:pPr indent="0" marL="0">
              <a:buNone/>
            </a:pPr>
            <a:endParaRPr lang="en-US" dirty="0"/>
          </a:p>
        </p:txBody>
      </p:sp>
      <p:sp>
        <p:nvSpPr>
          <p:cNvPr id="44" name="Text 42"/>
          <p:cNvSpPr/>
          <p:nvPr/>
        </p:nvSpPr>
        <p:spPr>
          <a:xfrm>
            <a:off x="771525" y="4749143"/>
            <a:ext cx="391567" cy="107156"/>
          </a:xfrm>
          <a:prstGeom prst="rect">
            <a:avLst/>
          </a:prstGeom>
          <a:noFill/>
          <a:ln/>
        </p:spPr>
        <p:txBody>
          <a:bodyPr wrap="none" lIns="0" tIns="0" rIns="0" bIns="0" rtlCol="0" anchor="ctr"/>
          <a:lstStyle/>
          <a:p>
            <a:pPr algn="ctr" indent="0" marL="0">
              <a:lnSpc>
                <a:spcPts val="1097"/>
              </a:lnSpc>
              <a:buNone/>
            </a:pPr>
            <a:r>
              <a:rPr lang="en-US" sz="800" dirty="0">
                <a:solidFill>
                  <a:srgbClr val="FF9933"/>
                </a:solidFill>
                <a:latin typeface="Liberation Sans Narrow" pitchFamily="34" charset="0"/>
                <a:ea typeface="Liberation Sans Narrow" pitchFamily="34" charset="-122"/>
                <a:cs typeface="Liberation Sans Narrow" pitchFamily="34" charset="-120"/>
              </a:rPr>
              <a:t>&lt;3s Alert</a:t>
            </a:r>
            <a:endParaRPr lang="en-US" sz="800" dirty="0"/>
          </a:p>
        </p:txBody>
      </p:sp>
      <p:sp>
        <p:nvSpPr>
          <p:cNvPr id="45" name="Text 43"/>
          <p:cNvSpPr/>
          <p:nvPr/>
        </p:nvSpPr>
        <p:spPr>
          <a:xfrm>
            <a:off x="621506" y="4750929"/>
            <a:ext cx="107156" cy="107156"/>
          </a:xfrm>
          <a:prstGeom prst="rect">
            <a:avLst/>
          </a:prstGeom>
          <a:noFill/>
          <a:ln/>
        </p:spPr>
        <p:txBody>
          <a:bodyPr wrap="none" lIns="0" tIns="0" rIns="0" bIns="0" rtlCol="0" anchor="ctr"/>
          <a:lstStyle/>
          <a:p>
            <a:pPr algn="ctr" indent="0" marL="0">
              <a:buNone/>
            </a:pPr>
            <a:r>
              <a:rPr lang="en-US" sz="1055" dirty="0">
                <a:solidFill>
                  <a:srgbClr val="FF9933"/>
                </a:solidFill>
                <a:latin typeface="Segoe UI Symbol" pitchFamily="34" charset="0"/>
                <a:ea typeface="Segoe UI Symbol" pitchFamily="34" charset="-122"/>
                <a:cs typeface="Segoe UI Symbol" pitchFamily="34" charset="-120"/>
              </a:rPr>
              <a:t>⚡</a:t>
            </a:r>
            <a:endParaRPr lang="en-US" sz="1055" dirty="0"/>
          </a:p>
        </p:txBody>
      </p:sp>
      <p:sp>
        <p:nvSpPr>
          <p:cNvPr id="46" name="Text 44"/>
          <p:cNvSpPr/>
          <p:nvPr/>
        </p:nvSpPr>
        <p:spPr>
          <a:xfrm>
            <a:off x="4743450" y="1034393"/>
            <a:ext cx="4400550" cy="208312"/>
          </a:xfrm>
          <a:prstGeom prst="rect">
            <a:avLst/>
          </a:prstGeom>
          <a:noFill/>
          <a:ln/>
        </p:spPr>
        <p:txBody>
          <a:bodyPr wrap="none" lIns="0" tIns="0" rIns="0" bIns="0" rtlCol="0" anchor="t"/>
          <a:lstStyle/>
          <a:p>
            <a:pPr algn="l" indent="0" marL="0">
              <a:lnSpc>
                <a:spcPts val="1519"/>
              </a:lnSpc>
              <a:buNone/>
            </a:pPr>
            <a:r>
              <a:rPr lang="en-US" sz="1013" b="1" spc="56" kern="0" dirty="0">
                <a:solidFill>
                  <a:srgbClr val="9CA3AF"/>
                </a:solidFill>
                <a:latin typeface="Liberation Sans Narrow" pitchFamily="34" charset="0"/>
                <a:ea typeface="Liberation Sans Narrow" pitchFamily="34" charset="-122"/>
                <a:cs typeface="Liberation Sans Narrow" pitchFamily="34" charset="-120"/>
              </a:rPr>
              <a:t>4-STEP AI PIPELINE</a:t>
            </a:r>
            <a:endParaRPr lang="en-US" sz="1013" dirty="0"/>
          </a:p>
        </p:txBody>
      </p:sp>
      <p:sp>
        <p:nvSpPr>
          <p:cNvPr id="47" name="Text 45"/>
          <p:cNvSpPr/>
          <p:nvPr/>
        </p:nvSpPr>
        <p:spPr>
          <a:xfrm>
            <a:off x="4743450" y="1341574"/>
            <a:ext cx="285750" cy="285750"/>
          </a:xfrm>
          <a:prstGeom prst="ellipse">
            <a:avLst/>
          </a:prstGeom>
          <a:solidFill>
            <a:srgbClr val="FF9933"/>
          </a:solidFill>
          <a:ln/>
        </p:spPr>
        <p:txBody>
          <a:bodyPr wrap="square" rtlCol="0" anchor="ctr"/>
          <a:lstStyle/>
          <a:p>
            <a:pPr indent="0" marL="0">
              <a:buNone/>
            </a:pPr>
            <a:endParaRPr lang="en-US" dirty="0"/>
          </a:p>
        </p:txBody>
      </p:sp>
      <p:sp>
        <p:nvSpPr>
          <p:cNvPr id="48" name="Text 46"/>
          <p:cNvSpPr/>
          <p:nvPr/>
        </p:nvSpPr>
        <p:spPr>
          <a:xfrm>
            <a:off x="4743450" y="1341574"/>
            <a:ext cx="350044" cy="285750"/>
          </a:xfrm>
          <a:prstGeom prst="rect">
            <a:avLst/>
          </a:prstGeom>
          <a:noFill/>
          <a:ln/>
        </p:spPr>
        <p:txBody>
          <a:bodyPr wrap="none" lIns="0" tIns="0" rIns="0" bIns="0" rtlCol="0" anchor="ctr"/>
          <a:lstStyle/>
          <a:p>
            <a:pPr algn="ctr" indent="0" marL="0">
              <a:lnSpc>
                <a:spcPts val="1519"/>
              </a:lnSpc>
              <a:buNone/>
            </a:pPr>
            <a:r>
              <a:rPr lang="en-US" sz="1013" b="1" dirty="0">
                <a:solidFill>
                  <a:srgbClr val="0F0F0F"/>
                </a:solidFill>
                <a:latin typeface="Liberation Sans Narrow" pitchFamily="34" charset="0"/>
                <a:ea typeface="Liberation Sans Narrow" pitchFamily="34" charset="-122"/>
                <a:cs typeface="Liberation Sans Narrow" pitchFamily="34" charset="-120"/>
              </a:rPr>
              <a:t>1</a:t>
            </a:r>
            <a:endParaRPr lang="en-US" sz="1013" dirty="0"/>
          </a:p>
        </p:txBody>
      </p:sp>
      <p:sp>
        <p:nvSpPr>
          <p:cNvPr id="49" name="Text 47"/>
          <p:cNvSpPr/>
          <p:nvPr/>
        </p:nvSpPr>
        <p:spPr>
          <a:xfrm>
            <a:off x="5157788" y="1341574"/>
            <a:ext cx="3471863" cy="696516"/>
          </a:xfrm>
          <a:prstGeom prst="roundRect">
            <a:avLst>
              <a:gd name="adj" fmla="val 19145"/>
            </a:avLst>
          </a:prstGeom>
          <a:solidFill>
            <a:srgbClr val="1A1A1A"/>
          </a:solidFill>
          <a:ln/>
        </p:spPr>
        <p:txBody>
          <a:bodyPr wrap="square" rtlCol="0" anchor="ctr"/>
          <a:lstStyle/>
          <a:p>
            <a:pPr indent="0" marL="0">
              <a:buNone/>
            </a:pPr>
            <a:endParaRPr lang="en-US" dirty="0"/>
          </a:p>
        </p:txBody>
      </p:sp>
      <p:sp>
        <p:nvSpPr>
          <p:cNvPr id="50" name="Shape 48"/>
          <p:cNvSpPr/>
          <p:nvPr/>
        </p:nvSpPr>
        <p:spPr>
          <a:xfrm>
            <a:off x="5157788" y="1345146"/>
            <a:ext cx="3471863" cy="0"/>
          </a:xfrm>
          <a:prstGeom prst="line">
            <a:avLst/>
          </a:prstGeom>
          <a:noFill/>
          <a:ln w="7144">
            <a:solidFill>
              <a:srgbClr val="FFFFFF"/>
            </a:solidFill>
            <a:prstDash val="solid"/>
          </a:ln>
        </p:spPr>
      </p:sp>
      <p:sp>
        <p:nvSpPr>
          <p:cNvPr id="51" name="Shape 49"/>
          <p:cNvSpPr/>
          <p:nvPr/>
        </p:nvSpPr>
        <p:spPr>
          <a:xfrm>
            <a:off x="8626078" y="1341574"/>
            <a:ext cx="0" cy="696516"/>
          </a:xfrm>
          <a:prstGeom prst="line">
            <a:avLst/>
          </a:prstGeom>
          <a:noFill/>
          <a:ln w="7144">
            <a:solidFill>
              <a:srgbClr val="FFFFFF"/>
            </a:solidFill>
            <a:prstDash val="solid"/>
          </a:ln>
        </p:spPr>
      </p:sp>
      <p:sp>
        <p:nvSpPr>
          <p:cNvPr id="52" name="Shape 50"/>
          <p:cNvSpPr/>
          <p:nvPr/>
        </p:nvSpPr>
        <p:spPr>
          <a:xfrm>
            <a:off x="5157788" y="2034518"/>
            <a:ext cx="3471863" cy="0"/>
          </a:xfrm>
          <a:prstGeom prst="line">
            <a:avLst/>
          </a:prstGeom>
          <a:noFill/>
          <a:ln w="7144">
            <a:solidFill>
              <a:srgbClr val="FFFFFF"/>
            </a:solidFill>
            <a:prstDash val="solid"/>
          </a:ln>
        </p:spPr>
      </p:sp>
      <p:sp>
        <p:nvSpPr>
          <p:cNvPr id="53" name="Shape 51"/>
          <p:cNvSpPr/>
          <p:nvPr/>
        </p:nvSpPr>
        <p:spPr>
          <a:xfrm>
            <a:off x="5168503" y="1341574"/>
            <a:ext cx="0" cy="696516"/>
          </a:xfrm>
          <a:prstGeom prst="line">
            <a:avLst/>
          </a:prstGeom>
          <a:noFill/>
          <a:ln w="21431">
            <a:solidFill>
              <a:srgbClr val="FF9933"/>
            </a:solidFill>
            <a:prstDash val="solid"/>
          </a:ln>
        </p:spPr>
      </p:sp>
      <p:sp>
        <p:nvSpPr>
          <p:cNvPr id="54" name="Text 52"/>
          <p:cNvSpPr/>
          <p:nvPr/>
        </p:nvSpPr>
        <p:spPr>
          <a:xfrm>
            <a:off x="5350669" y="1491593"/>
            <a:ext cx="3100388" cy="208312"/>
          </a:xfrm>
          <a:prstGeom prst="rect">
            <a:avLst/>
          </a:prstGeom>
          <a:noFill/>
          <a:ln/>
        </p:spPr>
        <p:txBody>
          <a:bodyPr wrap="none" lIns="0" tIns="0" rIns="0" bIns="0" rtlCol="0" anchor="t"/>
          <a:lstStyle/>
          <a:p>
            <a:pPr algn="l" indent="0" marL="0">
              <a:lnSpc>
                <a:spcPts val="1519"/>
              </a:lnSpc>
              <a:buNone/>
            </a:pPr>
            <a:r>
              <a:rPr lang="en-US" sz="1013" b="1" dirty="0">
                <a:solidFill>
                  <a:srgbClr val="FF9933"/>
                </a:solidFill>
                <a:latin typeface="Carlito" pitchFamily="34" charset="0"/>
                <a:ea typeface="Carlito" pitchFamily="34" charset="-122"/>
                <a:cs typeface="Carlito" pitchFamily="34" charset="-120"/>
              </a:rPr>
              <a:t>CAPTURE</a:t>
            </a:r>
            <a:endParaRPr lang="en-US" sz="1013" dirty="0"/>
          </a:p>
        </p:txBody>
      </p:sp>
      <p:sp>
        <p:nvSpPr>
          <p:cNvPr id="55" name="Text 53"/>
          <p:cNvSpPr/>
          <p:nvPr/>
        </p:nvSpPr>
        <p:spPr>
          <a:xfrm>
            <a:off x="5350669" y="1727336"/>
            <a:ext cx="3210115" cy="160734"/>
          </a:xfrm>
          <a:prstGeom prst="rect">
            <a:avLst/>
          </a:prstGeom>
          <a:noFill/>
          <a:ln/>
        </p:spPr>
        <p:txBody>
          <a:bodyPr wrap="square" lIns="0" tIns="0" rIns="0" bIns="0" rtlCol="0" anchor="t"/>
          <a:lstStyle/>
          <a:p>
            <a:pPr algn="l" indent="0" marL="0">
              <a:lnSpc>
                <a:spcPts val="1266"/>
              </a:lnSpc>
              <a:buNone/>
            </a:pPr>
            <a:r>
              <a:rPr lang="en-US" sz="844" dirty="0">
                <a:solidFill>
                  <a:srgbClr val="D1D5DB"/>
                </a:solidFill>
                <a:latin typeface="Liberation Sans Narrow" pitchFamily="34" charset="0"/>
                <a:ea typeface="Liberation Sans Narrow" pitchFamily="34" charset="-122"/>
                <a:cs typeface="Liberation Sans Narrow" pitchFamily="34" charset="-120"/>
              </a:rPr>
              <a:t>360° camera every 30 seconds</a:t>
            </a:r>
            <a:endParaRPr lang="en-US" sz="844" dirty="0"/>
          </a:p>
        </p:txBody>
      </p:sp>
      <p:sp>
        <p:nvSpPr>
          <p:cNvPr id="56" name="Text 54"/>
          <p:cNvSpPr/>
          <p:nvPr/>
        </p:nvSpPr>
        <p:spPr>
          <a:xfrm>
            <a:off x="4743450" y="2066665"/>
            <a:ext cx="285750" cy="285750"/>
          </a:xfrm>
          <a:prstGeom prst="ellipse">
            <a:avLst/>
          </a:prstGeom>
          <a:solidFill>
            <a:srgbClr val="FF9933"/>
          </a:solidFill>
          <a:ln/>
        </p:spPr>
        <p:txBody>
          <a:bodyPr wrap="square" rtlCol="0" anchor="ctr"/>
          <a:lstStyle/>
          <a:p>
            <a:pPr indent="0" marL="0">
              <a:buNone/>
            </a:pPr>
            <a:endParaRPr lang="en-US" dirty="0"/>
          </a:p>
        </p:txBody>
      </p:sp>
      <p:sp>
        <p:nvSpPr>
          <p:cNvPr id="57" name="Text 55"/>
          <p:cNvSpPr/>
          <p:nvPr/>
        </p:nvSpPr>
        <p:spPr>
          <a:xfrm>
            <a:off x="4743450" y="2066665"/>
            <a:ext cx="350044" cy="285750"/>
          </a:xfrm>
          <a:prstGeom prst="rect">
            <a:avLst/>
          </a:prstGeom>
          <a:noFill/>
          <a:ln/>
        </p:spPr>
        <p:txBody>
          <a:bodyPr wrap="none" lIns="0" tIns="0" rIns="0" bIns="0" rtlCol="0" anchor="ctr"/>
          <a:lstStyle/>
          <a:p>
            <a:pPr algn="ctr" indent="0" marL="0">
              <a:lnSpc>
                <a:spcPts val="1519"/>
              </a:lnSpc>
              <a:buNone/>
            </a:pPr>
            <a:r>
              <a:rPr lang="en-US" sz="1013" b="1" dirty="0">
                <a:solidFill>
                  <a:srgbClr val="0F0F0F"/>
                </a:solidFill>
                <a:latin typeface="Liberation Sans Narrow" pitchFamily="34" charset="0"/>
                <a:ea typeface="Liberation Sans Narrow" pitchFamily="34" charset="-122"/>
                <a:cs typeface="Liberation Sans Narrow" pitchFamily="34" charset="-120"/>
              </a:rPr>
              <a:t>2</a:t>
            </a:r>
            <a:endParaRPr lang="en-US" sz="1013" dirty="0"/>
          </a:p>
        </p:txBody>
      </p:sp>
      <p:sp>
        <p:nvSpPr>
          <p:cNvPr id="58" name="Text 56"/>
          <p:cNvSpPr/>
          <p:nvPr/>
        </p:nvSpPr>
        <p:spPr>
          <a:xfrm>
            <a:off x="5157788" y="2066665"/>
            <a:ext cx="3471863" cy="696516"/>
          </a:xfrm>
          <a:prstGeom prst="roundRect">
            <a:avLst>
              <a:gd name="adj" fmla="val 19145"/>
            </a:avLst>
          </a:prstGeom>
          <a:solidFill>
            <a:srgbClr val="1A1A1A"/>
          </a:solidFill>
          <a:ln/>
        </p:spPr>
        <p:txBody>
          <a:bodyPr wrap="square" rtlCol="0" anchor="ctr"/>
          <a:lstStyle/>
          <a:p>
            <a:pPr indent="0" marL="0">
              <a:buNone/>
            </a:pPr>
            <a:endParaRPr lang="en-US" dirty="0"/>
          </a:p>
        </p:txBody>
      </p:sp>
      <p:sp>
        <p:nvSpPr>
          <p:cNvPr id="59" name="Shape 57"/>
          <p:cNvSpPr/>
          <p:nvPr/>
        </p:nvSpPr>
        <p:spPr>
          <a:xfrm>
            <a:off x="5157788" y="2070236"/>
            <a:ext cx="3471863" cy="0"/>
          </a:xfrm>
          <a:prstGeom prst="line">
            <a:avLst/>
          </a:prstGeom>
          <a:noFill/>
          <a:ln w="7144">
            <a:solidFill>
              <a:srgbClr val="FFFFFF"/>
            </a:solidFill>
            <a:prstDash val="solid"/>
          </a:ln>
        </p:spPr>
      </p:sp>
      <p:sp>
        <p:nvSpPr>
          <p:cNvPr id="60" name="Shape 58"/>
          <p:cNvSpPr/>
          <p:nvPr/>
        </p:nvSpPr>
        <p:spPr>
          <a:xfrm>
            <a:off x="8626078" y="2066665"/>
            <a:ext cx="0" cy="696516"/>
          </a:xfrm>
          <a:prstGeom prst="line">
            <a:avLst/>
          </a:prstGeom>
          <a:noFill/>
          <a:ln w="7144">
            <a:solidFill>
              <a:srgbClr val="FFFFFF"/>
            </a:solidFill>
            <a:prstDash val="solid"/>
          </a:ln>
        </p:spPr>
      </p:sp>
      <p:sp>
        <p:nvSpPr>
          <p:cNvPr id="61" name="Shape 59"/>
          <p:cNvSpPr/>
          <p:nvPr/>
        </p:nvSpPr>
        <p:spPr>
          <a:xfrm>
            <a:off x="5157788" y="2759608"/>
            <a:ext cx="3471863" cy="0"/>
          </a:xfrm>
          <a:prstGeom prst="line">
            <a:avLst/>
          </a:prstGeom>
          <a:noFill/>
          <a:ln w="7144">
            <a:solidFill>
              <a:srgbClr val="FFFFFF"/>
            </a:solidFill>
            <a:prstDash val="solid"/>
          </a:ln>
        </p:spPr>
      </p:sp>
      <p:sp>
        <p:nvSpPr>
          <p:cNvPr id="62" name="Shape 60"/>
          <p:cNvSpPr/>
          <p:nvPr/>
        </p:nvSpPr>
        <p:spPr>
          <a:xfrm>
            <a:off x="5168503" y="2066665"/>
            <a:ext cx="0" cy="696516"/>
          </a:xfrm>
          <a:prstGeom prst="line">
            <a:avLst/>
          </a:prstGeom>
          <a:noFill/>
          <a:ln w="21431">
            <a:solidFill>
              <a:srgbClr val="FF9933"/>
            </a:solidFill>
            <a:prstDash val="solid"/>
          </a:ln>
        </p:spPr>
      </p:sp>
      <p:sp>
        <p:nvSpPr>
          <p:cNvPr id="63" name="Text 61"/>
          <p:cNvSpPr/>
          <p:nvPr/>
        </p:nvSpPr>
        <p:spPr>
          <a:xfrm>
            <a:off x="5350669" y="2216683"/>
            <a:ext cx="3100388" cy="208312"/>
          </a:xfrm>
          <a:prstGeom prst="rect">
            <a:avLst/>
          </a:prstGeom>
          <a:noFill/>
          <a:ln/>
        </p:spPr>
        <p:txBody>
          <a:bodyPr wrap="none" lIns="0" tIns="0" rIns="0" bIns="0" rtlCol="0" anchor="t"/>
          <a:lstStyle/>
          <a:p>
            <a:pPr algn="l" indent="0" marL="0">
              <a:lnSpc>
                <a:spcPts val="1519"/>
              </a:lnSpc>
              <a:buNone/>
            </a:pPr>
            <a:r>
              <a:rPr lang="en-US" sz="1013" b="1" dirty="0">
                <a:solidFill>
                  <a:srgbClr val="FF9933"/>
                </a:solidFill>
                <a:latin typeface="Carlito" pitchFamily="34" charset="0"/>
                <a:ea typeface="Carlito" pitchFamily="34" charset="-122"/>
                <a:cs typeface="Carlito" pitchFamily="34" charset="-120"/>
              </a:rPr>
              <a:t>DETECT</a:t>
            </a:r>
            <a:endParaRPr lang="en-US" sz="1013" dirty="0"/>
          </a:p>
        </p:txBody>
      </p:sp>
      <p:sp>
        <p:nvSpPr>
          <p:cNvPr id="64" name="Text 62"/>
          <p:cNvSpPr/>
          <p:nvPr/>
        </p:nvSpPr>
        <p:spPr>
          <a:xfrm>
            <a:off x="5350669" y="2452427"/>
            <a:ext cx="3100387" cy="160734"/>
          </a:xfrm>
          <a:prstGeom prst="rect">
            <a:avLst/>
          </a:prstGeom>
          <a:noFill/>
          <a:ln/>
        </p:spPr>
        <p:txBody>
          <a:bodyPr wrap="none" lIns="0" tIns="0" rIns="0" bIns="0" rtlCol="0" anchor="t"/>
          <a:lstStyle/>
          <a:p>
            <a:pPr algn="l" indent="0" marL="0">
              <a:lnSpc>
                <a:spcPts val="1266"/>
              </a:lnSpc>
              <a:buNone/>
            </a:pPr>
            <a:r>
              <a:rPr lang="en-US" sz="844" dirty="0">
                <a:solidFill>
                  <a:srgbClr val="D1D5DB"/>
                </a:solidFill>
                <a:latin typeface="Liberation Sans Narrow" pitchFamily="34" charset="0"/>
                <a:ea typeface="Liberation Sans Narrow" pitchFamily="34" charset="-122"/>
                <a:cs typeface="Liberation Sans Narrow" pitchFamily="34" charset="-120"/>
              </a:rPr>
              <a:t>YOLOv8 on Edge TPU, </a:t>
            </a:r>
            <a:pPr algn="l" indent="0" marL="0">
              <a:lnSpc>
                <a:spcPts val="1266"/>
              </a:lnSpc>
              <a:buNone/>
            </a:pPr>
            <a:r>
              <a:rPr lang="en-US" sz="844" b="1" dirty="0">
                <a:solidFill>
                  <a:srgbClr val="138808"/>
                </a:solidFill>
                <a:latin typeface="Liberation Sans Narrow" pitchFamily="34" charset="0"/>
                <a:ea typeface="Liberation Sans Narrow" pitchFamily="34" charset="-122"/>
                <a:cs typeface="Liberation Sans Narrow" pitchFamily="34" charset="-120"/>
              </a:rPr>
              <a:t>94% mAP</a:t>
            </a:r>
            <a:endParaRPr lang="en-US" sz="844" dirty="0"/>
          </a:p>
        </p:txBody>
      </p:sp>
      <p:sp>
        <p:nvSpPr>
          <p:cNvPr id="65" name="Text 63"/>
          <p:cNvSpPr/>
          <p:nvPr/>
        </p:nvSpPr>
        <p:spPr>
          <a:xfrm>
            <a:off x="4743450" y="2791755"/>
            <a:ext cx="285750" cy="285750"/>
          </a:xfrm>
          <a:prstGeom prst="ellipse">
            <a:avLst/>
          </a:prstGeom>
          <a:solidFill>
            <a:srgbClr val="138808"/>
          </a:solidFill>
          <a:ln/>
        </p:spPr>
        <p:txBody>
          <a:bodyPr wrap="square" rtlCol="0" anchor="ctr"/>
          <a:lstStyle/>
          <a:p>
            <a:pPr indent="0" marL="0">
              <a:buNone/>
            </a:pPr>
            <a:endParaRPr lang="en-US" dirty="0"/>
          </a:p>
        </p:txBody>
      </p:sp>
      <p:sp>
        <p:nvSpPr>
          <p:cNvPr id="66" name="Text 64"/>
          <p:cNvSpPr/>
          <p:nvPr/>
        </p:nvSpPr>
        <p:spPr>
          <a:xfrm>
            <a:off x="4743450" y="2791755"/>
            <a:ext cx="350044" cy="285750"/>
          </a:xfrm>
          <a:prstGeom prst="rect">
            <a:avLst/>
          </a:prstGeom>
          <a:noFill/>
          <a:ln/>
        </p:spPr>
        <p:txBody>
          <a:bodyPr wrap="none" lIns="0" tIns="0" rIns="0" bIns="0" rtlCol="0" anchor="ctr"/>
          <a:lstStyle/>
          <a:p>
            <a:pPr algn="ctr" indent="0" marL="0">
              <a:lnSpc>
                <a:spcPts val="1519"/>
              </a:lnSpc>
              <a:buNone/>
            </a:pPr>
            <a:r>
              <a:rPr lang="en-US" sz="1013" b="1" dirty="0">
                <a:solidFill>
                  <a:srgbClr val="0F0F0F"/>
                </a:solidFill>
                <a:latin typeface="Liberation Sans Narrow" pitchFamily="34" charset="0"/>
                <a:ea typeface="Liberation Sans Narrow" pitchFamily="34" charset="-122"/>
                <a:cs typeface="Liberation Sans Narrow" pitchFamily="34" charset="-120"/>
              </a:rPr>
              <a:t>3</a:t>
            </a:r>
            <a:endParaRPr lang="en-US" sz="1013" dirty="0"/>
          </a:p>
        </p:txBody>
      </p:sp>
      <p:sp>
        <p:nvSpPr>
          <p:cNvPr id="67" name="Text 65"/>
          <p:cNvSpPr/>
          <p:nvPr/>
        </p:nvSpPr>
        <p:spPr>
          <a:xfrm>
            <a:off x="5157788" y="2791755"/>
            <a:ext cx="3471863" cy="696516"/>
          </a:xfrm>
          <a:prstGeom prst="roundRect">
            <a:avLst>
              <a:gd name="adj" fmla="val 19145"/>
            </a:avLst>
          </a:prstGeom>
          <a:solidFill>
            <a:srgbClr val="1A1A1A"/>
          </a:solidFill>
          <a:ln/>
        </p:spPr>
        <p:txBody>
          <a:bodyPr wrap="square" rtlCol="0" anchor="ctr"/>
          <a:lstStyle/>
          <a:p>
            <a:pPr indent="0" marL="0">
              <a:buNone/>
            </a:pPr>
            <a:endParaRPr lang="en-US" dirty="0"/>
          </a:p>
        </p:txBody>
      </p:sp>
      <p:sp>
        <p:nvSpPr>
          <p:cNvPr id="68" name="Shape 66"/>
          <p:cNvSpPr/>
          <p:nvPr/>
        </p:nvSpPr>
        <p:spPr>
          <a:xfrm>
            <a:off x="5157788" y="2795327"/>
            <a:ext cx="3471863" cy="0"/>
          </a:xfrm>
          <a:prstGeom prst="line">
            <a:avLst/>
          </a:prstGeom>
          <a:noFill/>
          <a:ln w="7144">
            <a:solidFill>
              <a:srgbClr val="FFFFFF"/>
            </a:solidFill>
            <a:prstDash val="solid"/>
          </a:ln>
        </p:spPr>
      </p:sp>
      <p:sp>
        <p:nvSpPr>
          <p:cNvPr id="69" name="Shape 67"/>
          <p:cNvSpPr/>
          <p:nvPr/>
        </p:nvSpPr>
        <p:spPr>
          <a:xfrm>
            <a:off x="8626078" y="2791755"/>
            <a:ext cx="0" cy="696516"/>
          </a:xfrm>
          <a:prstGeom prst="line">
            <a:avLst/>
          </a:prstGeom>
          <a:noFill/>
          <a:ln w="7144">
            <a:solidFill>
              <a:srgbClr val="FFFFFF"/>
            </a:solidFill>
            <a:prstDash val="solid"/>
          </a:ln>
        </p:spPr>
      </p:sp>
      <p:sp>
        <p:nvSpPr>
          <p:cNvPr id="70" name="Shape 68"/>
          <p:cNvSpPr/>
          <p:nvPr/>
        </p:nvSpPr>
        <p:spPr>
          <a:xfrm>
            <a:off x="5157788" y="3484699"/>
            <a:ext cx="3471863" cy="0"/>
          </a:xfrm>
          <a:prstGeom prst="line">
            <a:avLst/>
          </a:prstGeom>
          <a:noFill/>
          <a:ln w="7144">
            <a:solidFill>
              <a:srgbClr val="FFFFFF"/>
            </a:solidFill>
            <a:prstDash val="solid"/>
          </a:ln>
        </p:spPr>
      </p:sp>
      <p:sp>
        <p:nvSpPr>
          <p:cNvPr id="71" name="Shape 69"/>
          <p:cNvSpPr/>
          <p:nvPr/>
        </p:nvSpPr>
        <p:spPr>
          <a:xfrm>
            <a:off x="5168503" y="2791755"/>
            <a:ext cx="0" cy="696516"/>
          </a:xfrm>
          <a:prstGeom prst="line">
            <a:avLst/>
          </a:prstGeom>
          <a:noFill/>
          <a:ln w="21431">
            <a:solidFill>
              <a:srgbClr val="138808"/>
            </a:solidFill>
            <a:prstDash val="solid"/>
          </a:ln>
        </p:spPr>
      </p:sp>
      <p:sp>
        <p:nvSpPr>
          <p:cNvPr id="72" name="Text 70"/>
          <p:cNvSpPr/>
          <p:nvPr/>
        </p:nvSpPr>
        <p:spPr>
          <a:xfrm>
            <a:off x="5350669" y="2941774"/>
            <a:ext cx="3100388" cy="208312"/>
          </a:xfrm>
          <a:prstGeom prst="rect">
            <a:avLst/>
          </a:prstGeom>
          <a:noFill/>
          <a:ln/>
        </p:spPr>
        <p:txBody>
          <a:bodyPr wrap="none" lIns="0" tIns="0" rIns="0" bIns="0" rtlCol="0" anchor="t"/>
          <a:lstStyle/>
          <a:p>
            <a:pPr algn="l" indent="0" marL="0">
              <a:lnSpc>
                <a:spcPts val="1519"/>
              </a:lnSpc>
              <a:buNone/>
            </a:pPr>
            <a:r>
              <a:rPr lang="en-US" sz="1013" b="1" dirty="0">
                <a:solidFill>
                  <a:srgbClr val="138808"/>
                </a:solidFill>
                <a:latin typeface="Carlito" pitchFamily="34" charset="0"/>
                <a:ea typeface="Carlito" pitchFamily="34" charset="-122"/>
                <a:cs typeface="Carlito" pitchFamily="34" charset="-120"/>
              </a:rPr>
              <a:t>CLASSIFY</a:t>
            </a:r>
            <a:endParaRPr lang="en-US" sz="1013" dirty="0"/>
          </a:p>
        </p:txBody>
      </p:sp>
      <p:sp>
        <p:nvSpPr>
          <p:cNvPr id="73" name="Text 71"/>
          <p:cNvSpPr/>
          <p:nvPr/>
        </p:nvSpPr>
        <p:spPr>
          <a:xfrm>
            <a:off x="5350669" y="3177518"/>
            <a:ext cx="3210115" cy="160734"/>
          </a:xfrm>
          <a:prstGeom prst="rect">
            <a:avLst/>
          </a:prstGeom>
          <a:noFill/>
          <a:ln/>
        </p:spPr>
        <p:txBody>
          <a:bodyPr wrap="square" lIns="0" tIns="0" rIns="0" bIns="0" rtlCol="0" anchor="t"/>
          <a:lstStyle/>
          <a:p>
            <a:pPr algn="l" indent="0" marL="0">
              <a:lnSpc>
                <a:spcPts val="1266"/>
              </a:lnSpc>
              <a:buNone/>
            </a:pPr>
            <a:r>
              <a:rPr lang="en-US" sz="844" dirty="0">
                <a:solidFill>
                  <a:srgbClr val="D1D5DB"/>
                </a:solidFill>
                <a:latin typeface="Carlito" pitchFamily="34" charset="0"/>
                <a:ea typeface="Carlito" pitchFamily="34" charset="-122"/>
                <a:cs typeface="Carlito" pitchFamily="34" charset="-120"/>
              </a:rPr>
              <a:t>Minor / Major / Critical severity</a:t>
            </a:r>
            <a:endParaRPr lang="en-US" sz="844" dirty="0"/>
          </a:p>
        </p:txBody>
      </p:sp>
      <p:sp>
        <p:nvSpPr>
          <p:cNvPr id="74" name="Text 72"/>
          <p:cNvSpPr/>
          <p:nvPr/>
        </p:nvSpPr>
        <p:spPr>
          <a:xfrm>
            <a:off x="4743450" y="3516846"/>
            <a:ext cx="285750" cy="285750"/>
          </a:xfrm>
          <a:prstGeom prst="ellipse">
            <a:avLst/>
          </a:prstGeom>
          <a:solidFill>
            <a:srgbClr val="138808"/>
          </a:solidFill>
          <a:ln/>
        </p:spPr>
        <p:txBody>
          <a:bodyPr wrap="square" rtlCol="0" anchor="ctr"/>
          <a:lstStyle/>
          <a:p>
            <a:pPr indent="0" marL="0">
              <a:buNone/>
            </a:pPr>
            <a:endParaRPr lang="en-US" dirty="0"/>
          </a:p>
        </p:txBody>
      </p:sp>
      <p:sp>
        <p:nvSpPr>
          <p:cNvPr id="75" name="Text 73"/>
          <p:cNvSpPr/>
          <p:nvPr/>
        </p:nvSpPr>
        <p:spPr>
          <a:xfrm>
            <a:off x="4743450" y="3516846"/>
            <a:ext cx="350044" cy="285750"/>
          </a:xfrm>
          <a:prstGeom prst="rect">
            <a:avLst/>
          </a:prstGeom>
          <a:noFill/>
          <a:ln/>
        </p:spPr>
        <p:txBody>
          <a:bodyPr wrap="none" lIns="0" tIns="0" rIns="0" bIns="0" rtlCol="0" anchor="ctr"/>
          <a:lstStyle/>
          <a:p>
            <a:pPr algn="ctr" indent="0" marL="0">
              <a:lnSpc>
                <a:spcPts val="1519"/>
              </a:lnSpc>
              <a:buNone/>
            </a:pPr>
            <a:r>
              <a:rPr lang="en-US" sz="1013" b="1" dirty="0">
                <a:solidFill>
                  <a:srgbClr val="0F0F0F"/>
                </a:solidFill>
                <a:latin typeface="Liberation Sans Narrow" pitchFamily="34" charset="0"/>
                <a:ea typeface="Liberation Sans Narrow" pitchFamily="34" charset="-122"/>
                <a:cs typeface="Liberation Sans Narrow" pitchFamily="34" charset="-120"/>
              </a:rPr>
              <a:t>4</a:t>
            </a:r>
            <a:endParaRPr lang="en-US" sz="1013" dirty="0"/>
          </a:p>
        </p:txBody>
      </p:sp>
      <p:sp>
        <p:nvSpPr>
          <p:cNvPr id="76" name="Text 74"/>
          <p:cNvSpPr/>
          <p:nvPr/>
        </p:nvSpPr>
        <p:spPr>
          <a:xfrm>
            <a:off x="5157788" y="3516846"/>
            <a:ext cx="3471863" cy="696516"/>
          </a:xfrm>
          <a:prstGeom prst="roundRect">
            <a:avLst>
              <a:gd name="adj" fmla="val 19145"/>
            </a:avLst>
          </a:prstGeom>
          <a:solidFill>
            <a:srgbClr val="1A1A1A"/>
          </a:solidFill>
          <a:ln/>
        </p:spPr>
        <p:txBody>
          <a:bodyPr wrap="square" rtlCol="0" anchor="ctr"/>
          <a:lstStyle/>
          <a:p>
            <a:pPr indent="0" marL="0">
              <a:buNone/>
            </a:pPr>
            <a:endParaRPr lang="en-US" dirty="0"/>
          </a:p>
        </p:txBody>
      </p:sp>
      <p:sp>
        <p:nvSpPr>
          <p:cNvPr id="77" name="Shape 75"/>
          <p:cNvSpPr/>
          <p:nvPr/>
        </p:nvSpPr>
        <p:spPr>
          <a:xfrm>
            <a:off x="5157788" y="3520418"/>
            <a:ext cx="3471863" cy="0"/>
          </a:xfrm>
          <a:prstGeom prst="line">
            <a:avLst/>
          </a:prstGeom>
          <a:noFill/>
          <a:ln w="7144">
            <a:solidFill>
              <a:srgbClr val="FFFFFF"/>
            </a:solidFill>
            <a:prstDash val="solid"/>
          </a:ln>
        </p:spPr>
      </p:sp>
      <p:sp>
        <p:nvSpPr>
          <p:cNvPr id="78" name="Shape 76"/>
          <p:cNvSpPr/>
          <p:nvPr/>
        </p:nvSpPr>
        <p:spPr>
          <a:xfrm>
            <a:off x="8626078" y="3516846"/>
            <a:ext cx="0" cy="696516"/>
          </a:xfrm>
          <a:prstGeom prst="line">
            <a:avLst/>
          </a:prstGeom>
          <a:noFill/>
          <a:ln w="7144">
            <a:solidFill>
              <a:srgbClr val="FFFFFF"/>
            </a:solidFill>
            <a:prstDash val="solid"/>
          </a:ln>
        </p:spPr>
      </p:sp>
      <p:sp>
        <p:nvSpPr>
          <p:cNvPr id="79" name="Shape 77"/>
          <p:cNvSpPr/>
          <p:nvPr/>
        </p:nvSpPr>
        <p:spPr>
          <a:xfrm>
            <a:off x="5157788" y="4209790"/>
            <a:ext cx="3471863" cy="0"/>
          </a:xfrm>
          <a:prstGeom prst="line">
            <a:avLst/>
          </a:prstGeom>
          <a:noFill/>
          <a:ln w="7144">
            <a:solidFill>
              <a:srgbClr val="FFFFFF"/>
            </a:solidFill>
            <a:prstDash val="solid"/>
          </a:ln>
        </p:spPr>
      </p:sp>
      <p:sp>
        <p:nvSpPr>
          <p:cNvPr id="80" name="Shape 78"/>
          <p:cNvSpPr/>
          <p:nvPr/>
        </p:nvSpPr>
        <p:spPr>
          <a:xfrm>
            <a:off x="5168503" y="3516846"/>
            <a:ext cx="0" cy="696516"/>
          </a:xfrm>
          <a:prstGeom prst="line">
            <a:avLst/>
          </a:prstGeom>
          <a:noFill/>
          <a:ln w="21431">
            <a:solidFill>
              <a:srgbClr val="138808"/>
            </a:solidFill>
            <a:prstDash val="solid"/>
          </a:ln>
        </p:spPr>
      </p:sp>
      <p:sp>
        <p:nvSpPr>
          <p:cNvPr id="81" name="Text 79"/>
          <p:cNvSpPr/>
          <p:nvPr/>
        </p:nvSpPr>
        <p:spPr>
          <a:xfrm>
            <a:off x="5350669" y="3666865"/>
            <a:ext cx="3100388" cy="208312"/>
          </a:xfrm>
          <a:prstGeom prst="rect">
            <a:avLst/>
          </a:prstGeom>
          <a:noFill/>
          <a:ln/>
        </p:spPr>
        <p:txBody>
          <a:bodyPr wrap="none" lIns="0" tIns="0" rIns="0" bIns="0" rtlCol="0" anchor="t"/>
          <a:lstStyle/>
          <a:p>
            <a:pPr algn="l" indent="0" marL="0">
              <a:lnSpc>
                <a:spcPts val="1519"/>
              </a:lnSpc>
              <a:buNone/>
            </a:pPr>
            <a:r>
              <a:rPr lang="en-US" sz="1013" b="1" dirty="0">
                <a:solidFill>
                  <a:srgbClr val="138808"/>
                </a:solidFill>
                <a:latin typeface="Carlito" pitchFamily="34" charset="0"/>
                <a:ea typeface="Carlito" pitchFamily="34" charset="-122"/>
                <a:cs typeface="Carlito" pitchFamily="34" charset="-120"/>
              </a:rPr>
              <a:t>ALERT</a:t>
            </a:r>
            <a:endParaRPr lang="en-US" sz="1013" dirty="0"/>
          </a:p>
        </p:txBody>
      </p:sp>
      <p:sp>
        <p:nvSpPr>
          <p:cNvPr id="82" name="Text 80"/>
          <p:cNvSpPr/>
          <p:nvPr/>
        </p:nvSpPr>
        <p:spPr>
          <a:xfrm>
            <a:off x="5350669" y="3902608"/>
            <a:ext cx="3210115" cy="160734"/>
          </a:xfrm>
          <a:prstGeom prst="rect">
            <a:avLst/>
          </a:prstGeom>
          <a:noFill/>
          <a:ln/>
        </p:spPr>
        <p:txBody>
          <a:bodyPr wrap="square" lIns="0" tIns="0" rIns="0" bIns="0" rtlCol="0" anchor="t"/>
          <a:lstStyle/>
          <a:p>
            <a:pPr algn="l" indent="0" marL="0">
              <a:lnSpc>
                <a:spcPts val="1266"/>
              </a:lnSpc>
              <a:buNone/>
            </a:pPr>
            <a:r>
              <a:rPr lang="en-US" sz="844" dirty="0">
                <a:solidFill>
                  <a:srgbClr val="D1D5DB"/>
                </a:solidFill>
                <a:latin typeface="Carlito" pitchFamily="34" charset="0"/>
                <a:ea typeface="Carlito" pitchFamily="34" charset="-122"/>
                <a:cs typeface="Carlito" pitchFamily="34" charset="-120"/>
              </a:rPr>
              <a:t>Push to Command Center + auto work order</a:t>
            </a:r>
            <a:endParaRPr lang="en-US" sz="844" dirty="0"/>
          </a:p>
        </p:txBody>
      </p:sp>
      <p:sp>
        <p:nvSpPr>
          <p:cNvPr id="83" name="Text 81"/>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84" name="Text 82"/>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85" name="Text 83"/>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F0F0F"/>
          </a:solidFill>
          <a:ln/>
        </p:spPr>
        <p:txBody>
          <a:bodyPr wrap="square" rtlCol="0" anchor="ctr"/>
          <a:lstStyle/>
          <a:p>
            <a:pPr indent="0" marL="0">
              <a:buNone/>
            </a:pPr>
            <a:endParaRPr lang="en-US" dirty="0"/>
          </a:p>
        </p:txBody>
      </p:sp>
      <p:sp>
        <p:nvSpPr>
          <p:cNvPr id="3" name="Text 1"/>
          <p:cNvSpPr/>
          <p:nvPr/>
        </p:nvSpPr>
        <p:spPr>
          <a:xfrm>
            <a:off x="514350" y="514350"/>
            <a:ext cx="8115300" cy="333202"/>
          </a:xfrm>
          <a:prstGeom prst="rect">
            <a:avLst/>
          </a:prstGeom>
          <a:noFill/>
          <a:ln/>
        </p:spPr>
        <p:txBody>
          <a:bodyPr wrap="square" lIns="0" tIns="0" rIns="0" bIns="0" rtlCol="0" anchor="t"/>
          <a:lstStyle/>
          <a:p>
            <a:pPr algn="l" indent="0" marL="0">
              <a:lnSpc>
                <a:spcPts val="2430"/>
              </a:lnSpc>
              <a:buNone/>
            </a:pPr>
            <a:r>
              <a:rPr lang="en-US" sz="2025" b="1" dirty="0">
                <a:solidFill>
                  <a:srgbClr val="FFFFFF"/>
                </a:solidFill>
                <a:latin typeface="Carlito" pitchFamily="34" charset="0"/>
                <a:ea typeface="Carlito" pitchFamily="34" charset="-122"/>
                <a:cs typeface="Carlito" pitchFamily="34" charset="-120"/>
              </a:rPr>
              <a:t>The Result: </a:t>
            </a:r>
            <a:pPr algn="l" indent="0" marL="0">
              <a:lnSpc>
                <a:spcPts val="2430"/>
              </a:lnSpc>
              <a:buNone/>
            </a:pPr>
            <a:r>
              <a:rPr lang="en-US" sz="2025" b="1" dirty="0">
                <a:solidFill>
                  <a:srgbClr val="FF9933"/>
                </a:solidFill>
                <a:latin typeface="Liberation Sans Narrow" pitchFamily="34" charset="0"/>
                <a:ea typeface="Liberation Sans Narrow" pitchFamily="34" charset="-122"/>
                <a:cs typeface="Liberation Sans Narrow" pitchFamily="34" charset="-120"/>
              </a:rPr>
              <a:t>86.5%</a:t>
            </a:r>
            <a:pPr algn="l" indent="0" marL="0">
              <a:lnSpc>
                <a:spcPts val="2430"/>
              </a:lnSpc>
              <a:buNone/>
            </a:pPr>
            <a:r>
              <a:rPr lang="en-US" sz="2025" b="1" dirty="0">
                <a:solidFill>
                  <a:srgbClr val="FFFFFF"/>
                </a:solidFill>
                <a:latin typeface="Carlito" pitchFamily="34" charset="0"/>
                <a:ea typeface="Carlito" pitchFamily="34" charset="-122"/>
                <a:cs typeface="Carlito" pitchFamily="34" charset="-120"/>
              </a:rPr>
              <a:t> Cost Reduction</a:t>
            </a:r>
            <a:endParaRPr lang="en-US" sz="2025" dirty="0"/>
          </a:p>
        </p:txBody>
      </p:sp>
      <p:sp>
        <p:nvSpPr>
          <p:cNvPr id="4" name="Text 2"/>
          <p:cNvSpPr/>
          <p:nvPr/>
        </p:nvSpPr>
        <p:spPr>
          <a:xfrm>
            <a:off x="517922" y="1055043"/>
            <a:ext cx="1914525" cy="964406"/>
          </a:xfrm>
          <a:prstGeom prst="roundRect">
            <a:avLst>
              <a:gd name="adj" fmla="val 15802"/>
            </a:avLst>
          </a:prstGeom>
          <a:solidFill>
            <a:srgbClr val="1A1A1A"/>
          </a:solidFill>
          <a:ln w="7144">
            <a:solidFill>
              <a:srgbClr val="EF4444"/>
            </a:solidFill>
            <a:prstDash val="solid"/>
          </a:ln>
        </p:spPr>
        <p:txBody>
          <a:bodyPr wrap="square" rtlCol="0" anchor="ctr"/>
          <a:lstStyle/>
          <a:p>
            <a:pPr indent="0" marL="0">
              <a:buNone/>
            </a:pPr>
            <a:endParaRPr lang="en-US" dirty="0"/>
          </a:p>
        </p:txBody>
      </p:sp>
      <p:sp>
        <p:nvSpPr>
          <p:cNvPr id="5" name="Text 3"/>
          <p:cNvSpPr/>
          <p:nvPr/>
        </p:nvSpPr>
        <p:spPr>
          <a:xfrm>
            <a:off x="764540" y="1215777"/>
            <a:ext cx="1421178" cy="486061"/>
          </a:xfrm>
          <a:prstGeom prst="rect">
            <a:avLst/>
          </a:prstGeom>
          <a:noFill/>
          <a:ln/>
        </p:spPr>
        <p:txBody>
          <a:bodyPr wrap="none" lIns="0" tIns="0" rIns="0" bIns="0" rtlCol="0" anchor="t"/>
          <a:lstStyle/>
          <a:p>
            <a:pPr algn="ctr" indent="0" marL="0">
              <a:lnSpc>
                <a:spcPts val="3544"/>
              </a:lnSpc>
              <a:buNone/>
            </a:pPr>
            <a:r>
              <a:rPr lang="en-US" sz="2363" b="1" dirty="0">
                <a:solidFill>
                  <a:srgbClr val="EF4444"/>
                </a:solidFill>
                <a:latin typeface="Liberation Sans Narrow" pitchFamily="34" charset="0"/>
                <a:ea typeface="Liberation Sans Narrow" pitchFamily="34" charset="-122"/>
                <a:cs typeface="Liberation Sans Narrow" pitchFamily="34" charset="-120"/>
              </a:rPr>
              <a:t>₹104 Cr</a:t>
            </a:r>
            <a:endParaRPr lang="en-US" sz="2363" dirty="0"/>
          </a:p>
        </p:txBody>
      </p:sp>
      <p:sp>
        <p:nvSpPr>
          <p:cNvPr id="6" name="Text 4"/>
          <p:cNvSpPr/>
          <p:nvPr/>
        </p:nvSpPr>
        <p:spPr>
          <a:xfrm>
            <a:off x="664369" y="1708696"/>
            <a:ext cx="1621631" cy="150019"/>
          </a:xfrm>
          <a:prstGeom prst="rect">
            <a:avLst/>
          </a:prstGeom>
          <a:noFill/>
          <a:ln/>
        </p:spPr>
        <p:txBody>
          <a:bodyPr wrap="none" lIns="0" tIns="0" rIns="0" bIns="0" rtlCol="0" anchor="t"/>
          <a:lstStyle/>
          <a:p>
            <a:pPr algn="ctr" indent="0" marL="0">
              <a:lnSpc>
                <a:spcPts val="1181"/>
              </a:lnSpc>
              <a:buNone/>
            </a:pPr>
            <a:r>
              <a:rPr lang="en-US" sz="800" dirty="0">
                <a:solidFill>
                  <a:srgbClr val="9CA3AF"/>
                </a:solidFill>
                <a:latin typeface="Carlito" pitchFamily="34" charset="0"/>
                <a:ea typeface="Carlito" pitchFamily="34" charset="-122"/>
                <a:cs typeface="Carlito" pitchFamily="34" charset="-120"/>
              </a:rPr>
              <a:t>Current Cost</a:t>
            </a:r>
            <a:endParaRPr lang="en-US" sz="800" dirty="0"/>
          </a:p>
        </p:txBody>
      </p:sp>
      <p:sp>
        <p:nvSpPr>
          <p:cNvPr id="7" name="Text 5"/>
          <p:cNvSpPr/>
          <p:nvPr/>
        </p:nvSpPr>
        <p:spPr>
          <a:xfrm>
            <a:off x="2582466" y="1055043"/>
            <a:ext cx="1914525" cy="964406"/>
          </a:xfrm>
          <a:prstGeom prst="roundRect">
            <a:avLst>
              <a:gd name="adj" fmla="val 15802"/>
            </a:avLst>
          </a:prstGeom>
          <a:solidFill>
            <a:srgbClr val="1A1A1A"/>
          </a:solidFill>
          <a:ln w="7144">
            <a:solidFill>
              <a:srgbClr val="138808"/>
            </a:solidFill>
            <a:prstDash val="solid"/>
          </a:ln>
        </p:spPr>
        <p:txBody>
          <a:bodyPr wrap="square" rtlCol="0" anchor="ctr"/>
          <a:lstStyle/>
          <a:p>
            <a:pPr indent="0" marL="0">
              <a:buNone/>
            </a:pPr>
            <a:endParaRPr lang="en-US" dirty="0"/>
          </a:p>
        </p:txBody>
      </p:sp>
      <p:sp>
        <p:nvSpPr>
          <p:cNvPr id="8" name="Text 6"/>
          <p:cNvSpPr/>
          <p:nvPr/>
        </p:nvSpPr>
        <p:spPr>
          <a:xfrm>
            <a:off x="2728913" y="1215777"/>
            <a:ext cx="1621631" cy="465487"/>
          </a:xfrm>
          <a:prstGeom prst="rect">
            <a:avLst/>
          </a:prstGeom>
          <a:noFill/>
          <a:ln/>
        </p:spPr>
        <p:txBody>
          <a:bodyPr wrap="none" lIns="0" tIns="0" rIns="0" bIns="0" rtlCol="0" anchor="t">
            <a:normAutofit/>
          </a:bodyPr>
          <a:lstStyle/>
          <a:p>
            <a:pPr algn="ctr" indent="0" marL="0">
              <a:lnSpc>
                <a:spcPts val="3544"/>
              </a:lnSpc>
              <a:buNone/>
            </a:pPr>
            <a:r>
              <a:rPr lang="en-US" sz="2363" b="1" dirty="0">
                <a:solidFill>
                  <a:srgbClr val="138808"/>
                </a:solidFill>
                <a:latin typeface="Liberation Sans Narrow" pitchFamily="34" charset="0"/>
                <a:ea typeface="Liberation Sans Narrow" pitchFamily="34" charset="-122"/>
                <a:cs typeface="Liberation Sans Narrow" pitchFamily="34" charset="-120"/>
              </a:rPr>
              <a:t>₹43 Cr</a:t>
            </a:r>
            <a:endParaRPr lang="en-US" sz="2363" dirty="0"/>
          </a:p>
        </p:txBody>
      </p:sp>
      <p:sp>
        <p:nvSpPr>
          <p:cNvPr id="9" name="Text 7"/>
          <p:cNvSpPr/>
          <p:nvPr/>
        </p:nvSpPr>
        <p:spPr>
          <a:xfrm>
            <a:off x="2728913" y="1708696"/>
            <a:ext cx="1621631" cy="150019"/>
          </a:xfrm>
          <a:prstGeom prst="rect">
            <a:avLst/>
          </a:prstGeom>
          <a:noFill/>
          <a:ln/>
        </p:spPr>
        <p:txBody>
          <a:bodyPr wrap="none" lIns="0" tIns="0" rIns="0" bIns="0" rtlCol="0" anchor="t"/>
          <a:lstStyle/>
          <a:p>
            <a:pPr algn="ctr" indent="0" marL="0">
              <a:lnSpc>
                <a:spcPts val="1181"/>
              </a:lnSpc>
              <a:buNone/>
            </a:pPr>
            <a:r>
              <a:rPr lang="en-US" sz="800" dirty="0">
                <a:solidFill>
                  <a:srgbClr val="9CA3AF"/>
                </a:solidFill>
                <a:latin typeface="Carlito" pitchFamily="34" charset="0"/>
                <a:ea typeface="Carlito" pitchFamily="34" charset="-122"/>
                <a:cs typeface="Carlito" pitchFamily="34" charset="-120"/>
              </a:rPr>
              <a:t>With Dhvani</a:t>
            </a:r>
            <a:endParaRPr lang="en-US" sz="800" dirty="0"/>
          </a:p>
        </p:txBody>
      </p:sp>
      <p:sp>
        <p:nvSpPr>
          <p:cNvPr id="10" name="Text 8"/>
          <p:cNvSpPr/>
          <p:nvPr/>
        </p:nvSpPr>
        <p:spPr>
          <a:xfrm>
            <a:off x="4647009" y="1055043"/>
            <a:ext cx="1914525" cy="964406"/>
          </a:xfrm>
          <a:prstGeom prst="roundRect">
            <a:avLst>
              <a:gd name="adj" fmla="val 15802"/>
            </a:avLst>
          </a:prstGeom>
          <a:solidFill>
            <a:srgbClr val="1A1A1A"/>
          </a:solidFill>
          <a:ln w="7144">
            <a:solidFill>
              <a:srgbClr val="FF9933"/>
            </a:solidFill>
            <a:prstDash val="solid"/>
          </a:ln>
        </p:spPr>
        <p:txBody>
          <a:bodyPr wrap="square" rtlCol="0" anchor="ctr"/>
          <a:lstStyle/>
          <a:p>
            <a:pPr indent="0" marL="0">
              <a:buNone/>
            </a:pPr>
            <a:endParaRPr lang="en-US" dirty="0"/>
          </a:p>
        </p:txBody>
      </p:sp>
      <p:sp>
        <p:nvSpPr>
          <p:cNvPr id="11" name="Text 9"/>
          <p:cNvSpPr/>
          <p:nvPr/>
        </p:nvSpPr>
        <p:spPr>
          <a:xfrm>
            <a:off x="4793456" y="1215777"/>
            <a:ext cx="1621631" cy="465487"/>
          </a:xfrm>
          <a:prstGeom prst="rect">
            <a:avLst/>
          </a:prstGeom>
          <a:noFill/>
          <a:ln/>
        </p:spPr>
        <p:txBody>
          <a:bodyPr wrap="none" lIns="0" tIns="0" rIns="0" bIns="0" rtlCol="0" anchor="t">
            <a:normAutofit/>
          </a:bodyPr>
          <a:lstStyle/>
          <a:p>
            <a:pPr algn="ctr" indent="0" marL="0">
              <a:lnSpc>
                <a:spcPts val="3544"/>
              </a:lnSpc>
              <a:buNone/>
            </a:pPr>
            <a:r>
              <a:rPr lang="en-US" sz="2363" b="1" dirty="0">
                <a:solidFill>
                  <a:srgbClr val="FF9933"/>
                </a:solidFill>
                <a:latin typeface="Liberation Sans Narrow" pitchFamily="34" charset="0"/>
                <a:ea typeface="Liberation Sans Narrow" pitchFamily="34" charset="-122"/>
                <a:cs typeface="Liberation Sans Narrow" pitchFamily="34" charset="-120"/>
              </a:rPr>
              <a:t>86.5%</a:t>
            </a:r>
            <a:endParaRPr lang="en-US" sz="2363" dirty="0"/>
          </a:p>
        </p:txBody>
      </p:sp>
      <p:sp>
        <p:nvSpPr>
          <p:cNvPr id="12" name="Text 10"/>
          <p:cNvSpPr/>
          <p:nvPr/>
        </p:nvSpPr>
        <p:spPr>
          <a:xfrm>
            <a:off x="4793456" y="1708696"/>
            <a:ext cx="1621631" cy="150019"/>
          </a:xfrm>
          <a:prstGeom prst="rect">
            <a:avLst/>
          </a:prstGeom>
          <a:noFill/>
          <a:ln/>
        </p:spPr>
        <p:txBody>
          <a:bodyPr wrap="none" lIns="0" tIns="0" rIns="0" bIns="0" rtlCol="0" anchor="t"/>
          <a:lstStyle/>
          <a:p>
            <a:pPr algn="ctr" indent="0" marL="0">
              <a:lnSpc>
                <a:spcPts val="1181"/>
              </a:lnSpc>
              <a:buNone/>
            </a:pPr>
            <a:r>
              <a:rPr lang="en-US" sz="800" dirty="0">
                <a:solidFill>
                  <a:srgbClr val="9CA3AF"/>
                </a:solidFill>
                <a:latin typeface="Carlito" pitchFamily="34" charset="0"/>
                <a:ea typeface="Carlito" pitchFamily="34" charset="-122"/>
                <a:cs typeface="Carlito" pitchFamily="34" charset="-120"/>
              </a:rPr>
              <a:t>Savings</a:t>
            </a:r>
            <a:endParaRPr lang="en-US" sz="800" dirty="0"/>
          </a:p>
        </p:txBody>
      </p:sp>
      <p:sp>
        <p:nvSpPr>
          <p:cNvPr id="13" name="Text 11"/>
          <p:cNvSpPr/>
          <p:nvPr/>
        </p:nvSpPr>
        <p:spPr>
          <a:xfrm>
            <a:off x="6711553" y="1055043"/>
            <a:ext cx="1914525" cy="964406"/>
          </a:xfrm>
          <a:prstGeom prst="roundRect">
            <a:avLst>
              <a:gd name="adj" fmla="val 15802"/>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14" name="Text 12"/>
          <p:cNvSpPr/>
          <p:nvPr/>
        </p:nvSpPr>
        <p:spPr>
          <a:xfrm>
            <a:off x="6858000" y="1215777"/>
            <a:ext cx="1621631" cy="465487"/>
          </a:xfrm>
          <a:prstGeom prst="rect">
            <a:avLst/>
          </a:prstGeom>
          <a:noFill/>
          <a:ln/>
        </p:spPr>
        <p:txBody>
          <a:bodyPr wrap="none" lIns="0" tIns="0" rIns="0" bIns="0" rtlCol="0" anchor="t">
            <a:normAutofit/>
          </a:bodyPr>
          <a:lstStyle/>
          <a:p>
            <a:pPr algn="ctr" indent="0" marL="0">
              <a:lnSpc>
                <a:spcPts val="3544"/>
              </a:lnSpc>
              <a:buNone/>
            </a:pPr>
            <a:r>
              <a:rPr lang="en-US" sz="2363" b="1" dirty="0">
                <a:solidFill>
                  <a:srgbClr val="FFFFFF"/>
                </a:solidFill>
                <a:latin typeface="Liberation Sans Narrow" pitchFamily="34" charset="0"/>
                <a:ea typeface="Liberation Sans Narrow" pitchFamily="34" charset="-122"/>
                <a:cs typeface="Liberation Sans Narrow" pitchFamily="34" charset="-120"/>
              </a:rPr>
              <a:t>8.5 mo</a:t>
            </a:r>
            <a:endParaRPr lang="en-US" sz="2363" dirty="0"/>
          </a:p>
        </p:txBody>
      </p:sp>
      <p:sp>
        <p:nvSpPr>
          <p:cNvPr id="15" name="Text 13"/>
          <p:cNvSpPr/>
          <p:nvPr/>
        </p:nvSpPr>
        <p:spPr>
          <a:xfrm>
            <a:off x="6858000" y="1708696"/>
            <a:ext cx="1621631" cy="150019"/>
          </a:xfrm>
          <a:prstGeom prst="rect">
            <a:avLst/>
          </a:prstGeom>
          <a:noFill/>
          <a:ln/>
        </p:spPr>
        <p:txBody>
          <a:bodyPr wrap="none" lIns="0" tIns="0" rIns="0" bIns="0" rtlCol="0" anchor="t"/>
          <a:lstStyle/>
          <a:p>
            <a:pPr algn="ctr" indent="0" marL="0">
              <a:lnSpc>
                <a:spcPts val="1181"/>
              </a:lnSpc>
              <a:buNone/>
            </a:pPr>
            <a:r>
              <a:rPr lang="en-US" sz="800" dirty="0">
                <a:solidFill>
                  <a:srgbClr val="9CA3AF"/>
                </a:solidFill>
                <a:latin typeface="Carlito" pitchFamily="34" charset="0"/>
                <a:ea typeface="Carlito" pitchFamily="34" charset="-122"/>
                <a:cs typeface="Carlito" pitchFamily="34" charset="-120"/>
              </a:rPr>
              <a:t>Payback Period</a:t>
            </a:r>
            <a:endParaRPr lang="en-US" sz="800" dirty="0"/>
          </a:p>
        </p:txBody>
      </p:sp>
      <p:sp>
        <p:nvSpPr>
          <p:cNvPr id="16" name="Text 14"/>
          <p:cNvSpPr/>
          <p:nvPr/>
        </p:nvSpPr>
        <p:spPr>
          <a:xfrm>
            <a:off x="517922" y="2255193"/>
            <a:ext cx="3943350" cy="2232422"/>
          </a:xfrm>
          <a:prstGeom prst="roundRect">
            <a:avLst>
              <a:gd name="adj" fmla="val 6827"/>
            </a:avLst>
          </a:prstGeom>
          <a:solidFill>
            <a:srgbClr val="1A1A1A"/>
          </a:solidFill>
          <a:ln w="7144">
            <a:solidFill>
              <a:srgbClr val="FFFFFF"/>
            </a:solidFill>
            <a:prstDash val="solid"/>
          </a:ln>
        </p:spPr>
        <p:txBody>
          <a:bodyPr wrap="square" rtlCol="0" anchor="ctr"/>
          <a:lstStyle/>
          <a:p>
            <a:pPr indent="0" marL="0">
              <a:buNone/>
            </a:pPr>
            <a:endParaRPr lang="en-US" dirty="0"/>
          </a:p>
        </p:txBody>
      </p:sp>
      <p:sp>
        <p:nvSpPr>
          <p:cNvPr id="17" name="Text 15"/>
          <p:cNvSpPr/>
          <p:nvPr/>
        </p:nvSpPr>
        <p:spPr>
          <a:xfrm>
            <a:off x="721519" y="2467719"/>
            <a:ext cx="285750" cy="285750"/>
          </a:xfrm>
          <a:prstGeom prst="roundRect">
            <a:avLst>
              <a:gd name="adj" fmla="val 33333"/>
            </a:avLst>
          </a:prstGeom>
          <a:solidFill>
            <a:srgbClr val="FF9933">
              <a:alpha val="12000"/>
            </a:srgbClr>
          </a:solidFill>
          <a:ln/>
        </p:spPr>
        <p:txBody>
          <a:bodyPr wrap="square" rtlCol="0" anchor="ctr"/>
          <a:lstStyle/>
          <a:p>
            <a:pPr indent="0" marL="0">
              <a:buNone/>
            </a:pPr>
            <a:endParaRPr lang="en-US" dirty="0"/>
          </a:p>
        </p:txBody>
      </p:sp>
      <p:sp>
        <p:nvSpPr>
          <p:cNvPr id="18" name="Text 16"/>
          <p:cNvSpPr/>
          <p:nvPr/>
        </p:nvSpPr>
        <p:spPr>
          <a:xfrm>
            <a:off x="750451" y="2496651"/>
            <a:ext cx="227886" cy="227886"/>
          </a:xfrm>
          <a:prstGeom prst="rect">
            <a:avLst/>
          </a:prstGeom>
          <a:noFill/>
          <a:ln/>
        </p:spPr>
        <p:txBody>
          <a:bodyPr wrap="none" lIns="0" tIns="0" rIns="0" bIns="0" rtlCol="0" anchor="ctr"/>
          <a:lstStyle/>
          <a:p>
            <a:pPr algn="ctr" indent="0" marL="0">
              <a:buNone/>
            </a:pPr>
            <a:r>
              <a:rPr lang="en-US" sz="1547" dirty="0">
                <a:solidFill>
                  <a:srgbClr val="FF9933"/>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1092994" y="2444502"/>
            <a:ext cx="1478153" cy="165449"/>
          </a:xfrm>
          <a:prstGeom prst="rect">
            <a:avLst/>
          </a:prstGeom>
          <a:noFill/>
          <a:ln/>
        </p:spPr>
        <p:txBody>
          <a:bodyPr wrap="none" lIns="0" tIns="0" rIns="0" bIns="0" rtlCol="0" anchor="t">
            <a:normAutofit/>
          </a:bodyPr>
          <a:lstStyle/>
          <a:p>
            <a:pPr algn="l" indent="0" marL="0">
              <a:lnSpc>
                <a:spcPts val="1519"/>
              </a:lnSpc>
              <a:buNone/>
            </a:pPr>
            <a:r>
              <a:rPr lang="en-US" sz="1013" b="1" dirty="0">
                <a:solidFill>
                  <a:srgbClr val="FFFFFF"/>
                </a:solidFill>
                <a:latin typeface="Carlito" pitchFamily="34" charset="0"/>
                <a:ea typeface="Carlito" pitchFamily="34" charset="-122"/>
                <a:cs typeface="Carlito" pitchFamily="34" charset="-120"/>
              </a:rPr>
              <a:t>Investment Breakdown</a:t>
            </a:r>
            <a:endParaRPr lang="en-US" sz="1013" dirty="0"/>
          </a:p>
        </p:txBody>
      </p:sp>
      <p:sp>
        <p:nvSpPr>
          <p:cNvPr id="20" name="Text 18"/>
          <p:cNvSpPr/>
          <p:nvPr/>
        </p:nvSpPr>
        <p:spPr>
          <a:xfrm>
            <a:off x="1092994" y="2637383"/>
            <a:ext cx="1649901" cy="164592"/>
          </a:xfrm>
          <a:prstGeom prst="rect">
            <a:avLst/>
          </a:prstGeom>
          <a:noFill/>
          <a:ln/>
        </p:spPr>
        <p:txBody>
          <a:bodyPr wrap="non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₹43 Cr Year 1</a:t>
            </a:r>
            <a:endParaRPr lang="en-US" sz="800" dirty="0"/>
          </a:p>
        </p:txBody>
      </p:sp>
      <p:sp>
        <p:nvSpPr>
          <p:cNvPr id="21" name="Shape 19"/>
          <p:cNvSpPr/>
          <p:nvPr/>
        </p:nvSpPr>
        <p:spPr>
          <a:xfrm>
            <a:off x="721519" y="3251746"/>
            <a:ext cx="3536156" cy="0"/>
          </a:xfrm>
          <a:prstGeom prst="line">
            <a:avLst/>
          </a:prstGeom>
          <a:noFill/>
          <a:ln w="7144">
            <a:solidFill>
              <a:srgbClr val="FFFFFF"/>
            </a:solidFill>
            <a:prstDash val="solid"/>
          </a:ln>
        </p:spPr>
      </p:sp>
      <p:sp>
        <p:nvSpPr>
          <p:cNvPr id="22" name="Text 20"/>
          <p:cNvSpPr/>
          <p:nvPr/>
        </p:nvSpPr>
        <p:spPr>
          <a:xfrm>
            <a:off x="721519" y="3012430"/>
            <a:ext cx="128588" cy="128588"/>
          </a:xfrm>
          <a:prstGeom prst="rect">
            <a:avLst/>
          </a:prstGeom>
          <a:noFill/>
          <a:ln/>
        </p:spPr>
        <p:txBody>
          <a:bodyPr wrap="none" lIns="0" tIns="0" rIns="0" bIns="0" rtlCol="0" anchor="ctr"/>
          <a:lstStyle/>
          <a:p>
            <a:pPr algn="ctr" indent="0" marL="0">
              <a:buNone/>
            </a:pPr>
            <a:r>
              <a:rPr lang="en-US" sz="1266" dirty="0">
                <a:solidFill>
                  <a:srgbClr val="FF9933"/>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921544" y="2996357"/>
            <a:ext cx="795778" cy="166092"/>
          </a:xfrm>
          <a:prstGeom prst="rect">
            <a:avLst/>
          </a:prstGeom>
          <a:noFill/>
          <a:ln/>
        </p:spPr>
        <p:txBody>
          <a:bodyPr wrap="none" lIns="0" tIns="0" rIns="0" bIns="0" rtlCol="0" anchor="t"/>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Kevlar Fabric</a:t>
            </a:r>
            <a:endParaRPr lang="en-US" sz="844" dirty="0"/>
          </a:p>
        </p:txBody>
      </p:sp>
      <p:sp>
        <p:nvSpPr>
          <p:cNvPr id="24" name="Text 22"/>
          <p:cNvSpPr/>
          <p:nvPr/>
        </p:nvSpPr>
        <p:spPr>
          <a:xfrm>
            <a:off x="3900264" y="2990999"/>
            <a:ext cx="357411" cy="171450"/>
          </a:xfrm>
          <a:prstGeom prst="rect">
            <a:avLst/>
          </a:prstGeom>
          <a:noFill/>
          <a:ln/>
        </p:spPr>
        <p:txBody>
          <a:bodyPr wrap="none" lIns="0" tIns="0" rIns="0" bIns="0" rtlCol="0" anchor="t"/>
          <a:lstStyle/>
          <a:p>
            <a:pPr algn="l" indent="0" marL="0">
              <a:lnSpc>
                <a:spcPts val="1350"/>
              </a:lnSpc>
              <a:buNone/>
            </a:pPr>
            <a:r>
              <a:rPr lang="en-US" sz="900" b="1" dirty="0">
                <a:solidFill>
                  <a:srgbClr val="FF9933"/>
                </a:solidFill>
                <a:latin typeface="Liberation Sans Narrow" pitchFamily="34" charset="0"/>
                <a:ea typeface="Liberation Sans Narrow" pitchFamily="34" charset="-122"/>
                <a:cs typeface="Liberation Sans Narrow" pitchFamily="34" charset="-120"/>
              </a:rPr>
              <a:t>₹31 Cr</a:t>
            </a:r>
            <a:endParaRPr lang="en-US" sz="900" dirty="0"/>
          </a:p>
        </p:txBody>
      </p:sp>
      <p:sp>
        <p:nvSpPr>
          <p:cNvPr id="25" name="Shape 23"/>
          <p:cNvSpPr/>
          <p:nvPr/>
        </p:nvSpPr>
        <p:spPr>
          <a:xfrm>
            <a:off x="721519" y="3601789"/>
            <a:ext cx="3536156" cy="0"/>
          </a:xfrm>
          <a:prstGeom prst="line">
            <a:avLst/>
          </a:prstGeom>
          <a:noFill/>
          <a:ln w="7144">
            <a:solidFill>
              <a:srgbClr val="FFFFFF"/>
            </a:solidFill>
            <a:prstDash val="solid"/>
          </a:ln>
        </p:spPr>
      </p:sp>
      <p:sp>
        <p:nvSpPr>
          <p:cNvPr id="26" name="Text 24"/>
          <p:cNvSpPr/>
          <p:nvPr/>
        </p:nvSpPr>
        <p:spPr>
          <a:xfrm>
            <a:off x="721519" y="3362474"/>
            <a:ext cx="128588" cy="128588"/>
          </a:xfrm>
          <a:prstGeom prst="rect">
            <a:avLst/>
          </a:prstGeom>
          <a:noFill/>
          <a:ln/>
        </p:spPr>
        <p:txBody>
          <a:bodyPr wrap="none" lIns="0" tIns="0" rIns="0" bIns="0" rtlCol="0" anchor="ctr"/>
          <a:lstStyle/>
          <a:p>
            <a:pPr algn="ctr" indent="0" marL="0">
              <a:buNone/>
            </a:pPr>
            <a:r>
              <a:rPr lang="en-US" sz="1266" dirty="0">
                <a:solidFill>
                  <a:srgbClr val="138808"/>
                </a:solidFill>
                <a:latin typeface="Segoe UI Symbol" pitchFamily="34" charset="0"/>
                <a:ea typeface="Segoe UI Symbol" pitchFamily="34" charset="-122"/>
                <a:cs typeface="Segoe UI Symbol" pitchFamily="34" charset="-120"/>
              </a:rPr>
              <a:t>✦</a:t>
            </a:r>
            <a:endParaRPr lang="en-US" sz="1266" dirty="0"/>
          </a:p>
        </p:txBody>
      </p:sp>
      <p:sp>
        <p:nvSpPr>
          <p:cNvPr id="27" name="Text 25"/>
          <p:cNvSpPr/>
          <p:nvPr/>
        </p:nvSpPr>
        <p:spPr>
          <a:xfrm>
            <a:off x="921544" y="3346400"/>
            <a:ext cx="718855" cy="166092"/>
          </a:xfrm>
          <a:prstGeom prst="rect">
            <a:avLst/>
          </a:prstGeom>
          <a:noFill/>
          <a:ln/>
        </p:spPr>
        <p:txBody>
          <a:bodyPr wrap="none" lIns="0" tIns="0" rIns="0" bIns="0" rtlCol="0" anchor="t"/>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IoT Sensors</a:t>
            </a:r>
            <a:endParaRPr lang="en-US" sz="844" dirty="0"/>
          </a:p>
        </p:txBody>
      </p:sp>
      <p:sp>
        <p:nvSpPr>
          <p:cNvPr id="28" name="Text 26"/>
          <p:cNvSpPr/>
          <p:nvPr/>
        </p:nvSpPr>
        <p:spPr>
          <a:xfrm>
            <a:off x="3868564" y="3341043"/>
            <a:ext cx="389111" cy="171450"/>
          </a:xfrm>
          <a:prstGeom prst="rect">
            <a:avLst/>
          </a:prstGeom>
          <a:noFill/>
          <a:ln/>
        </p:spPr>
        <p:txBody>
          <a:bodyPr wrap="none" lIns="0" tIns="0" rIns="0" bIns="0" rtlCol="0" anchor="t"/>
          <a:lstStyle/>
          <a:p>
            <a:pPr algn="l" indent="0" marL="0">
              <a:lnSpc>
                <a:spcPts val="1350"/>
              </a:lnSpc>
              <a:buNone/>
            </a:pPr>
            <a:r>
              <a:rPr lang="en-US" sz="900" b="1" dirty="0">
                <a:solidFill>
                  <a:srgbClr val="138808"/>
                </a:solidFill>
                <a:latin typeface="Liberation Sans Narrow" pitchFamily="34" charset="0"/>
                <a:ea typeface="Liberation Sans Narrow" pitchFamily="34" charset="-122"/>
                <a:cs typeface="Liberation Sans Narrow" pitchFamily="34" charset="-120"/>
              </a:rPr>
              <a:t>₹6.5 Cr</a:t>
            </a:r>
            <a:endParaRPr lang="en-US" sz="900" dirty="0"/>
          </a:p>
        </p:txBody>
      </p:sp>
      <p:sp>
        <p:nvSpPr>
          <p:cNvPr id="29" name="Shape 27"/>
          <p:cNvSpPr/>
          <p:nvPr/>
        </p:nvSpPr>
        <p:spPr>
          <a:xfrm>
            <a:off x="721519" y="3951833"/>
            <a:ext cx="3536156" cy="0"/>
          </a:xfrm>
          <a:prstGeom prst="line">
            <a:avLst/>
          </a:prstGeom>
          <a:noFill/>
          <a:ln w="7144">
            <a:solidFill>
              <a:srgbClr val="FFFFFF"/>
            </a:solidFill>
            <a:prstDash val="solid"/>
          </a:ln>
        </p:spPr>
      </p:sp>
      <p:sp>
        <p:nvSpPr>
          <p:cNvPr id="30" name="Text 28"/>
          <p:cNvSpPr/>
          <p:nvPr/>
        </p:nvSpPr>
        <p:spPr>
          <a:xfrm>
            <a:off x="721519" y="3712518"/>
            <a:ext cx="128588" cy="128588"/>
          </a:xfrm>
          <a:prstGeom prst="rect">
            <a:avLst/>
          </a:prstGeom>
          <a:noFill/>
          <a:ln/>
        </p:spPr>
        <p:txBody>
          <a:bodyPr wrap="none" lIns="0" tIns="0" rIns="0" bIns="0" rtlCol="0" anchor="ctr"/>
          <a:lstStyle/>
          <a:p>
            <a:pPr algn="ctr" indent="0" marL="0">
              <a:buNone/>
            </a:pPr>
            <a:r>
              <a:rPr lang="en-US" sz="1266" dirty="0">
                <a:solidFill>
                  <a:srgbClr val="FF9933"/>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921544" y="3696444"/>
            <a:ext cx="879241" cy="166092"/>
          </a:xfrm>
          <a:prstGeom prst="rect">
            <a:avLst/>
          </a:prstGeom>
          <a:noFill/>
          <a:ln/>
        </p:spPr>
        <p:txBody>
          <a:bodyPr wrap="none" lIns="0" tIns="0" rIns="0" bIns="0" rtlCol="0" anchor="t"/>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AI/CV Platform</a:t>
            </a:r>
            <a:endParaRPr lang="en-US" sz="844" dirty="0"/>
          </a:p>
        </p:txBody>
      </p:sp>
      <p:sp>
        <p:nvSpPr>
          <p:cNvPr id="32" name="Text 30"/>
          <p:cNvSpPr/>
          <p:nvPr/>
        </p:nvSpPr>
        <p:spPr>
          <a:xfrm>
            <a:off x="3868564" y="3691086"/>
            <a:ext cx="389111" cy="171450"/>
          </a:xfrm>
          <a:prstGeom prst="rect">
            <a:avLst/>
          </a:prstGeom>
          <a:noFill/>
          <a:ln/>
        </p:spPr>
        <p:txBody>
          <a:bodyPr wrap="none" lIns="0" tIns="0" rIns="0" bIns="0" rtlCol="0" anchor="t"/>
          <a:lstStyle/>
          <a:p>
            <a:pPr algn="l" indent="0" marL="0">
              <a:lnSpc>
                <a:spcPts val="1350"/>
              </a:lnSpc>
              <a:buNone/>
            </a:pPr>
            <a:r>
              <a:rPr lang="en-US" sz="900" b="1" dirty="0">
                <a:solidFill>
                  <a:srgbClr val="FF9933"/>
                </a:solidFill>
                <a:latin typeface="Liberation Sans Narrow" pitchFamily="34" charset="0"/>
                <a:ea typeface="Liberation Sans Narrow" pitchFamily="34" charset="-122"/>
                <a:cs typeface="Liberation Sans Narrow" pitchFamily="34" charset="-120"/>
              </a:rPr>
              <a:t>₹3.5 Cr</a:t>
            </a:r>
            <a:endParaRPr lang="en-US" sz="900" dirty="0"/>
          </a:p>
        </p:txBody>
      </p:sp>
      <p:sp>
        <p:nvSpPr>
          <p:cNvPr id="33" name="Text 31"/>
          <p:cNvSpPr/>
          <p:nvPr/>
        </p:nvSpPr>
        <p:spPr>
          <a:xfrm>
            <a:off x="721519" y="4062561"/>
            <a:ext cx="128588" cy="128588"/>
          </a:xfrm>
          <a:prstGeom prst="rect">
            <a:avLst/>
          </a:prstGeom>
          <a:noFill/>
          <a:ln/>
        </p:spPr>
        <p:txBody>
          <a:bodyPr wrap="none" lIns="0" tIns="0" rIns="0" bIns="0" rtlCol="0" anchor="ctr"/>
          <a:lstStyle/>
          <a:p>
            <a:pPr algn="ctr" indent="0" marL="0">
              <a:buNone/>
            </a:pPr>
            <a:r>
              <a:rPr lang="en-US" sz="1266" dirty="0">
                <a:solidFill>
                  <a:srgbClr val="9CA3AF"/>
                </a:solidFill>
                <a:latin typeface="Segoe UI Symbol" pitchFamily="34" charset="0"/>
                <a:ea typeface="Segoe UI Symbol" pitchFamily="34" charset="-122"/>
                <a:cs typeface="Segoe UI Symbol" pitchFamily="34" charset="-120"/>
              </a:rPr>
              <a:t>▢</a:t>
            </a:r>
            <a:endParaRPr lang="en-US" sz="1266" dirty="0"/>
          </a:p>
        </p:txBody>
      </p:sp>
      <p:sp>
        <p:nvSpPr>
          <p:cNvPr id="34" name="Text 32"/>
          <p:cNvSpPr/>
          <p:nvPr/>
        </p:nvSpPr>
        <p:spPr>
          <a:xfrm>
            <a:off x="921544" y="4046488"/>
            <a:ext cx="1161943" cy="173593"/>
          </a:xfrm>
          <a:prstGeom prst="rect">
            <a:avLst/>
          </a:prstGeom>
          <a:noFill/>
          <a:ln/>
        </p:spPr>
        <p:txBody>
          <a:bodyPr wrap="none" lIns="0" tIns="0" rIns="0" bIns="0" rtlCol="0" anchor="t"/>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Software + Training</a:t>
            </a:r>
            <a:endParaRPr lang="en-US" sz="844" dirty="0"/>
          </a:p>
        </p:txBody>
      </p:sp>
      <p:sp>
        <p:nvSpPr>
          <p:cNvPr id="35" name="Text 33"/>
          <p:cNvSpPr/>
          <p:nvPr/>
        </p:nvSpPr>
        <p:spPr>
          <a:xfrm>
            <a:off x="3963888" y="4041130"/>
            <a:ext cx="293787"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₹2 Cr</a:t>
            </a:r>
            <a:endParaRPr lang="en-US" sz="900" dirty="0"/>
          </a:p>
        </p:txBody>
      </p:sp>
      <p:sp>
        <p:nvSpPr>
          <p:cNvPr id="36" name="Text 34"/>
          <p:cNvSpPr/>
          <p:nvPr/>
        </p:nvSpPr>
        <p:spPr>
          <a:xfrm>
            <a:off x="4664869" y="2251621"/>
            <a:ext cx="3964781" cy="2239566"/>
          </a:xfrm>
          <a:prstGeom prst="roundRect">
            <a:avLst>
              <a:gd name="adj" fmla="val 6805"/>
            </a:avLst>
          </a:prstGeom>
          <a:solidFill>
            <a:srgbClr val="1A1A1A"/>
          </a:solidFill>
          <a:ln/>
        </p:spPr>
        <p:txBody>
          <a:bodyPr wrap="square" rtlCol="0" anchor="ctr"/>
          <a:lstStyle/>
          <a:p>
            <a:pPr indent="0" marL="0">
              <a:buNone/>
            </a:pPr>
            <a:endParaRPr lang="en-US" dirty="0"/>
          </a:p>
        </p:txBody>
      </p:sp>
      <p:sp>
        <p:nvSpPr>
          <p:cNvPr id="37" name="Shape 35"/>
          <p:cNvSpPr/>
          <p:nvPr/>
        </p:nvSpPr>
        <p:spPr>
          <a:xfrm>
            <a:off x="4664869" y="2255193"/>
            <a:ext cx="3964781" cy="0"/>
          </a:xfrm>
          <a:prstGeom prst="line">
            <a:avLst/>
          </a:prstGeom>
          <a:noFill/>
          <a:ln w="7144">
            <a:solidFill>
              <a:srgbClr val="FFFFFF"/>
            </a:solidFill>
            <a:prstDash val="solid"/>
          </a:ln>
        </p:spPr>
      </p:sp>
      <p:sp>
        <p:nvSpPr>
          <p:cNvPr id="38" name="Shape 36"/>
          <p:cNvSpPr/>
          <p:nvPr/>
        </p:nvSpPr>
        <p:spPr>
          <a:xfrm>
            <a:off x="8626078" y="2251621"/>
            <a:ext cx="0" cy="2239566"/>
          </a:xfrm>
          <a:prstGeom prst="line">
            <a:avLst/>
          </a:prstGeom>
          <a:noFill/>
          <a:ln w="7144">
            <a:solidFill>
              <a:srgbClr val="FFFFFF"/>
            </a:solidFill>
            <a:prstDash val="solid"/>
          </a:ln>
        </p:spPr>
      </p:sp>
      <p:sp>
        <p:nvSpPr>
          <p:cNvPr id="39" name="Shape 37"/>
          <p:cNvSpPr/>
          <p:nvPr/>
        </p:nvSpPr>
        <p:spPr>
          <a:xfrm>
            <a:off x="4664869" y="4487614"/>
            <a:ext cx="3964781" cy="0"/>
          </a:xfrm>
          <a:prstGeom prst="line">
            <a:avLst/>
          </a:prstGeom>
          <a:noFill/>
          <a:ln w="7144">
            <a:solidFill>
              <a:srgbClr val="FFFFFF"/>
            </a:solidFill>
            <a:prstDash val="solid"/>
          </a:ln>
        </p:spPr>
      </p:sp>
      <p:sp>
        <p:nvSpPr>
          <p:cNvPr id="40" name="Shape 38"/>
          <p:cNvSpPr/>
          <p:nvPr/>
        </p:nvSpPr>
        <p:spPr>
          <a:xfrm>
            <a:off x="4675584" y="2251621"/>
            <a:ext cx="0" cy="2239566"/>
          </a:xfrm>
          <a:prstGeom prst="line">
            <a:avLst/>
          </a:prstGeom>
          <a:noFill/>
          <a:ln w="21431">
            <a:solidFill>
              <a:srgbClr val="138808"/>
            </a:solidFill>
            <a:prstDash val="solid"/>
          </a:ln>
        </p:spPr>
      </p:sp>
      <p:sp>
        <p:nvSpPr>
          <p:cNvPr id="41" name="Text 39"/>
          <p:cNvSpPr/>
          <p:nvPr/>
        </p:nvSpPr>
        <p:spPr>
          <a:xfrm>
            <a:off x="4886325" y="2444502"/>
            <a:ext cx="285750" cy="285750"/>
          </a:xfrm>
          <a:prstGeom prst="roundRect">
            <a:avLst>
              <a:gd name="adj" fmla="val 33333"/>
            </a:avLst>
          </a:prstGeom>
          <a:solidFill>
            <a:srgbClr val="138808">
              <a:alpha val="12000"/>
            </a:srgbClr>
          </a:solidFill>
          <a:ln/>
        </p:spPr>
        <p:txBody>
          <a:bodyPr wrap="square" rtlCol="0" anchor="ctr"/>
          <a:lstStyle/>
          <a:p>
            <a:pPr indent="0" marL="0">
              <a:buNone/>
            </a:pPr>
            <a:endParaRPr lang="en-US" dirty="0"/>
          </a:p>
        </p:txBody>
      </p:sp>
      <p:sp>
        <p:nvSpPr>
          <p:cNvPr id="42" name="Text 40"/>
          <p:cNvSpPr/>
          <p:nvPr/>
        </p:nvSpPr>
        <p:spPr>
          <a:xfrm>
            <a:off x="4915257" y="2473434"/>
            <a:ext cx="227886" cy="227886"/>
          </a:xfrm>
          <a:prstGeom prst="rect">
            <a:avLst/>
          </a:prstGeom>
          <a:noFill/>
          <a:ln/>
        </p:spPr>
        <p:txBody>
          <a:bodyPr wrap="none" lIns="0" tIns="0" rIns="0" bIns="0" rtlCol="0" anchor="ctr"/>
          <a:lstStyle/>
          <a:p>
            <a:pPr algn="ctr" indent="0" marL="0">
              <a:buNone/>
            </a:pPr>
            <a:r>
              <a:rPr lang="en-US" sz="1547" dirty="0">
                <a:solidFill>
                  <a:srgbClr val="138808"/>
                </a:solidFill>
                <a:latin typeface="Segoe UI Symbol" pitchFamily="34" charset="0"/>
                <a:ea typeface="Segoe UI Symbol" pitchFamily="34" charset="-122"/>
                <a:cs typeface="Segoe UI Symbol" pitchFamily="34" charset="-120"/>
              </a:rPr>
              <a:t>↗</a:t>
            </a:r>
            <a:endParaRPr lang="en-US" sz="1547" dirty="0"/>
          </a:p>
        </p:txBody>
      </p:sp>
      <p:sp>
        <p:nvSpPr>
          <p:cNvPr id="43" name="Text 41"/>
          <p:cNvSpPr/>
          <p:nvPr/>
        </p:nvSpPr>
        <p:spPr>
          <a:xfrm>
            <a:off x="5257800" y="2490936"/>
            <a:ext cx="3164681"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5-Year Impact</a:t>
            </a:r>
            <a:endParaRPr lang="en-US" sz="1013" dirty="0"/>
          </a:p>
        </p:txBody>
      </p:sp>
      <p:sp>
        <p:nvSpPr>
          <p:cNvPr id="44" name="Text 42"/>
          <p:cNvSpPr/>
          <p:nvPr/>
        </p:nvSpPr>
        <p:spPr>
          <a:xfrm>
            <a:off x="4886325" y="2858839"/>
            <a:ext cx="3536156" cy="682228"/>
          </a:xfrm>
          <a:prstGeom prst="roundRect">
            <a:avLst>
              <a:gd name="adj" fmla="val 16754"/>
            </a:avLst>
          </a:prstGeom>
          <a:solidFill>
            <a:srgbClr val="138808">
              <a:alpha val="8000"/>
            </a:srgbClr>
          </a:solidFill>
          <a:ln/>
        </p:spPr>
        <p:txBody>
          <a:bodyPr wrap="square" rtlCol="0" anchor="ctr"/>
          <a:lstStyle/>
          <a:p>
            <a:pPr indent="0" marL="0">
              <a:buNone/>
            </a:pPr>
            <a:endParaRPr lang="en-US" dirty="0"/>
          </a:p>
        </p:txBody>
      </p:sp>
      <p:sp>
        <p:nvSpPr>
          <p:cNvPr id="45" name="Text 43"/>
          <p:cNvSpPr/>
          <p:nvPr/>
        </p:nvSpPr>
        <p:spPr>
          <a:xfrm>
            <a:off x="5029200" y="2987427"/>
            <a:ext cx="3360134" cy="140446"/>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5-Year Cumulative Savings</a:t>
            </a:r>
            <a:endParaRPr lang="en-US" sz="800" dirty="0"/>
          </a:p>
        </p:txBody>
      </p:sp>
      <p:sp>
        <p:nvSpPr>
          <p:cNvPr id="46" name="Text 44"/>
          <p:cNvSpPr/>
          <p:nvPr/>
        </p:nvSpPr>
        <p:spPr>
          <a:xfrm>
            <a:off x="5029200" y="3155305"/>
            <a:ext cx="3250406" cy="257175"/>
          </a:xfrm>
          <a:prstGeom prst="rect">
            <a:avLst/>
          </a:prstGeom>
          <a:noFill/>
          <a:ln/>
        </p:spPr>
        <p:txBody>
          <a:bodyPr wrap="none" lIns="0" tIns="0" rIns="0" bIns="0" rtlCol="0" anchor="t"/>
          <a:lstStyle/>
          <a:p>
            <a:pPr algn="l" indent="0" marL="0">
              <a:lnSpc>
                <a:spcPts val="2025"/>
              </a:lnSpc>
              <a:buNone/>
            </a:pPr>
            <a:r>
              <a:rPr lang="en-US" sz="2025" b="1" dirty="0">
                <a:solidFill>
                  <a:srgbClr val="138808"/>
                </a:solidFill>
                <a:latin typeface="Liberation Sans Narrow" pitchFamily="34" charset="0"/>
                <a:ea typeface="Liberation Sans Narrow" pitchFamily="34" charset="-122"/>
                <a:cs typeface="Liberation Sans Narrow" pitchFamily="34" charset="-120"/>
              </a:rPr>
              <a:t>₹305 Cr</a:t>
            </a:r>
            <a:endParaRPr lang="en-US" sz="2025" dirty="0"/>
          </a:p>
        </p:txBody>
      </p:sp>
      <p:sp>
        <p:nvSpPr>
          <p:cNvPr id="47" name="Text 45"/>
          <p:cNvSpPr/>
          <p:nvPr/>
        </p:nvSpPr>
        <p:spPr>
          <a:xfrm>
            <a:off x="4886325" y="3641080"/>
            <a:ext cx="1718072" cy="610791"/>
          </a:xfrm>
          <a:prstGeom prst="roundRect">
            <a:avLst>
              <a:gd name="adj" fmla="val 18713"/>
            </a:avLst>
          </a:prstGeom>
          <a:solidFill>
            <a:srgbClr val="FF9933">
              <a:alpha val="8000"/>
            </a:srgbClr>
          </a:solidFill>
          <a:ln/>
        </p:spPr>
        <p:txBody>
          <a:bodyPr wrap="square" rtlCol="0" anchor="ctr"/>
          <a:lstStyle/>
          <a:p>
            <a:pPr indent="0" marL="0">
              <a:buNone/>
            </a:pPr>
            <a:endParaRPr lang="en-US" dirty="0"/>
          </a:p>
        </p:txBody>
      </p:sp>
      <p:sp>
        <p:nvSpPr>
          <p:cNvPr id="48" name="Text 46"/>
          <p:cNvSpPr/>
          <p:nvPr/>
        </p:nvSpPr>
        <p:spPr>
          <a:xfrm>
            <a:off x="5014913" y="3755380"/>
            <a:ext cx="1460897" cy="140446"/>
          </a:xfrm>
          <a:prstGeom prst="rect">
            <a:avLst/>
          </a:prstGeom>
          <a:noFill/>
          <a:ln/>
        </p:spPr>
        <p:txBody>
          <a:bodyPr wrap="none" lIns="0" tIns="0" rIns="0" bIns="0" rtlCol="0" anchor="t">
            <a:normAutofit/>
          </a:bodyPr>
          <a:lstStyle/>
          <a:p>
            <a:pPr algn="ctr" indent="0" marL="0">
              <a:lnSpc>
                <a:spcPts val="1097"/>
              </a:lnSpc>
              <a:buNone/>
            </a:pPr>
            <a:r>
              <a:rPr lang="en-US" sz="800" dirty="0">
                <a:solidFill>
                  <a:srgbClr val="9CA3AF"/>
                </a:solidFill>
                <a:latin typeface="Carlito" pitchFamily="34" charset="0"/>
                <a:ea typeface="Carlito" pitchFamily="34" charset="-122"/>
                <a:cs typeface="Carlito" pitchFamily="34" charset="-120"/>
              </a:rPr>
              <a:t>ROI</a:t>
            </a:r>
            <a:endParaRPr lang="en-US" sz="800" dirty="0"/>
          </a:p>
        </p:txBody>
      </p:sp>
      <p:sp>
        <p:nvSpPr>
          <p:cNvPr id="49" name="Text 47"/>
          <p:cNvSpPr/>
          <p:nvPr/>
        </p:nvSpPr>
        <p:spPr>
          <a:xfrm>
            <a:off x="5014913" y="3923258"/>
            <a:ext cx="1460897" cy="214313"/>
          </a:xfrm>
          <a:prstGeom prst="rect">
            <a:avLst/>
          </a:prstGeom>
          <a:noFill/>
          <a:ln/>
        </p:spPr>
        <p:txBody>
          <a:bodyPr wrap="none" lIns="0" tIns="0" rIns="0" bIns="0" rtlCol="0" anchor="t"/>
          <a:lstStyle/>
          <a:p>
            <a:pPr algn="ctr" indent="0" marL="0">
              <a:lnSpc>
                <a:spcPts val="1688"/>
              </a:lnSpc>
              <a:buNone/>
            </a:pPr>
            <a:r>
              <a:rPr lang="en-US" sz="1688" b="1" dirty="0">
                <a:solidFill>
                  <a:srgbClr val="FF9933"/>
                </a:solidFill>
                <a:latin typeface="Liberation Sans Narrow" pitchFamily="34" charset="0"/>
                <a:ea typeface="Liberation Sans Narrow" pitchFamily="34" charset="-122"/>
                <a:cs typeface="Liberation Sans Narrow" pitchFamily="34" charset="-120"/>
              </a:rPr>
              <a:t>7.1x</a:t>
            </a:r>
            <a:endParaRPr lang="en-US" sz="1688" dirty="0"/>
          </a:p>
        </p:txBody>
      </p:sp>
      <p:sp>
        <p:nvSpPr>
          <p:cNvPr id="50" name="Text 48"/>
          <p:cNvSpPr/>
          <p:nvPr/>
        </p:nvSpPr>
        <p:spPr>
          <a:xfrm>
            <a:off x="6704409" y="3641080"/>
            <a:ext cx="1718072" cy="610791"/>
          </a:xfrm>
          <a:prstGeom prst="roundRect">
            <a:avLst>
              <a:gd name="adj" fmla="val 18713"/>
            </a:avLst>
          </a:prstGeom>
          <a:solidFill>
            <a:srgbClr val="FFFFFF">
              <a:alpha val="4000"/>
            </a:srgbClr>
          </a:solidFill>
          <a:ln/>
        </p:spPr>
        <p:txBody>
          <a:bodyPr wrap="square" rtlCol="0" anchor="ctr"/>
          <a:lstStyle/>
          <a:p>
            <a:pPr indent="0" marL="0">
              <a:buNone/>
            </a:pPr>
            <a:endParaRPr lang="en-US" dirty="0"/>
          </a:p>
        </p:txBody>
      </p:sp>
      <p:sp>
        <p:nvSpPr>
          <p:cNvPr id="51" name="Text 49"/>
          <p:cNvSpPr/>
          <p:nvPr/>
        </p:nvSpPr>
        <p:spPr>
          <a:xfrm>
            <a:off x="6832997" y="3755380"/>
            <a:ext cx="1460897" cy="140446"/>
          </a:xfrm>
          <a:prstGeom prst="rect">
            <a:avLst/>
          </a:prstGeom>
          <a:noFill/>
          <a:ln/>
        </p:spPr>
        <p:txBody>
          <a:bodyPr wrap="none" lIns="0" tIns="0" rIns="0" bIns="0" rtlCol="0" anchor="t">
            <a:normAutofit/>
          </a:bodyPr>
          <a:lstStyle/>
          <a:p>
            <a:pPr algn="ctr" indent="0" marL="0">
              <a:lnSpc>
                <a:spcPts val="1097"/>
              </a:lnSpc>
              <a:buNone/>
            </a:pPr>
            <a:r>
              <a:rPr lang="en-US" sz="800" dirty="0">
                <a:solidFill>
                  <a:srgbClr val="9CA3AF"/>
                </a:solidFill>
                <a:latin typeface="Carlito" pitchFamily="34" charset="0"/>
                <a:ea typeface="Carlito" pitchFamily="34" charset="-122"/>
                <a:cs typeface="Carlito" pitchFamily="34" charset="-120"/>
              </a:rPr>
              <a:t>Annual Savings</a:t>
            </a:r>
            <a:endParaRPr lang="en-US" sz="800" dirty="0"/>
          </a:p>
        </p:txBody>
      </p:sp>
      <p:sp>
        <p:nvSpPr>
          <p:cNvPr id="52" name="Text 50"/>
          <p:cNvSpPr/>
          <p:nvPr/>
        </p:nvSpPr>
        <p:spPr>
          <a:xfrm>
            <a:off x="6832997" y="3923258"/>
            <a:ext cx="1460897" cy="214313"/>
          </a:xfrm>
          <a:prstGeom prst="rect">
            <a:avLst/>
          </a:prstGeom>
          <a:noFill/>
          <a:ln/>
        </p:spPr>
        <p:txBody>
          <a:bodyPr wrap="none" lIns="0" tIns="0" rIns="0" bIns="0" rtlCol="0" anchor="t"/>
          <a:lstStyle/>
          <a:p>
            <a:pPr algn="ctr" indent="0" marL="0">
              <a:lnSpc>
                <a:spcPts val="1575"/>
              </a:lnSpc>
              <a:buNone/>
            </a:pPr>
            <a:r>
              <a:rPr lang="en-US" sz="1575" b="1" dirty="0">
                <a:solidFill>
                  <a:srgbClr val="FFFFFF"/>
                </a:solidFill>
                <a:latin typeface="Liberation Sans Narrow" pitchFamily="34" charset="0"/>
                <a:ea typeface="Liberation Sans Narrow" pitchFamily="34" charset="-122"/>
                <a:cs typeface="Liberation Sans Narrow" pitchFamily="34" charset="-120"/>
              </a:rPr>
              <a:t>₹61 Cr/yr</a:t>
            </a:r>
            <a:endParaRPr lang="en-US" sz="1575" dirty="0"/>
          </a:p>
        </p:txBody>
      </p:sp>
      <p:sp>
        <p:nvSpPr>
          <p:cNvPr id="53" name="Text 51"/>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54" name="Text 52"/>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55" name="Text 53"/>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514350" y="400050"/>
            <a:ext cx="8115300" cy="341141"/>
          </a:xfrm>
          <a:prstGeom prst="rect">
            <a:avLst/>
          </a:prstGeom>
          <a:noFill/>
          <a:ln/>
        </p:spPr>
        <p:txBody>
          <a:bodyPr wrap="square" lIns="0" tIns="0" rIns="0" bIns="0" rtlCol="0" anchor="t">
            <a:normAutofit/>
          </a:bodyPr>
          <a:lstStyle/>
          <a:p>
            <a:pPr algn="l" indent="0" marL="0">
              <a:lnSpc>
                <a:spcPts val="2565"/>
              </a:lnSpc>
              <a:buNone/>
            </a:pPr>
            <a:r>
              <a:rPr lang="en-US" sz="2138" b="1" dirty="0">
                <a:solidFill>
                  <a:srgbClr val="FFFFFF"/>
                </a:solidFill>
                <a:latin typeface="Liberation Sans Narrow" pitchFamily="34" charset="0"/>
                <a:ea typeface="Liberation Sans Narrow" pitchFamily="34" charset="-122"/>
                <a:cs typeface="Liberation Sans Narrow" pitchFamily="34" charset="-120"/>
              </a:rPr>
              <a:t>18-Month Implementation Plan</a:t>
            </a:r>
            <a:endParaRPr lang="en-US" sz="2138" dirty="0"/>
          </a:p>
        </p:txBody>
      </p:sp>
      <p:sp>
        <p:nvSpPr>
          <p:cNvPr id="3" name="Text 1"/>
          <p:cNvSpPr/>
          <p:nvPr/>
        </p:nvSpPr>
        <p:spPr>
          <a:xfrm>
            <a:off x="514350" y="768623"/>
            <a:ext cx="8115300" cy="185166"/>
          </a:xfrm>
          <a:prstGeom prst="rect">
            <a:avLst/>
          </a:prstGeom>
          <a:noFill/>
          <a:ln/>
        </p:spPr>
        <p:txBody>
          <a:bodyPr wrap="square" lIns="0" tIns="0" rIns="0" bIns="0" rtlCol="0" anchor="t"/>
          <a:lstStyle/>
          <a:p>
            <a:pPr algn="l" indent="0" marL="0">
              <a:lnSpc>
                <a:spcPts val="1350"/>
              </a:lnSpc>
              <a:buNone/>
            </a:pPr>
            <a:r>
              <a:rPr lang="en-US" sz="900" dirty="0">
                <a:solidFill>
                  <a:srgbClr val="9CA3AF"/>
                </a:solidFill>
                <a:latin typeface="Carlito" pitchFamily="34" charset="0"/>
                <a:ea typeface="Carlito" pitchFamily="34" charset="-122"/>
                <a:cs typeface="Carlito" pitchFamily="34" charset="-120"/>
              </a:rPr>
              <a:t>Four phased deployment across Delhi's 500 high-mast flags</a:t>
            </a:r>
            <a:endParaRPr lang="en-US" sz="900" dirty="0"/>
          </a:p>
        </p:txBody>
      </p:sp>
      <p:sp>
        <p:nvSpPr>
          <p:cNvPr id="4" name="Text 2"/>
          <p:cNvSpPr/>
          <p:nvPr/>
        </p:nvSpPr>
        <p:spPr>
          <a:xfrm>
            <a:off x="1085850" y="2702458"/>
            <a:ext cx="6972300" cy="21431"/>
          </a:xfrm>
          <a:prstGeom prst="rect">
            <a:avLst/>
          </a:prstGeom>
          <a:solidFill>
            <a:srgbClr val="FFFFFF">
              <a:alpha val="10000"/>
            </a:srgbClr>
          </a:solidFill>
          <a:ln/>
        </p:spPr>
        <p:txBody>
          <a:bodyPr wrap="square" rtlCol="0" anchor="ctr"/>
          <a:lstStyle/>
          <a:p>
            <a:pPr indent="0" marL="0">
              <a:buNone/>
            </a:pPr>
            <a:endParaRPr lang="en-US" dirty="0"/>
          </a:p>
        </p:txBody>
      </p:sp>
      <p:sp>
        <p:nvSpPr>
          <p:cNvPr id="5" name="Shape 3"/>
          <p:cNvSpPr/>
          <p:nvPr/>
        </p:nvSpPr>
        <p:spPr>
          <a:xfrm>
            <a:off x="885825" y="2209540"/>
            <a:ext cx="1714500" cy="0"/>
          </a:xfrm>
          <a:prstGeom prst="line">
            <a:avLst/>
          </a:prstGeom>
          <a:noFill/>
          <a:ln w="21431">
            <a:solidFill>
              <a:srgbClr val="FF9933"/>
            </a:solidFill>
            <a:prstDash val="solid"/>
          </a:ln>
        </p:spPr>
      </p:sp>
      <p:sp>
        <p:nvSpPr>
          <p:cNvPr id="6" name="Shape 4"/>
          <p:cNvSpPr/>
          <p:nvPr/>
        </p:nvSpPr>
        <p:spPr>
          <a:xfrm>
            <a:off x="2596753" y="2198824"/>
            <a:ext cx="0" cy="1500188"/>
          </a:xfrm>
          <a:prstGeom prst="line">
            <a:avLst/>
          </a:prstGeom>
          <a:noFill/>
          <a:ln w="7144">
            <a:solidFill>
              <a:srgbClr val="FFFFFF"/>
            </a:solidFill>
            <a:prstDash val="solid"/>
          </a:ln>
        </p:spPr>
      </p:sp>
      <p:sp>
        <p:nvSpPr>
          <p:cNvPr id="7" name="Shape 5"/>
          <p:cNvSpPr/>
          <p:nvPr/>
        </p:nvSpPr>
        <p:spPr>
          <a:xfrm>
            <a:off x="885825" y="3695440"/>
            <a:ext cx="1714500" cy="0"/>
          </a:xfrm>
          <a:prstGeom prst="line">
            <a:avLst/>
          </a:prstGeom>
          <a:noFill/>
          <a:ln w="7144">
            <a:solidFill>
              <a:srgbClr val="FFFFFF"/>
            </a:solidFill>
            <a:prstDash val="solid"/>
          </a:ln>
        </p:spPr>
      </p:sp>
      <p:sp>
        <p:nvSpPr>
          <p:cNvPr id="8" name="Shape 6"/>
          <p:cNvSpPr/>
          <p:nvPr/>
        </p:nvSpPr>
        <p:spPr>
          <a:xfrm>
            <a:off x="889397" y="2198824"/>
            <a:ext cx="0" cy="1500188"/>
          </a:xfrm>
          <a:prstGeom prst="line">
            <a:avLst/>
          </a:prstGeom>
          <a:noFill/>
          <a:ln w="7144">
            <a:solidFill>
              <a:srgbClr val="FFFFFF"/>
            </a:solidFill>
            <a:prstDash val="solid"/>
          </a:ln>
        </p:spPr>
      </p:sp>
      <p:sp>
        <p:nvSpPr>
          <p:cNvPr id="9" name="Shape 7"/>
          <p:cNvSpPr/>
          <p:nvPr/>
        </p:nvSpPr>
        <p:spPr>
          <a:xfrm>
            <a:off x="2771775" y="2138102"/>
            <a:ext cx="1714500" cy="0"/>
          </a:xfrm>
          <a:prstGeom prst="line">
            <a:avLst/>
          </a:prstGeom>
          <a:noFill/>
          <a:ln w="21431">
            <a:solidFill>
              <a:srgbClr val="4A90D9"/>
            </a:solidFill>
            <a:prstDash val="solid"/>
          </a:ln>
        </p:spPr>
      </p:sp>
      <p:sp>
        <p:nvSpPr>
          <p:cNvPr id="10" name="Shape 8"/>
          <p:cNvSpPr/>
          <p:nvPr/>
        </p:nvSpPr>
        <p:spPr>
          <a:xfrm>
            <a:off x="4482703" y="2127386"/>
            <a:ext cx="0" cy="1571625"/>
          </a:xfrm>
          <a:prstGeom prst="line">
            <a:avLst/>
          </a:prstGeom>
          <a:noFill/>
          <a:ln w="7144">
            <a:solidFill>
              <a:srgbClr val="FFFFFF"/>
            </a:solidFill>
            <a:prstDash val="solid"/>
          </a:ln>
        </p:spPr>
      </p:sp>
      <p:sp>
        <p:nvSpPr>
          <p:cNvPr id="11" name="Shape 9"/>
          <p:cNvSpPr/>
          <p:nvPr/>
        </p:nvSpPr>
        <p:spPr>
          <a:xfrm>
            <a:off x="2771775" y="3695440"/>
            <a:ext cx="1714500" cy="0"/>
          </a:xfrm>
          <a:prstGeom prst="line">
            <a:avLst/>
          </a:prstGeom>
          <a:noFill/>
          <a:ln w="7144">
            <a:solidFill>
              <a:srgbClr val="FFFFFF"/>
            </a:solidFill>
            <a:prstDash val="solid"/>
          </a:ln>
        </p:spPr>
      </p:sp>
      <p:sp>
        <p:nvSpPr>
          <p:cNvPr id="12" name="Shape 10"/>
          <p:cNvSpPr/>
          <p:nvPr/>
        </p:nvSpPr>
        <p:spPr>
          <a:xfrm>
            <a:off x="2775347" y="2127386"/>
            <a:ext cx="0" cy="1571625"/>
          </a:xfrm>
          <a:prstGeom prst="line">
            <a:avLst/>
          </a:prstGeom>
          <a:noFill/>
          <a:ln w="7144">
            <a:solidFill>
              <a:srgbClr val="FFFFFF"/>
            </a:solidFill>
            <a:prstDash val="solid"/>
          </a:ln>
        </p:spPr>
      </p:sp>
      <p:sp>
        <p:nvSpPr>
          <p:cNvPr id="13" name="Shape 11"/>
          <p:cNvSpPr/>
          <p:nvPr/>
        </p:nvSpPr>
        <p:spPr>
          <a:xfrm>
            <a:off x="4657725" y="1995227"/>
            <a:ext cx="1714500" cy="0"/>
          </a:xfrm>
          <a:prstGeom prst="line">
            <a:avLst/>
          </a:prstGeom>
          <a:noFill/>
          <a:ln w="21431">
            <a:solidFill>
              <a:srgbClr val="138808"/>
            </a:solidFill>
            <a:prstDash val="solid"/>
          </a:ln>
        </p:spPr>
      </p:sp>
      <p:sp>
        <p:nvSpPr>
          <p:cNvPr id="14" name="Shape 12"/>
          <p:cNvSpPr/>
          <p:nvPr/>
        </p:nvSpPr>
        <p:spPr>
          <a:xfrm>
            <a:off x="6368653" y="1984511"/>
            <a:ext cx="0" cy="1714500"/>
          </a:xfrm>
          <a:prstGeom prst="line">
            <a:avLst/>
          </a:prstGeom>
          <a:noFill/>
          <a:ln w="7144">
            <a:solidFill>
              <a:srgbClr val="FFFFFF"/>
            </a:solidFill>
            <a:prstDash val="solid"/>
          </a:ln>
        </p:spPr>
      </p:sp>
      <p:sp>
        <p:nvSpPr>
          <p:cNvPr id="15" name="Shape 13"/>
          <p:cNvSpPr/>
          <p:nvPr/>
        </p:nvSpPr>
        <p:spPr>
          <a:xfrm>
            <a:off x="4657725" y="3695440"/>
            <a:ext cx="1714500" cy="0"/>
          </a:xfrm>
          <a:prstGeom prst="line">
            <a:avLst/>
          </a:prstGeom>
          <a:noFill/>
          <a:ln w="7144">
            <a:solidFill>
              <a:srgbClr val="FFFFFF"/>
            </a:solidFill>
            <a:prstDash val="solid"/>
          </a:ln>
        </p:spPr>
      </p:sp>
      <p:sp>
        <p:nvSpPr>
          <p:cNvPr id="16" name="Shape 14"/>
          <p:cNvSpPr/>
          <p:nvPr/>
        </p:nvSpPr>
        <p:spPr>
          <a:xfrm>
            <a:off x="4661297" y="1984511"/>
            <a:ext cx="0" cy="1714500"/>
          </a:xfrm>
          <a:prstGeom prst="line">
            <a:avLst/>
          </a:prstGeom>
          <a:noFill/>
          <a:ln w="7144">
            <a:solidFill>
              <a:srgbClr val="FFFFFF"/>
            </a:solidFill>
            <a:prstDash val="solid"/>
          </a:ln>
        </p:spPr>
      </p:sp>
      <p:sp>
        <p:nvSpPr>
          <p:cNvPr id="17" name="Shape 15"/>
          <p:cNvSpPr/>
          <p:nvPr/>
        </p:nvSpPr>
        <p:spPr>
          <a:xfrm>
            <a:off x="6543675" y="2209540"/>
            <a:ext cx="1714500" cy="0"/>
          </a:xfrm>
          <a:prstGeom prst="line">
            <a:avLst/>
          </a:prstGeom>
          <a:noFill/>
          <a:ln w="21431">
            <a:solidFill>
              <a:srgbClr val="9B59B6"/>
            </a:solidFill>
            <a:prstDash val="solid"/>
          </a:ln>
        </p:spPr>
      </p:sp>
      <p:sp>
        <p:nvSpPr>
          <p:cNvPr id="18" name="Shape 16"/>
          <p:cNvSpPr/>
          <p:nvPr/>
        </p:nvSpPr>
        <p:spPr>
          <a:xfrm>
            <a:off x="8254603" y="2198824"/>
            <a:ext cx="0" cy="1500188"/>
          </a:xfrm>
          <a:prstGeom prst="line">
            <a:avLst/>
          </a:prstGeom>
          <a:noFill/>
          <a:ln w="7144">
            <a:solidFill>
              <a:srgbClr val="FFFFFF"/>
            </a:solidFill>
            <a:prstDash val="solid"/>
          </a:ln>
        </p:spPr>
      </p:sp>
      <p:sp>
        <p:nvSpPr>
          <p:cNvPr id="19" name="Shape 17"/>
          <p:cNvSpPr/>
          <p:nvPr/>
        </p:nvSpPr>
        <p:spPr>
          <a:xfrm>
            <a:off x="6543675" y="3695440"/>
            <a:ext cx="1714500" cy="0"/>
          </a:xfrm>
          <a:prstGeom prst="line">
            <a:avLst/>
          </a:prstGeom>
          <a:noFill/>
          <a:ln w="7144">
            <a:solidFill>
              <a:srgbClr val="FFFFFF"/>
            </a:solidFill>
            <a:prstDash val="solid"/>
          </a:ln>
        </p:spPr>
      </p:sp>
      <p:sp>
        <p:nvSpPr>
          <p:cNvPr id="20" name="Shape 18"/>
          <p:cNvSpPr/>
          <p:nvPr/>
        </p:nvSpPr>
        <p:spPr>
          <a:xfrm>
            <a:off x="6547247" y="2198824"/>
            <a:ext cx="0" cy="1500188"/>
          </a:xfrm>
          <a:prstGeom prst="line">
            <a:avLst/>
          </a:prstGeom>
          <a:noFill/>
          <a:ln w="7144">
            <a:solidFill>
              <a:srgbClr val="FFFFFF"/>
            </a:solidFill>
            <a:prstDash val="solid"/>
          </a:ln>
        </p:spPr>
      </p:sp>
      <p:pic>
        <p:nvPicPr>
          <p:cNvPr id="21" name="Image 0" descr="preencoded.png">    </p:cNvPr>
          <p:cNvPicPr>
            <a:picLocks noChangeAspect="1"/>
          </p:cNvPicPr>
          <p:nvPr/>
        </p:nvPicPr>
        <p:blipFill>
          <a:blip r:embed="rId1"/>
          <a:stretch>
            <a:fillRect/>
          </a:stretch>
        </p:blipFill>
        <p:spPr>
          <a:xfrm>
            <a:off x="2771998" y="4400550"/>
            <a:ext cx="3599892" cy="400050"/>
          </a:xfrm>
          <a:prstGeom prst="rect">
            <a:avLst/>
          </a:prstGeom>
        </p:spPr>
      </p:pic>
      <p:sp>
        <p:nvSpPr>
          <p:cNvPr id="22" name="Text 19"/>
          <p:cNvSpPr/>
          <p:nvPr/>
        </p:nvSpPr>
        <p:spPr>
          <a:xfrm>
            <a:off x="2775570" y="4404122"/>
            <a:ext cx="3592748" cy="392906"/>
          </a:xfrm>
          <a:prstGeom prst="roundRect">
            <a:avLst>
              <a:gd name="adj" fmla="val 96970"/>
            </a:avLst>
          </a:prstGeom>
          <a:noFill/>
          <a:ln w="7144">
            <a:solidFill>
              <a:srgbClr val="FF9933"/>
            </a:solidFill>
            <a:prstDash val="solid"/>
          </a:ln>
        </p:spPr>
        <p:txBody>
          <a:bodyPr wrap="square" rtlCol="0" anchor="ctr"/>
          <a:lstStyle/>
          <a:p>
            <a:pPr indent="0" marL="0">
              <a:buNone/>
            </a:pPr>
            <a:endParaRPr lang="en-US" dirty="0"/>
          </a:p>
        </p:txBody>
      </p:sp>
      <p:sp>
        <p:nvSpPr>
          <p:cNvPr id="23" name="Text 20"/>
          <p:cNvSpPr/>
          <p:nvPr/>
        </p:nvSpPr>
        <p:spPr>
          <a:xfrm>
            <a:off x="3036317" y="4514850"/>
            <a:ext cx="171450" cy="171450"/>
          </a:xfrm>
          <a:prstGeom prst="rect">
            <a:avLst/>
          </a:prstGeom>
          <a:noFill/>
          <a:ln/>
        </p:spPr>
        <p:txBody>
          <a:bodyPr wrap="none" lIns="0" tIns="0" rIns="0" bIns="0" rtlCol="0" anchor="ctr"/>
          <a:lstStyle/>
          <a:p>
            <a:pPr algn="ctr" indent="0" marL="0">
              <a:buNone/>
            </a:pPr>
            <a:r>
              <a:rPr lang="en-US" sz="1688" dirty="0">
                <a:solidFill>
                  <a:srgbClr val="FF9933"/>
                </a:solidFill>
                <a:latin typeface="Segoe UI Symbol" pitchFamily="34" charset="0"/>
                <a:ea typeface="Segoe UI Symbol" pitchFamily="34" charset="-122"/>
                <a:cs typeface="Segoe UI Symbol" pitchFamily="34" charset="-120"/>
              </a:rPr>
              <a:t>🏛</a:t>
            </a:r>
            <a:endParaRPr lang="en-US" sz="1688" dirty="0"/>
          </a:p>
        </p:txBody>
      </p:sp>
      <p:sp>
        <p:nvSpPr>
          <p:cNvPr id="24" name="Text 21"/>
          <p:cNvSpPr/>
          <p:nvPr/>
        </p:nvSpPr>
        <p:spPr>
          <a:xfrm>
            <a:off x="3322067" y="4493419"/>
            <a:ext cx="1025798" cy="214313"/>
          </a:xfrm>
          <a:prstGeom prst="rect">
            <a:avLst/>
          </a:prstGeom>
          <a:noFill/>
          <a:ln/>
        </p:spPr>
        <p:txBody>
          <a:bodyPr wrap="none" lIns="0" tIns="0" rIns="0" bIns="0" rtlCol="0" anchor="t"/>
          <a:lstStyle/>
          <a:p>
            <a:pPr algn="l" indent="0" marL="0">
              <a:lnSpc>
                <a:spcPts val="1688"/>
              </a:lnSpc>
              <a:buNone/>
            </a:pPr>
            <a:r>
              <a:rPr lang="en-US" sz="1125" b="1" dirty="0">
                <a:solidFill>
                  <a:srgbClr val="FF9933"/>
                </a:solidFill>
                <a:latin typeface="Liberation Sans Narrow" pitchFamily="34" charset="0"/>
                <a:ea typeface="Liberation Sans Narrow" pitchFamily="34" charset="-122"/>
                <a:cs typeface="Liberation Sans Narrow" pitchFamily="34" charset="-120"/>
              </a:rPr>
              <a:t>₹43 Cr Total</a:t>
            </a:r>
            <a:endParaRPr lang="en-US" sz="1125" dirty="0"/>
          </a:p>
        </p:txBody>
      </p:sp>
      <p:sp>
        <p:nvSpPr>
          <p:cNvPr id="25" name="Text 22"/>
          <p:cNvSpPr/>
          <p:nvPr/>
        </p:nvSpPr>
        <p:spPr>
          <a:xfrm>
            <a:off x="4257005" y="4493419"/>
            <a:ext cx="94320" cy="214313"/>
          </a:xfrm>
          <a:prstGeom prst="rect">
            <a:avLst/>
          </a:prstGeom>
          <a:noFill/>
          <a:ln/>
        </p:spPr>
        <p:txBody>
          <a:bodyPr wrap="none" lIns="0" tIns="0" rIns="0" bIns="0" rtlCol="0" anchor="t"/>
          <a:lstStyle/>
          <a:p>
            <a:pPr algn="l" indent="0" marL="0">
              <a:lnSpc>
                <a:spcPts val="1688"/>
              </a:lnSpc>
              <a:buNone/>
            </a:pPr>
            <a:r>
              <a:rPr lang="en-US" sz="1125" dirty="0">
                <a:solidFill>
                  <a:srgbClr val="FFFFFF">
                    <a:alpha val="20000"/>
                  </a:srgbClr>
                </a:solidFill>
                <a:latin typeface="Carlito" pitchFamily="34" charset="0"/>
                <a:ea typeface="Carlito" pitchFamily="34" charset="-122"/>
                <a:cs typeface="Carlito" pitchFamily="34" charset="-120"/>
              </a:rPr>
              <a:t>|</a:t>
            </a:r>
            <a:endParaRPr lang="en-US" sz="1125" dirty="0"/>
          </a:p>
        </p:txBody>
      </p:sp>
      <p:sp>
        <p:nvSpPr>
          <p:cNvPr id="26" name="Text 23"/>
          <p:cNvSpPr/>
          <p:nvPr/>
        </p:nvSpPr>
        <p:spPr>
          <a:xfrm>
            <a:off x="4408475" y="4514850"/>
            <a:ext cx="171450" cy="171450"/>
          </a:xfrm>
          <a:prstGeom prst="rect">
            <a:avLst/>
          </a:prstGeom>
          <a:noFill/>
          <a:ln/>
        </p:spPr>
        <p:txBody>
          <a:bodyPr wrap="none" lIns="0" tIns="0" rIns="0" bIns="0" rtlCol="0" anchor="ctr"/>
          <a:lstStyle/>
          <a:p>
            <a:pPr algn="ctr" indent="0" marL="0">
              <a:buNone/>
            </a:pPr>
            <a:r>
              <a:rPr lang="en-US" sz="1688" dirty="0">
                <a:solidFill>
                  <a:srgbClr val="138808"/>
                </a:solidFill>
                <a:latin typeface="Segoe UI Symbol" pitchFamily="34" charset="0"/>
                <a:ea typeface="Segoe UI Symbol" pitchFamily="34" charset="-122"/>
                <a:cs typeface="Segoe UI Symbol" pitchFamily="34" charset="-120"/>
              </a:rPr>
              <a:t>◔</a:t>
            </a:r>
            <a:endParaRPr lang="en-US" sz="1688" dirty="0"/>
          </a:p>
        </p:txBody>
      </p:sp>
      <p:sp>
        <p:nvSpPr>
          <p:cNvPr id="27" name="Text 24"/>
          <p:cNvSpPr/>
          <p:nvPr/>
        </p:nvSpPr>
        <p:spPr>
          <a:xfrm>
            <a:off x="4694225" y="4493419"/>
            <a:ext cx="1413346" cy="214313"/>
          </a:xfrm>
          <a:prstGeom prst="rect">
            <a:avLst/>
          </a:prstGeom>
          <a:noFill/>
          <a:ln/>
        </p:spPr>
        <p:txBody>
          <a:bodyPr wrap="none" lIns="0" tIns="0" rIns="0" bIns="0" rtlCol="0" anchor="t"/>
          <a:lstStyle/>
          <a:p>
            <a:pPr algn="l" indent="0" marL="0">
              <a:lnSpc>
                <a:spcPts val="1688"/>
              </a:lnSpc>
              <a:buNone/>
            </a:pPr>
            <a:r>
              <a:rPr lang="en-US" sz="1125" b="1" dirty="0">
                <a:solidFill>
                  <a:srgbClr val="138808"/>
                </a:solidFill>
                <a:latin typeface="Liberation Sans Narrow" pitchFamily="34" charset="0"/>
                <a:ea typeface="Liberation Sans Narrow" pitchFamily="34" charset="-122"/>
                <a:cs typeface="Liberation Sans Narrow" pitchFamily="34" charset="-120"/>
              </a:rPr>
              <a:t>Payback: 8.5 Months</a:t>
            </a:r>
            <a:endParaRPr lang="en-US" sz="1125" dirty="0"/>
          </a:p>
        </p:txBody>
      </p:sp>
      <p:sp>
        <p:nvSpPr>
          <p:cNvPr id="28" name="Text 25"/>
          <p:cNvSpPr/>
          <p:nvPr/>
        </p:nvSpPr>
        <p:spPr>
          <a:xfrm>
            <a:off x="885825" y="2198824"/>
            <a:ext cx="1714500" cy="1500188"/>
          </a:xfrm>
          <a:prstGeom prst="roundRect">
            <a:avLst>
              <a:gd name="adj" fmla="val 10159"/>
            </a:avLst>
          </a:prstGeom>
          <a:solidFill>
            <a:srgbClr val="1A1A1A"/>
          </a:solidFill>
          <a:ln/>
        </p:spPr>
        <p:txBody>
          <a:bodyPr wrap="square" rtlCol="0" anchor="ctr"/>
          <a:lstStyle/>
          <a:p>
            <a:pPr indent="0" marL="0">
              <a:buNone/>
            </a:pPr>
            <a:endParaRPr lang="en-US" dirty="0"/>
          </a:p>
        </p:txBody>
      </p:sp>
      <p:sp>
        <p:nvSpPr>
          <p:cNvPr id="29" name="Text 26"/>
          <p:cNvSpPr/>
          <p:nvPr/>
        </p:nvSpPr>
        <p:spPr>
          <a:xfrm>
            <a:off x="1732359" y="2048805"/>
            <a:ext cx="21431" cy="171450"/>
          </a:xfrm>
          <a:prstGeom prst="rect">
            <a:avLst/>
          </a:prstGeom>
          <a:solidFill>
            <a:srgbClr val="FF9933"/>
          </a:solidFill>
          <a:ln/>
        </p:spPr>
        <p:txBody>
          <a:bodyPr wrap="square" rtlCol="0" anchor="ctr"/>
          <a:lstStyle/>
          <a:p>
            <a:pPr indent="0" marL="0">
              <a:buNone/>
            </a:pPr>
            <a:endParaRPr lang="en-US" dirty="0"/>
          </a:p>
        </p:txBody>
      </p:sp>
      <p:sp>
        <p:nvSpPr>
          <p:cNvPr id="30" name="Text 27"/>
          <p:cNvSpPr/>
          <p:nvPr/>
        </p:nvSpPr>
        <p:spPr>
          <a:xfrm>
            <a:off x="1015533" y="2352629"/>
            <a:ext cx="548386" cy="196025"/>
          </a:xfrm>
          <a:prstGeom prst="roundRect">
            <a:avLst>
              <a:gd name="adj" fmla="val 97181"/>
            </a:avLst>
          </a:prstGeom>
          <a:solidFill>
            <a:srgbClr val="FF9933">
              <a:alpha val="15000"/>
            </a:srgbClr>
          </a:solidFill>
          <a:ln/>
        </p:spPr>
        <p:txBody>
          <a:bodyPr wrap="square" rtlCol="0" anchor="ctr"/>
          <a:lstStyle/>
          <a:p>
            <a:pPr indent="0" marL="0">
              <a:buNone/>
            </a:pPr>
            <a:endParaRPr lang="en-US" dirty="0"/>
          </a:p>
        </p:txBody>
      </p:sp>
      <p:sp>
        <p:nvSpPr>
          <p:cNvPr id="31" name="Text 28"/>
          <p:cNvSpPr/>
          <p:nvPr/>
        </p:nvSpPr>
        <p:spPr>
          <a:xfrm>
            <a:off x="1035844" y="2363130"/>
            <a:ext cx="507764" cy="175022"/>
          </a:xfrm>
          <a:prstGeom prst="rect">
            <a:avLst/>
          </a:prstGeom>
          <a:noFill/>
          <a:ln/>
        </p:spPr>
        <p:txBody>
          <a:bodyPr wrap="none" lIns="0" tIns="0" rIns="0" bIns="0" rtlCol="0" anchor="ctr"/>
          <a:lstStyle/>
          <a:p>
            <a:pPr algn="ctr" indent="0" marL="0">
              <a:lnSpc>
                <a:spcPts val="928"/>
              </a:lnSpc>
              <a:buNone/>
            </a:pPr>
            <a:r>
              <a:rPr lang="en-US" sz="800" b="1" dirty="0">
                <a:solidFill>
                  <a:srgbClr val="FF9933"/>
                </a:solidFill>
                <a:latin typeface="Liberation Sans Narrow" pitchFamily="34" charset="0"/>
                <a:ea typeface="Liberation Sans Narrow" pitchFamily="34" charset="-122"/>
                <a:cs typeface="Liberation Sans Narrow" pitchFamily="34" charset="-120"/>
              </a:rPr>
              <a:t>PHASE 1</a:t>
            </a:r>
            <a:endParaRPr lang="en-US" sz="800" dirty="0"/>
          </a:p>
        </p:txBody>
      </p:sp>
      <p:sp>
        <p:nvSpPr>
          <p:cNvPr id="32" name="Text 29"/>
          <p:cNvSpPr/>
          <p:nvPr/>
        </p:nvSpPr>
        <p:spPr>
          <a:xfrm>
            <a:off x="1600758" y="2380990"/>
            <a:ext cx="849548" cy="164592"/>
          </a:xfrm>
          <a:prstGeom prst="rect">
            <a:avLst/>
          </a:prstGeom>
          <a:noFill/>
          <a:ln/>
        </p:spPr>
        <p:txBody>
          <a:bodyPr wrap="non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Month 1–3</a:t>
            </a:r>
            <a:endParaRPr lang="en-US" sz="800" dirty="0"/>
          </a:p>
        </p:txBody>
      </p:sp>
      <p:sp>
        <p:nvSpPr>
          <p:cNvPr id="33" name="Text 30"/>
          <p:cNvSpPr/>
          <p:nvPr/>
        </p:nvSpPr>
        <p:spPr>
          <a:xfrm>
            <a:off x="1035844" y="2656024"/>
            <a:ext cx="142875" cy="142875"/>
          </a:xfrm>
          <a:prstGeom prst="rect">
            <a:avLst/>
          </a:prstGeom>
          <a:noFill/>
          <a:ln/>
        </p:spPr>
        <p:txBody>
          <a:bodyPr wrap="none" lIns="0" tIns="0" rIns="0" bIns="0" rtlCol="0" anchor="ctr"/>
          <a:lstStyle/>
          <a:p>
            <a:pPr algn="ctr" indent="0" marL="0">
              <a:buNone/>
            </a:pPr>
            <a:r>
              <a:rPr lang="en-US" sz="1406" dirty="0">
                <a:solidFill>
                  <a:srgbClr val="FF9933"/>
                </a:solidFill>
                <a:latin typeface="Segoe UI Symbol" pitchFamily="34" charset="0"/>
                <a:ea typeface="Segoe UI Symbol" pitchFamily="34" charset="-122"/>
                <a:cs typeface="Segoe UI Symbol" pitchFamily="34" charset="-120"/>
              </a:rPr>
              <a:t>⚗</a:t>
            </a:r>
            <a:endParaRPr lang="en-US" sz="1406" dirty="0"/>
          </a:p>
        </p:txBody>
      </p:sp>
      <p:sp>
        <p:nvSpPr>
          <p:cNvPr id="34" name="Text 31"/>
          <p:cNvSpPr/>
          <p:nvPr/>
        </p:nvSpPr>
        <p:spPr>
          <a:xfrm>
            <a:off x="1221581" y="2609590"/>
            <a:ext cx="1228725" cy="254603"/>
          </a:xfrm>
          <a:prstGeom prst="rect">
            <a:avLst/>
          </a:prstGeom>
          <a:noFill/>
          <a:ln/>
        </p:spPr>
        <p:txBody>
          <a:bodyPr wrap="none" lIns="0" tIns="0" rIns="0" bIns="0" rtlCol="0" anchor="t"/>
          <a:lstStyle/>
          <a:p>
            <a:pPr algn="l" indent="0" marL="0">
              <a:lnSpc>
                <a:spcPts val="1856"/>
              </a:lnSpc>
              <a:buNone/>
            </a:pPr>
            <a:r>
              <a:rPr lang="en-US" sz="1238" b="1" dirty="0">
                <a:solidFill>
                  <a:srgbClr val="FF9933"/>
                </a:solidFill>
                <a:latin typeface="Liberation Sans Narrow" pitchFamily="34" charset="0"/>
                <a:ea typeface="Liberation Sans Narrow" pitchFamily="34" charset="-122"/>
                <a:cs typeface="Liberation Sans Narrow" pitchFamily="34" charset="-120"/>
              </a:rPr>
              <a:t>₹8.5 Cr</a:t>
            </a:r>
            <a:endParaRPr lang="en-US" sz="1238" dirty="0"/>
          </a:p>
        </p:txBody>
      </p:sp>
      <p:sp>
        <p:nvSpPr>
          <p:cNvPr id="35" name="Text 32"/>
          <p:cNvSpPr/>
          <p:nvPr/>
        </p:nvSpPr>
        <p:spPr>
          <a:xfrm>
            <a:off x="1035844" y="2916771"/>
            <a:ext cx="1414463"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Pilot</a:t>
            </a:r>
            <a:endParaRPr lang="en-US" sz="900" dirty="0"/>
          </a:p>
        </p:txBody>
      </p:sp>
      <p:sp>
        <p:nvSpPr>
          <p:cNvPr id="36" name="Text 33"/>
          <p:cNvSpPr/>
          <p:nvPr/>
        </p:nvSpPr>
        <p:spPr>
          <a:xfrm>
            <a:off x="1035844" y="3131083"/>
            <a:ext cx="1499330" cy="417909"/>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25 IoT kits on India Gate, Rashtrapati Bhavan, Parliament. Nano-coating trial on 10 flags.</a:t>
            </a:r>
            <a:endParaRPr lang="en-US" sz="800" dirty="0"/>
          </a:p>
        </p:txBody>
      </p:sp>
      <p:sp>
        <p:nvSpPr>
          <p:cNvPr id="37" name="Text 34"/>
          <p:cNvSpPr/>
          <p:nvPr/>
        </p:nvSpPr>
        <p:spPr>
          <a:xfrm>
            <a:off x="2771775" y="2127386"/>
            <a:ext cx="1714500" cy="1571625"/>
          </a:xfrm>
          <a:prstGeom prst="roundRect">
            <a:avLst>
              <a:gd name="adj" fmla="val 9697"/>
            </a:avLst>
          </a:prstGeom>
          <a:solidFill>
            <a:srgbClr val="1A1A1A"/>
          </a:solidFill>
          <a:ln/>
        </p:spPr>
        <p:txBody>
          <a:bodyPr wrap="square" rtlCol="0" anchor="ctr"/>
          <a:lstStyle/>
          <a:p>
            <a:pPr indent="0" marL="0">
              <a:buNone/>
            </a:pPr>
            <a:endParaRPr lang="en-US" dirty="0"/>
          </a:p>
        </p:txBody>
      </p:sp>
      <p:sp>
        <p:nvSpPr>
          <p:cNvPr id="38" name="Text 35"/>
          <p:cNvSpPr/>
          <p:nvPr/>
        </p:nvSpPr>
        <p:spPr>
          <a:xfrm>
            <a:off x="3618309" y="1977368"/>
            <a:ext cx="21431" cy="171450"/>
          </a:xfrm>
          <a:prstGeom prst="rect">
            <a:avLst/>
          </a:prstGeom>
          <a:solidFill>
            <a:srgbClr val="4A90D9"/>
          </a:solidFill>
          <a:ln/>
        </p:spPr>
        <p:txBody>
          <a:bodyPr wrap="square" rtlCol="0" anchor="ctr"/>
          <a:lstStyle/>
          <a:p>
            <a:pPr indent="0" marL="0">
              <a:buNone/>
            </a:pPr>
            <a:endParaRPr lang="en-US" dirty="0"/>
          </a:p>
        </p:txBody>
      </p:sp>
      <p:sp>
        <p:nvSpPr>
          <p:cNvPr id="39" name="Text 36"/>
          <p:cNvSpPr/>
          <p:nvPr/>
        </p:nvSpPr>
        <p:spPr>
          <a:xfrm>
            <a:off x="2901483" y="2281191"/>
            <a:ext cx="548386" cy="196025"/>
          </a:xfrm>
          <a:prstGeom prst="roundRect">
            <a:avLst>
              <a:gd name="adj" fmla="val 97181"/>
            </a:avLst>
          </a:prstGeom>
          <a:solidFill>
            <a:srgbClr val="4A90D9">
              <a:alpha val="15000"/>
            </a:srgbClr>
          </a:solidFill>
          <a:ln/>
        </p:spPr>
        <p:txBody>
          <a:bodyPr wrap="square" rtlCol="0" anchor="ctr"/>
          <a:lstStyle/>
          <a:p>
            <a:pPr indent="0" marL="0">
              <a:buNone/>
            </a:pPr>
            <a:endParaRPr lang="en-US" dirty="0"/>
          </a:p>
        </p:txBody>
      </p:sp>
      <p:sp>
        <p:nvSpPr>
          <p:cNvPr id="40" name="Text 37"/>
          <p:cNvSpPr/>
          <p:nvPr/>
        </p:nvSpPr>
        <p:spPr>
          <a:xfrm>
            <a:off x="2921794" y="2291693"/>
            <a:ext cx="507764" cy="175022"/>
          </a:xfrm>
          <a:prstGeom prst="rect">
            <a:avLst/>
          </a:prstGeom>
          <a:noFill/>
          <a:ln/>
        </p:spPr>
        <p:txBody>
          <a:bodyPr wrap="none" lIns="0" tIns="0" rIns="0" bIns="0" rtlCol="0" anchor="ctr"/>
          <a:lstStyle/>
          <a:p>
            <a:pPr algn="ctr" indent="0" marL="0">
              <a:lnSpc>
                <a:spcPts val="928"/>
              </a:lnSpc>
              <a:buNone/>
            </a:pPr>
            <a:r>
              <a:rPr lang="en-US" sz="800" b="1" dirty="0">
                <a:solidFill>
                  <a:srgbClr val="4A90D9"/>
                </a:solidFill>
                <a:latin typeface="Liberation Sans Narrow" pitchFamily="34" charset="0"/>
                <a:ea typeface="Liberation Sans Narrow" pitchFamily="34" charset="-122"/>
                <a:cs typeface="Liberation Sans Narrow" pitchFamily="34" charset="-120"/>
              </a:rPr>
              <a:t>PHASE 2</a:t>
            </a:r>
            <a:endParaRPr lang="en-US" sz="800" dirty="0"/>
          </a:p>
        </p:txBody>
      </p:sp>
      <p:sp>
        <p:nvSpPr>
          <p:cNvPr id="41" name="Text 38"/>
          <p:cNvSpPr/>
          <p:nvPr/>
        </p:nvSpPr>
        <p:spPr>
          <a:xfrm>
            <a:off x="3486708" y="2309552"/>
            <a:ext cx="849548" cy="164592"/>
          </a:xfrm>
          <a:prstGeom prst="rect">
            <a:avLst/>
          </a:prstGeom>
          <a:noFill/>
          <a:ln/>
        </p:spPr>
        <p:txBody>
          <a:bodyPr wrap="non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Month 4–8</a:t>
            </a:r>
            <a:endParaRPr lang="en-US" sz="800" dirty="0"/>
          </a:p>
        </p:txBody>
      </p:sp>
      <p:sp>
        <p:nvSpPr>
          <p:cNvPr id="42" name="Text 39"/>
          <p:cNvSpPr/>
          <p:nvPr/>
        </p:nvSpPr>
        <p:spPr>
          <a:xfrm>
            <a:off x="2921794" y="2584586"/>
            <a:ext cx="142875" cy="142875"/>
          </a:xfrm>
          <a:prstGeom prst="rect">
            <a:avLst/>
          </a:prstGeom>
          <a:noFill/>
          <a:ln/>
        </p:spPr>
        <p:txBody>
          <a:bodyPr wrap="none" lIns="0" tIns="0" rIns="0" bIns="0" rtlCol="0" anchor="ctr"/>
          <a:lstStyle/>
          <a:p>
            <a:pPr algn="ctr" indent="0" marL="0">
              <a:buNone/>
            </a:pPr>
            <a:r>
              <a:rPr lang="en-US" sz="1406" dirty="0">
                <a:solidFill>
                  <a:srgbClr val="4A90D9"/>
                </a:solidFill>
                <a:latin typeface="Segoe UI Symbol" pitchFamily="34" charset="0"/>
                <a:ea typeface="Segoe UI Symbol" pitchFamily="34" charset="-122"/>
                <a:cs typeface="Segoe UI Symbol" pitchFamily="34" charset="-120"/>
              </a:rPr>
              <a:t>➤</a:t>
            </a:r>
            <a:endParaRPr lang="en-US" sz="1406" dirty="0"/>
          </a:p>
        </p:txBody>
      </p:sp>
      <p:sp>
        <p:nvSpPr>
          <p:cNvPr id="43" name="Text 40"/>
          <p:cNvSpPr/>
          <p:nvPr/>
        </p:nvSpPr>
        <p:spPr>
          <a:xfrm>
            <a:off x="3107531" y="2538152"/>
            <a:ext cx="1228725" cy="254603"/>
          </a:xfrm>
          <a:prstGeom prst="rect">
            <a:avLst/>
          </a:prstGeom>
          <a:noFill/>
          <a:ln/>
        </p:spPr>
        <p:txBody>
          <a:bodyPr wrap="none" lIns="0" tIns="0" rIns="0" bIns="0" rtlCol="0" anchor="t"/>
          <a:lstStyle/>
          <a:p>
            <a:pPr algn="l" indent="0" marL="0">
              <a:lnSpc>
                <a:spcPts val="1856"/>
              </a:lnSpc>
              <a:buNone/>
            </a:pPr>
            <a:r>
              <a:rPr lang="en-US" sz="1238" b="1" dirty="0">
                <a:solidFill>
                  <a:srgbClr val="4A90D9"/>
                </a:solidFill>
                <a:latin typeface="Liberation Sans Narrow" pitchFamily="34" charset="0"/>
                <a:ea typeface="Liberation Sans Narrow" pitchFamily="34" charset="-122"/>
                <a:cs typeface="Liberation Sans Narrow" pitchFamily="34" charset="-120"/>
              </a:rPr>
              <a:t>₹22 Cr</a:t>
            </a:r>
            <a:endParaRPr lang="en-US" sz="1238" dirty="0"/>
          </a:p>
        </p:txBody>
      </p:sp>
      <p:sp>
        <p:nvSpPr>
          <p:cNvPr id="44" name="Text 41"/>
          <p:cNvSpPr/>
          <p:nvPr/>
        </p:nvSpPr>
        <p:spPr>
          <a:xfrm>
            <a:off x="2921794" y="2845333"/>
            <a:ext cx="1414462"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Rollout</a:t>
            </a:r>
            <a:endParaRPr lang="en-US" sz="900" dirty="0"/>
          </a:p>
        </p:txBody>
      </p:sp>
      <p:sp>
        <p:nvSpPr>
          <p:cNvPr id="45" name="Text 42"/>
          <p:cNvSpPr/>
          <p:nvPr/>
        </p:nvSpPr>
        <p:spPr>
          <a:xfrm>
            <a:off x="2921794" y="3059646"/>
            <a:ext cx="1499330" cy="489347"/>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IoT on all 500 flags, 8 zone gateways, AI-CV at 100 sites, Kevlar fabric deployment.</a:t>
            </a:r>
            <a:endParaRPr lang="en-US" sz="800" dirty="0"/>
          </a:p>
        </p:txBody>
      </p:sp>
      <p:sp>
        <p:nvSpPr>
          <p:cNvPr id="46" name="Text 43"/>
          <p:cNvSpPr/>
          <p:nvPr/>
        </p:nvSpPr>
        <p:spPr>
          <a:xfrm>
            <a:off x="4657725" y="1984511"/>
            <a:ext cx="1714500" cy="1714500"/>
          </a:xfrm>
          <a:prstGeom prst="roundRect">
            <a:avLst>
              <a:gd name="adj" fmla="val 8889"/>
            </a:avLst>
          </a:prstGeom>
          <a:solidFill>
            <a:srgbClr val="1A1A1A"/>
          </a:solidFill>
          <a:ln/>
        </p:spPr>
        <p:txBody>
          <a:bodyPr wrap="square" rtlCol="0" anchor="ctr"/>
          <a:lstStyle/>
          <a:p>
            <a:pPr indent="0" marL="0">
              <a:buNone/>
            </a:pPr>
            <a:endParaRPr lang="en-US" dirty="0"/>
          </a:p>
        </p:txBody>
      </p:sp>
      <p:sp>
        <p:nvSpPr>
          <p:cNvPr id="47" name="Text 44"/>
          <p:cNvSpPr/>
          <p:nvPr/>
        </p:nvSpPr>
        <p:spPr>
          <a:xfrm>
            <a:off x="5504259" y="1834493"/>
            <a:ext cx="21431" cy="171450"/>
          </a:xfrm>
          <a:prstGeom prst="rect">
            <a:avLst/>
          </a:prstGeom>
          <a:solidFill>
            <a:srgbClr val="138808"/>
          </a:solidFill>
          <a:ln/>
        </p:spPr>
        <p:txBody>
          <a:bodyPr wrap="square" rtlCol="0" anchor="ctr"/>
          <a:lstStyle/>
          <a:p>
            <a:pPr indent="0" marL="0">
              <a:buNone/>
            </a:pPr>
            <a:endParaRPr lang="en-US" dirty="0"/>
          </a:p>
        </p:txBody>
      </p:sp>
      <p:sp>
        <p:nvSpPr>
          <p:cNvPr id="48" name="Text 45"/>
          <p:cNvSpPr/>
          <p:nvPr/>
        </p:nvSpPr>
        <p:spPr>
          <a:xfrm>
            <a:off x="4787433" y="2138316"/>
            <a:ext cx="548386" cy="196025"/>
          </a:xfrm>
          <a:prstGeom prst="roundRect">
            <a:avLst>
              <a:gd name="adj" fmla="val 97181"/>
            </a:avLst>
          </a:prstGeom>
          <a:solidFill>
            <a:srgbClr val="138808">
              <a:alpha val="15000"/>
            </a:srgbClr>
          </a:solidFill>
          <a:ln/>
        </p:spPr>
        <p:txBody>
          <a:bodyPr wrap="square" rtlCol="0" anchor="ctr"/>
          <a:lstStyle/>
          <a:p>
            <a:pPr indent="0" marL="0">
              <a:buNone/>
            </a:pPr>
            <a:endParaRPr lang="en-US" dirty="0"/>
          </a:p>
        </p:txBody>
      </p:sp>
      <p:sp>
        <p:nvSpPr>
          <p:cNvPr id="49" name="Text 46"/>
          <p:cNvSpPr/>
          <p:nvPr/>
        </p:nvSpPr>
        <p:spPr>
          <a:xfrm>
            <a:off x="4807744" y="2148818"/>
            <a:ext cx="507764" cy="175022"/>
          </a:xfrm>
          <a:prstGeom prst="rect">
            <a:avLst/>
          </a:prstGeom>
          <a:noFill/>
          <a:ln/>
        </p:spPr>
        <p:txBody>
          <a:bodyPr wrap="none" lIns="0" tIns="0" rIns="0" bIns="0" rtlCol="0" anchor="ctr"/>
          <a:lstStyle/>
          <a:p>
            <a:pPr algn="ctr" indent="0" marL="0">
              <a:lnSpc>
                <a:spcPts val="928"/>
              </a:lnSpc>
              <a:buNone/>
            </a:pPr>
            <a:r>
              <a:rPr lang="en-US" sz="800" b="1" dirty="0">
                <a:solidFill>
                  <a:srgbClr val="138808"/>
                </a:solidFill>
                <a:latin typeface="Liberation Sans Narrow" pitchFamily="34" charset="0"/>
                <a:ea typeface="Liberation Sans Narrow" pitchFamily="34" charset="-122"/>
                <a:cs typeface="Liberation Sans Narrow" pitchFamily="34" charset="-120"/>
              </a:rPr>
              <a:t>PHASE 3</a:t>
            </a:r>
            <a:endParaRPr lang="en-US" sz="800" dirty="0"/>
          </a:p>
        </p:txBody>
      </p:sp>
      <p:sp>
        <p:nvSpPr>
          <p:cNvPr id="50" name="Text 47"/>
          <p:cNvSpPr/>
          <p:nvPr/>
        </p:nvSpPr>
        <p:spPr>
          <a:xfrm>
            <a:off x="5372658" y="2166677"/>
            <a:ext cx="849548" cy="164592"/>
          </a:xfrm>
          <a:prstGeom prst="rect">
            <a:avLst/>
          </a:prstGeom>
          <a:noFill/>
          <a:ln/>
        </p:spPr>
        <p:txBody>
          <a:bodyPr wrap="non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Month 9–14</a:t>
            </a:r>
            <a:endParaRPr lang="en-US" sz="800" dirty="0"/>
          </a:p>
        </p:txBody>
      </p:sp>
      <p:sp>
        <p:nvSpPr>
          <p:cNvPr id="51" name="Text 48"/>
          <p:cNvSpPr/>
          <p:nvPr/>
        </p:nvSpPr>
        <p:spPr>
          <a:xfrm>
            <a:off x="4807744" y="2441711"/>
            <a:ext cx="142875" cy="142875"/>
          </a:xfrm>
          <a:prstGeom prst="rect">
            <a:avLst/>
          </a:prstGeom>
          <a:noFill/>
          <a:ln/>
        </p:spPr>
        <p:txBody>
          <a:bodyPr wrap="none" lIns="0" tIns="0" rIns="0" bIns="0" rtlCol="0" anchor="ctr"/>
          <a:lstStyle/>
          <a:p>
            <a:pPr algn="ctr" indent="0" marL="0">
              <a:buNone/>
            </a:pPr>
            <a:r>
              <a:rPr lang="en-US" sz="1406" dirty="0">
                <a:solidFill>
                  <a:srgbClr val="138808"/>
                </a:solidFill>
                <a:latin typeface="Segoe UI Symbol" pitchFamily="34" charset="0"/>
                <a:ea typeface="Segoe UI Symbol" pitchFamily="34" charset="-122"/>
                <a:cs typeface="Segoe UI Symbol" pitchFamily="34" charset="-120"/>
              </a:rPr>
              <a:t>⚙</a:t>
            </a:r>
            <a:endParaRPr lang="en-US" sz="1406" dirty="0"/>
          </a:p>
        </p:txBody>
      </p:sp>
      <p:sp>
        <p:nvSpPr>
          <p:cNvPr id="52" name="Text 49"/>
          <p:cNvSpPr/>
          <p:nvPr/>
        </p:nvSpPr>
        <p:spPr>
          <a:xfrm>
            <a:off x="4993481" y="2395277"/>
            <a:ext cx="1228725" cy="254603"/>
          </a:xfrm>
          <a:prstGeom prst="rect">
            <a:avLst/>
          </a:prstGeom>
          <a:noFill/>
          <a:ln/>
        </p:spPr>
        <p:txBody>
          <a:bodyPr wrap="none" lIns="0" tIns="0" rIns="0" bIns="0" rtlCol="0" anchor="t"/>
          <a:lstStyle/>
          <a:p>
            <a:pPr algn="l" indent="0" marL="0">
              <a:lnSpc>
                <a:spcPts val="1856"/>
              </a:lnSpc>
              <a:buNone/>
            </a:pPr>
            <a:r>
              <a:rPr lang="en-US" sz="1238" b="1" dirty="0">
                <a:solidFill>
                  <a:srgbClr val="138808"/>
                </a:solidFill>
                <a:latin typeface="Liberation Sans Narrow" pitchFamily="34" charset="0"/>
                <a:ea typeface="Liberation Sans Narrow" pitchFamily="34" charset="-122"/>
                <a:cs typeface="Liberation Sans Narrow" pitchFamily="34" charset="-120"/>
              </a:rPr>
              <a:t>₹15 Cr</a:t>
            </a:r>
            <a:endParaRPr lang="en-US" sz="1238" dirty="0"/>
          </a:p>
        </p:txBody>
      </p:sp>
      <p:sp>
        <p:nvSpPr>
          <p:cNvPr id="53" name="Text 50"/>
          <p:cNvSpPr/>
          <p:nvPr/>
        </p:nvSpPr>
        <p:spPr>
          <a:xfrm>
            <a:off x="4807744" y="2702458"/>
            <a:ext cx="1414463"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Full Smart System</a:t>
            </a:r>
            <a:endParaRPr lang="en-US" sz="900" dirty="0"/>
          </a:p>
        </p:txBody>
      </p:sp>
      <p:sp>
        <p:nvSpPr>
          <p:cNvPr id="54" name="Text 51"/>
          <p:cNvSpPr/>
          <p:nvPr/>
        </p:nvSpPr>
        <p:spPr>
          <a:xfrm>
            <a:off x="4807744" y="2916771"/>
            <a:ext cx="1499330" cy="493776"/>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Auto-retract mechanisms, IMD weather integration, predictive ML, recycling program launch.</a:t>
            </a:r>
            <a:endParaRPr lang="en-US" sz="800" dirty="0"/>
          </a:p>
        </p:txBody>
      </p:sp>
      <p:sp>
        <p:nvSpPr>
          <p:cNvPr id="55" name="Text 52"/>
          <p:cNvSpPr/>
          <p:nvPr/>
        </p:nvSpPr>
        <p:spPr>
          <a:xfrm>
            <a:off x="6543675" y="2198824"/>
            <a:ext cx="1714500" cy="1500188"/>
          </a:xfrm>
          <a:prstGeom prst="roundRect">
            <a:avLst>
              <a:gd name="adj" fmla="val 10159"/>
            </a:avLst>
          </a:prstGeom>
          <a:solidFill>
            <a:srgbClr val="1A1A1A"/>
          </a:solidFill>
          <a:ln/>
        </p:spPr>
        <p:txBody>
          <a:bodyPr wrap="square" rtlCol="0" anchor="ctr"/>
          <a:lstStyle/>
          <a:p>
            <a:pPr indent="0" marL="0">
              <a:buNone/>
            </a:pPr>
            <a:endParaRPr lang="en-US" dirty="0"/>
          </a:p>
        </p:txBody>
      </p:sp>
      <p:sp>
        <p:nvSpPr>
          <p:cNvPr id="56" name="Text 53"/>
          <p:cNvSpPr/>
          <p:nvPr/>
        </p:nvSpPr>
        <p:spPr>
          <a:xfrm>
            <a:off x="7390209" y="2048805"/>
            <a:ext cx="21431" cy="171450"/>
          </a:xfrm>
          <a:prstGeom prst="rect">
            <a:avLst/>
          </a:prstGeom>
          <a:solidFill>
            <a:srgbClr val="9B59B6"/>
          </a:solidFill>
          <a:ln/>
        </p:spPr>
        <p:txBody>
          <a:bodyPr wrap="square" rtlCol="0" anchor="ctr"/>
          <a:lstStyle/>
          <a:p>
            <a:pPr indent="0" marL="0">
              <a:buNone/>
            </a:pPr>
            <a:endParaRPr lang="en-US" dirty="0"/>
          </a:p>
        </p:txBody>
      </p:sp>
      <p:sp>
        <p:nvSpPr>
          <p:cNvPr id="57" name="Text 54"/>
          <p:cNvSpPr/>
          <p:nvPr/>
        </p:nvSpPr>
        <p:spPr>
          <a:xfrm>
            <a:off x="6673383" y="2352629"/>
            <a:ext cx="548386" cy="196025"/>
          </a:xfrm>
          <a:prstGeom prst="roundRect">
            <a:avLst>
              <a:gd name="adj" fmla="val 97181"/>
            </a:avLst>
          </a:prstGeom>
          <a:solidFill>
            <a:srgbClr val="9B59B6">
              <a:alpha val="15000"/>
            </a:srgbClr>
          </a:solidFill>
          <a:ln/>
        </p:spPr>
        <p:txBody>
          <a:bodyPr wrap="square" rtlCol="0" anchor="ctr"/>
          <a:lstStyle/>
          <a:p>
            <a:pPr indent="0" marL="0">
              <a:buNone/>
            </a:pPr>
            <a:endParaRPr lang="en-US" dirty="0"/>
          </a:p>
        </p:txBody>
      </p:sp>
      <p:sp>
        <p:nvSpPr>
          <p:cNvPr id="58" name="Text 55"/>
          <p:cNvSpPr/>
          <p:nvPr/>
        </p:nvSpPr>
        <p:spPr>
          <a:xfrm>
            <a:off x="6693694" y="2363130"/>
            <a:ext cx="507764" cy="175022"/>
          </a:xfrm>
          <a:prstGeom prst="rect">
            <a:avLst/>
          </a:prstGeom>
          <a:noFill/>
          <a:ln/>
        </p:spPr>
        <p:txBody>
          <a:bodyPr wrap="none" lIns="0" tIns="0" rIns="0" bIns="0" rtlCol="0" anchor="ctr"/>
          <a:lstStyle/>
          <a:p>
            <a:pPr algn="ctr" indent="0" marL="0">
              <a:lnSpc>
                <a:spcPts val="928"/>
              </a:lnSpc>
              <a:buNone/>
            </a:pPr>
            <a:r>
              <a:rPr lang="en-US" sz="800" b="1" dirty="0">
                <a:solidFill>
                  <a:srgbClr val="9B59B6"/>
                </a:solidFill>
                <a:latin typeface="Liberation Sans Narrow" pitchFamily="34" charset="0"/>
                <a:ea typeface="Liberation Sans Narrow" pitchFamily="34" charset="-122"/>
                <a:cs typeface="Liberation Sans Narrow" pitchFamily="34" charset="-120"/>
              </a:rPr>
              <a:t>PHASE 4</a:t>
            </a:r>
            <a:endParaRPr lang="en-US" sz="800" dirty="0"/>
          </a:p>
        </p:txBody>
      </p:sp>
      <p:sp>
        <p:nvSpPr>
          <p:cNvPr id="59" name="Text 56"/>
          <p:cNvSpPr/>
          <p:nvPr/>
        </p:nvSpPr>
        <p:spPr>
          <a:xfrm>
            <a:off x="7258608" y="2380990"/>
            <a:ext cx="849548" cy="164592"/>
          </a:xfrm>
          <a:prstGeom prst="rect">
            <a:avLst/>
          </a:prstGeom>
          <a:noFill/>
          <a:ln/>
        </p:spPr>
        <p:txBody>
          <a:bodyPr wrap="none" lIns="0" tIns="0" rIns="0" bIns="0" rtlCol="0" anchor="t"/>
          <a:lstStyle/>
          <a:p>
            <a:pPr algn="l" indent="0" marL="0">
              <a:lnSpc>
                <a:spcPts val="1097"/>
              </a:lnSpc>
              <a:buNone/>
            </a:pPr>
            <a:r>
              <a:rPr lang="en-US" sz="800" dirty="0">
                <a:solidFill>
                  <a:srgbClr val="9CA3AF"/>
                </a:solidFill>
                <a:latin typeface="Liberation Sans Narrow" pitchFamily="34" charset="0"/>
                <a:ea typeface="Liberation Sans Narrow" pitchFamily="34" charset="-122"/>
                <a:cs typeface="Liberation Sans Narrow" pitchFamily="34" charset="-120"/>
              </a:rPr>
              <a:t>Month 15–18</a:t>
            </a:r>
            <a:endParaRPr lang="en-US" sz="800" dirty="0"/>
          </a:p>
        </p:txBody>
      </p:sp>
      <p:sp>
        <p:nvSpPr>
          <p:cNvPr id="60" name="Text 57"/>
          <p:cNvSpPr/>
          <p:nvPr/>
        </p:nvSpPr>
        <p:spPr>
          <a:xfrm>
            <a:off x="6693694" y="2656024"/>
            <a:ext cx="142875" cy="142875"/>
          </a:xfrm>
          <a:prstGeom prst="rect">
            <a:avLst/>
          </a:prstGeom>
          <a:noFill/>
          <a:ln/>
        </p:spPr>
        <p:txBody>
          <a:bodyPr wrap="none" lIns="0" tIns="0" rIns="0" bIns="0" rtlCol="0" anchor="ctr"/>
          <a:lstStyle/>
          <a:p>
            <a:pPr algn="ctr" indent="0" marL="0">
              <a:buNone/>
            </a:pPr>
            <a:r>
              <a:rPr lang="en-US" sz="1406" dirty="0">
                <a:solidFill>
                  <a:srgbClr val="9B59B6"/>
                </a:solidFill>
                <a:latin typeface="Segoe UI Symbol" pitchFamily="34" charset="0"/>
                <a:ea typeface="Segoe UI Symbol" pitchFamily="34" charset="-122"/>
                <a:cs typeface="Segoe UI Symbol" pitchFamily="34" charset="-120"/>
              </a:rPr>
              <a:t>↗</a:t>
            </a:r>
            <a:endParaRPr lang="en-US" sz="1406" dirty="0"/>
          </a:p>
        </p:txBody>
      </p:sp>
      <p:sp>
        <p:nvSpPr>
          <p:cNvPr id="61" name="Text 58"/>
          <p:cNvSpPr/>
          <p:nvPr/>
        </p:nvSpPr>
        <p:spPr>
          <a:xfrm>
            <a:off x="6879431" y="2609590"/>
            <a:ext cx="1228725" cy="254603"/>
          </a:xfrm>
          <a:prstGeom prst="rect">
            <a:avLst/>
          </a:prstGeom>
          <a:noFill/>
          <a:ln/>
        </p:spPr>
        <p:txBody>
          <a:bodyPr wrap="none" lIns="0" tIns="0" rIns="0" bIns="0" rtlCol="0" anchor="t"/>
          <a:lstStyle/>
          <a:p>
            <a:pPr algn="l" indent="0" marL="0">
              <a:lnSpc>
                <a:spcPts val="1856"/>
              </a:lnSpc>
              <a:buNone/>
            </a:pPr>
            <a:r>
              <a:rPr lang="en-US" sz="1238" b="1" dirty="0">
                <a:solidFill>
                  <a:srgbClr val="9B59B6"/>
                </a:solidFill>
                <a:latin typeface="Liberation Sans Narrow" pitchFamily="34" charset="0"/>
                <a:ea typeface="Liberation Sans Narrow" pitchFamily="34" charset="-122"/>
                <a:cs typeface="Liberation Sans Narrow" pitchFamily="34" charset="-120"/>
              </a:rPr>
              <a:t>₹5 Cr</a:t>
            </a:r>
            <a:endParaRPr lang="en-US" sz="1238" dirty="0"/>
          </a:p>
        </p:txBody>
      </p:sp>
      <p:sp>
        <p:nvSpPr>
          <p:cNvPr id="62" name="Text 59"/>
          <p:cNvSpPr/>
          <p:nvPr/>
        </p:nvSpPr>
        <p:spPr>
          <a:xfrm>
            <a:off x="6693694" y="2916771"/>
            <a:ext cx="1414462"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Carlito" pitchFamily="34" charset="0"/>
                <a:ea typeface="Carlito" pitchFamily="34" charset="-122"/>
                <a:cs typeface="Carlito" pitchFamily="34" charset="-120"/>
              </a:rPr>
              <a:t>Scale</a:t>
            </a:r>
            <a:endParaRPr lang="en-US" sz="900" dirty="0"/>
          </a:p>
        </p:txBody>
      </p:sp>
      <p:sp>
        <p:nvSpPr>
          <p:cNvPr id="63" name="Text 60"/>
          <p:cNvSpPr/>
          <p:nvPr/>
        </p:nvSpPr>
        <p:spPr>
          <a:xfrm>
            <a:off x="6693694" y="3131083"/>
            <a:ext cx="1499330" cy="417909"/>
          </a:xfrm>
          <a:prstGeom prst="rect">
            <a:avLst/>
          </a:prstGeom>
          <a:noFill/>
          <a:ln/>
        </p:spPr>
        <p:txBody>
          <a:bodyPr wrap="square" lIns="0" tIns="0" rIns="0" bIns="0" rtlCol="0" anchor="t"/>
          <a:lstStyle/>
          <a:p>
            <a:pPr algn="l" indent="0" marL="0">
              <a:lnSpc>
                <a:spcPts val="1097"/>
              </a:lnSpc>
              <a:buNone/>
            </a:pPr>
            <a:r>
              <a:rPr lang="en-US" sz="800" dirty="0">
                <a:solidFill>
                  <a:srgbClr val="9CA3AF"/>
                </a:solidFill>
                <a:latin typeface="Carlito" pitchFamily="34" charset="0"/>
                <a:ea typeface="Carlito" pitchFamily="34" charset="-122"/>
                <a:cs typeface="Carlito" pitchFamily="34" charset="-120"/>
              </a:rPr>
              <a:t>Graphene on 50 VIP flags, Delhi 311 integration, expand to Mumbai/Chennai/Kolkata.</a:t>
            </a:r>
            <a:endParaRPr lang="en-US" sz="800" dirty="0"/>
          </a:p>
        </p:txBody>
      </p:sp>
      <p:sp>
        <p:nvSpPr>
          <p:cNvPr id="64" name="Text 61"/>
          <p:cNvSpPr/>
          <p:nvPr/>
        </p:nvSpPr>
        <p:spPr>
          <a:xfrm>
            <a:off x="1689497" y="1930933"/>
            <a:ext cx="107156" cy="107156"/>
          </a:xfrm>
          <a:prstGeom prst="ellipse">
            <a:avLst/>
          </a:prstGeom>
          <a:solidFill>
            <a:srgbClr val="FF9933"/>
          </a:solidFill>
          <a:ln w="21431">
            <a:solidFill>
              <a:srgbClr val="0F0F0F"/>
            </a:solidFill>
            <a:prstDash val="solid"/>
          </a:ln>
        </p:spPr>
        <p:txBody>
          <a:bodyPr wrap="square" rtlCol="0" anchor="ctr"/>
          <a:lstStyle/>
          <a:p>
            <a:pPr indent="0" marL="0">
              <a:buNone/>
            </a:pPr>
            <a:endParaRPr lang="en-US" dirty="0"/>
          </a:p>
        </p:txBody>
      </p:sp>
      <p:sp>
        <p:nvSpPr>
          <p:cNvPr id="65" name="Text 62"/>
          <p:cNvSpPr/>
          <p:nvPr/>
        </p:nvSpPr>
        <p:spPr>
          <a:xfrm>
            <a:off x="3575447" y="1859496"/>
            <a:ext cx="107156" cy="107156"/>
          </a:xfrm>
          <a:prstGeom prst="ellipse">
            <a:avLst/>
          </a:prstGeom>
          <a:solidFill>
            <a:srgbClr val="4A90D9"/>
          </a:solidFill>
          <a:ln w="21431">
            <a:solidFill>
              <a:srgbClr val="0F0F0F"/>
            </a:solidFill>
            <a:prstDash val="solid"/>
          </a:ln>
        </p:spPr>
        <p:txBody>
          <a:bodyPr wrap="square" rtlCol="0" anchor="ctr"/>
          <a:lstStyle/>
          <a:p>
            <a:pPr indent="0" marL="0">
              <a:buNone/>
            </a:pPr>
            <a:endParaRPr lang="en-US" dirty="0"/>
          </a:p>
        </p:txBody>
      </p:sp>
      <p:sp>
        <p:nvSpPr>
          <p:cNvPr id="66" name="Text 63"/>
          <p:cNvSpPr/>
          <p:nvPr/>
        </p:nvSpPr>
        <p:spPr>
          <a:xfrm>
            <a:off x="5461397" y="1716621"/>
            <a:ext cx="107156" cy="107156"/>
          </a:xfrm>
          <a:prstGeom prst="ellipse">
            <a:avLst/>
          </a:prstGeom>
          <a:solidFill>
            <a:srgbClr val="138808"/>
          </a:solidFill>
          <a:ln w="21431">
            <a:solidFill>
              <a:srgbClr val="0F0F0F"/>
            </a:solidFill>
            <a:prstDash val="solid"/>
          </a:ln>
        </p:spPr>
        <p:txBody>
          <a:bodyPr wrap="square" rtlCol="0" anchor="ctr"/>
          <a:lstStyle/>
          <a:p>
            <a:pPr indent="0" marL="0">
              <a:buNone/>
            </a:pPr>
            <a:endParaRPr lang="en-US" dirty="0"/>
          </a:p>
        </p:txBody>
      </p:sp>
      <p:sp>
        <p:nvSpPr>
          <p:cNvPr id="67" name="Text 64"/>
          <p:cNvSpPr/>
          <p:nvPr/>
        </p:nvSpPr>
        <p:spPr>
          <a:xfrm>
            <a:off x="7347347" y="1930933"/>
            <a:ext cx="107156" cy="107156"/>
          </a:xfrm>
          <a:prstGeom prst="ellipse">
            <a:avLst/>
          </a:prstGeom>
          <a:solidFill>
            <a:srgbClr val="9B59B6"/>
          </a:solidFill>
          <a:ln w="21431">
            <a:solidFill>
              <a:srgbClr val="0F0F0F"/>
            </a:solidFill>
            <a:prstDash val="solid"/>
          </a:ln>
        </p:spPr>
        <p:txBody>
          <a:bodyPr wrap="square" rtlCol="0" anchor="ctr"/>
          <a:lstStyle/>
          <a:p>
            <a:pPr indent="0" marL="0">
              <a:buNone/>
            </a:pPr>
            <a:endParaRPr lang="en-US" dirty="0"/>
          </a:p>
        </p:txBody>
      </p:sp>
      <p:sp>
        <p:nvSpPr>
          <p:cNvPr id="68" name="Text 65"/>
          <p:cNvSpPr/>
          <p:nvPr/>
        </p:nvSpPr>
        <p:spPr>
          <a:xfrm>
            <a:off x="0" y="0"/>
            <a:ext cx="3047926" cy="42863"/>
          </a:xfrm>
          <a:prstGeom prst="rect">
            <a:avLst/>
          </a:prstGeom>
          <a:solidFill>
            <a:srgbClr val="FF9933"/>
          </a:solidFill>
          <a:ln/>
        </p:spPr>
        <p:txBody>
          <a:bodyPr wrap="square" rtlCol="0" anchor="ctr"/>
          <a:lstStyle/>
          <a:p>
            <a:pPr indent="0" marL="0">
              <a:buNone/>
            </a:pPr>
            <a:endParaRPr lang="en-US" dirty="0"/>
          </a:p>
        </p:txBody>
      </p:sp>
      <p:sp>
        <p:nvSpPr>
          <p:cNvPr id="69" name="Text 66"/>
          <p:cNvSpPr/>
          <p:nvPr/>
        </p:nvSpPr>
        <p:spPr>
          <a:xfrm>
            <a:off x="3047926" y="0"/>
            <a:ext cx="3048037" cy="42863"/>
          </a:xfrm>
          <a:prstGeom prst="rect">
            <a:avLst/>
          </a:prstGeom>
          <a:solidFill>
            <a:srgbClr val="FFFFFF"/>
          </a:solidFill>
          <a:ln/>
        </p:spPr>
        <p:txBody>
          <a:bodyPr wrap="square" rtlCol="0" anchor="ctr"/>
          <a:lstStyle/>
          <a:p>
            <a:pPr indent="0" marL="0">
              <a:buNone/>
            </a:pPr>
            <a:endParaRPr lang="en-US" dirty="0"/>
          </a:p>
        </p:txBody>
      </p:sp>
      <p:sp>
        <p:nvSpPr>
          <p:cNvPr id="70" name="Text 67"/>
          <p:cNvSpPr/>
          <p:nvPr/>
        </p:nvSpPr>
        <p:spPr>
          <a:xfrm>
            <a:off x="6095963" y="0"/>
            <a:ext cx="3048037" cy="42863"/>
          </a:xfrm>
          <a:prstGeom prst="rect">
            <a:avLst/>
          </a:prstGeom>
          <a:solidFill>
            <a:srgbClr val="138808"/>
          </a:solidFill>
          <a:ln/>
        </p:spPr>
        <p:txBody>
          <a:bodyPr wrap="square"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0F"/>
        </a:solidFill>
      </p:bgPr>
    </p:bg>
    <p:spTree>
      <p:nvGrpSpPr>
        <p:cNvPr id="1" name=""/>
        <p:cNvGrpSpPr/>
        <p:nvPr/>
      </p:nvGrpSpPr>
      <p:grpSpPr>
        <a:xfrm>
          <a:off x="0" y="0"/>
          <a:ext cx="0" cy="0"/>
          <a:chOff x="0" y="0"/>
          <a:chExt cx="0" cy="0"/>
        </a:xfrm>
      </p:grpSpPr>
      <p:sp>
        <p:nvSpPr>
          <p:cNvPr id="2" name="Text 0"/>
          <p:cNvSpPr/>
          <p:nvPr/>
        </p:nvSpPr>
        <p:spPr>
          <a:xfrm>
            <a:off x="2428875" y="1285875"/>
            <a:ext cx="4286250" cy="2143125"/>
          </a:xfrm>
          <a:prstGeom prst="rect">
            <a:avLst/>
          </a:prstGeom>
          <a:solidFill>
            <a:srgbClr val="138808">
              <a:alpha val="6000"/>
            </a:srgbClr>
          </a:solidFill>
          <a:ln/>
        </p:spPr>
        <p:txBody>
          <a:bodyPr wrap="square" rtlCol="0" anchor="ctr"/>
          <a:lstStyle/>
          <a:p>
            <a:pPr indent="0" marL="0">
              <a:buNone/>
            </a:pPr>
            <a:endParaRPr lang="en-US" dirty="0"/>
          </a:p>
        </p:txBody>
      </p:sp>
      <p:sp>
        <p:nvSpPr>
          <p:cNvPr id="3" name="Text 1"/>
          <p:cNvSpPr/>
          <p:nvPr/>
        </p:nvSpPr>
        <p:spPr>
          <a:xfrm>
            <a:off x="2943129" y="1063303"/>
            <a:ext cx="1399251" cy="825532"/>
          </a:xfrm>
          <a:prstGeom prst="rect">
            <a:avLst/>
          </a:prstGeom>
          <a:noFill/>
          <a:ln/>
        </p:spPr>
        <p:txBody>
          <a:bodyPr wrap="none" lIns="0" tIns="0" rIns="0" bIns="0" rtlCol="0" anchor="t"/>
          <a:lstStyle/>
          <a:p>
            <a:pPr algn="ctr" indent="0" marL="0">
              <a:lnSpc>
                <a:spcPts val="5400"/>
              </a:lnSpc>
              <a:buNone/>
            </a:pPr>
            <a:r>
              <a:rPr lang="en-US" sz="5400" b="1" spc="-112" kern="0" dirty="0">
                <a:solidFill>
                  <a:srgbClr val="FF9933"/>
                </a:solidFill>
                <a:latin typeface="Carlito" pitchFamily="34" charset="0"/>
                <a:ea typeface="Carlito" pitchFamily="34" charset="-122"/>
                <a:cs typeface="Carlito" pitchFamily="34" charset="-120"/>
              </a:rPr>
              <a:t>Dh</a:t>
            </a:r>
            <a:endParaRPr lang="en-US" sz="5400" dirty="0"/>
          </a:p>
        </p:txBody>
      </p:sp>
      <p:sp>
        <p:nvSpPr>
          <p:cNvPr id="4" name="Text 2"/>
          <p:cNvSpPr/>
          <p:nvPr/>
        </p:nvSpPr>
        <p:spPr>
          <a:xfrm>
            <a:off x="3872625" y="1063303"/>
            <a:ext cx="1160105" cy="825532"/>
          </a:xfrm>
          <a:prstGeom prst="rect">
            <a:avLst/>
          </a:prstGeom>
          <a:noFill/>
          <a:ln/>
        </p:spPr>
        <p:txBody>
          <a:bodyPr wrap="none" lIns="0" tIns="0" rIns="0" bIns="0" rtlCol="0" anchor="t"/>
          <a:lstStyle/>
          <a:p>
            <a:pPr algn="ctr" indent="0" marL="0">
              <a:lnSpc>
                <a:spcPts val="5400"/>
              </a:lnSpc>
              <a:buNone/>
            </a:pPr>
            <a:r>
              <a:rPr lang="en-US" sz="5400" b="1" spc="-112" kern="0" dirty="0">
                <a:solidFill>
                  <a:srgbClr val="FFFFFF"/>
                </a:solidFill>
                <a:latin typeface="Carlito" pitchFamily="34" charset="0"/>
                <a:ea typeface="Carlito" pitchFamily="34" charset="-122"/>
                <a:cs typeface="Carlito" pitchFamily="34" charset="-120"/>
              </a:rPr>
              <a:t>va</a:t>
            </a:r>
            <a:endParaRPr lang="en-US" sz="5400" dirty="0"/>
          </a:p>
        </p:txBody>
      </p:sp>
      <p:sp>
        <p:nvSpPr>
          <p:cNvPr id="5" name="Text 3"/>
          <p:cNvSpPr/>
          <p:nvPr/>
        </p:nvSpPr>
        <p:spPr>
          <a:xfrm>
            <a:off x="4662221" y="1063303"/>
            <a:ext cx="858527" cy="825532"/>
          </a:xfrm>
          <a:prstGeom prst="rect">
            <a:avLst/>
          </a:prstGeom>
          <a:noFill/>
          <a:ln/>
        </p:spPr>
        <p:txBody>
          <a:bodyPr wrap="square" lIns="0" tIns="0" rIns="0" bIns="0" rtlCol="0" anchor="t"/>
          <a:lstStyle/>
          <a:p>
            <a:pPr algn="ctr" indent="0" marL="0">
              <a:lnSpc>
                <a:spcPts val="5400"/>
              </a:lnSpc>
              <a:buNone/>
            </a:pPr>
            <a:r>
              <a:rPr lang="en-US" sz="5400" b="1" spc="-112" kern="0" dirty="0">
                <a:solidFill>
                  <a:srgbClr val="138808"/>
                </a:solidFill>
                <a:latin typeface="Carlito" pitchFamily="34" charset="0"/>
                <a:ea typeface="Carlito" pitchFamily="34" charset="-122"/>
                <a:cs typeface="Carlito" pitchFamily="34" charset="-120"/>
              </a:rPr>
              <a:t>vi</a:t>
            </a:r>
            <a:endParaRPr lang="en-US" sz="5400" dirty="0"/>
          </a:p>
        </p:txBody>
      </p:sp>
      <p:sp>
        <p:nvSpPr>
          <p:cNvPr id="6" name="Text 4"/>
          <p:cNvSpPr/>
          <p:nvPr/>
        </p:nvSpPr>
        <p:spPr>
          <a:xfrm>
            <a:off x="5194716" y="1063303"/>
            <a:ext cx="917784" cy="825532"/>
          </a:xfrm>
          <a:prstGeom prst="rect">
            <a:avLst/>
          </a:prstGeom>
          <a:noFill/>
          <a:ln/>
        </p:spPr>
        <p:txBody>
          <a:bodyPr wrap="square" lIns="0" tIns="0" rIns="0" bIns="0" rtlCol="0" anchor="t"/>
          <a:lstStyle/>
          <a:p>
            <a:pPr algn="ctr" indent="0" marL="0">
              <a:lnSpc>
                <a:spcPts val="5400"/>
              </a:lnSpc>
              <a:buNone/>
            </a:pPr>
            <a:r>
              <a:rPr lang="en-US" sz="5400" b="1" spc="-112" kern="0" dirty="0">
                <a:solidFill>
                  <a:srgbClr val="FFFFFF"/>
                </a:solidFill>
                <a:latin typeface="Carlito" pitchFamily="34" charset="0"/>
                <a:ea typeface="Carlito" pitchFamily="34" charset="-122"/>
                <a:cs typeface="Carlito" pitchFamily="34" charset="-120"/>
              </a:rPr>
              <a:t>ni</a:t>
            </a:r>
            <a:endParaRPr lang="en-US" sz="5400" dirty="0"/>
          </a:p>
        </p:txBody>
      </p:sp>
      <p:sp>
        <p:nvSpPr>
          <p:cNvPr id="7" name="Text 5"/>
          <p:cNvSpPr/>
          <p:nvPr/>
        </p:nvSpPr>
        <p:spPr>
          <a:xfrm>
            <a:off x="2549881" y="1963415"/>
            <a:ext cx="4044238" cy="237606"/>
          </a:xfrm>
          <a:prstGeom prst="rect">
            <a:avLst/>
          </a:prstGeom>
          <a:noFill/>
          <a:ln/>
        </p:spPr>
        <p:txBody>
          <a:bodyPr wrap="square" lIns="0" tIns="0" rIns="0" bIns="0" rtlCol="0" anchor="t"/>
          <a:lstStyle/>
          <a:p>
            <a:pPr algn="ctr" indent="0" marL="0">
              <a:lnSpc>
                <a:spcPts val="1733"/>
              </a:lnSpc>
              <a:buNone/>
            </a:pPr>
            <a:r>
              <a:rPr lang="en-US" sz="1238" spc="28" kern="0" dirty="0">
                <a:solidFill>
                  <a:srgbClr val="FFFFFF"/>
                </a:solidFill>
                <a:latin typeface="Carlito" pitchFamily="34" charset="0"/>
                <a:ea typeface="Carlito" pitchFamily="34" charset="-122"/>
                <a:cs typeface="Carlito" pitchFamily="34" charset="-120"/>
              </a:rPr>
              <a:t>Protecting Our Flag. Optimizing Our Resources.</a:t>
            </a:r>
            <a:endParaRPr lang="en-US" sz="1238" dirty="0"/>
          </a:p>
        </p:txBody>
      </p:sp>
      <p:sp>
        <p:nvSpPr>
          <p:cNvPr id="8" name="Text 6"/>
          <p:cNvSpPr/>
          <p:nvPr/>
        </p:nvSpPr>
        <p:spPr>
          <a:xfrm>
            <a:off x="1982391" y="2615617"/>
            <a:ext cx="1311213" cy="342900"/>
          </a:xfrm>
          <a:prstGeom prst="roundRect">
            <a:avLst>
              <a:gd name="adj" fmla="val 111111"/>
            </a:avLst>
          </a:prstGeom>
          <a:solidFill>
            <a:srgbClr val="FF9933">
              <a:alpha val="12000"/>
            </a:srgbClr>
          </a:solidFill>
          <a:ln w="7144">
            <a:solidFill>
              <a:srgbClr val="FF9933"/>
            </a:solidFill>
            <a:prstDash val="solid"/>
          </a:ln>
        </p:spPr>
        <p:txBody>
          <a:bodyPr wrap="square" rtlCol="0" anchor="ctr"/>
          <a:lstStyle/>
          <a:p>
            <a:pPr indent="0" marL="0">
              <a:buNone/>
            </a:pPr>
            <a:endParaRPr lang="en-US" dirty="0"/>
          </a:p>
        </p:txBody>
      </p:sp>
      <p:sp>
        <p:nvSpPr>
          <p:cNvPr id="9" name="Text 7"/>
          <p:cNvSpPr/>
          <p:nvPr/>
        </p:nvSpPr>
        <p:spPr>
          <a:xfrm>
            <a:off x="2371725" y="2712058"/>
            <a:ext cx="746857" cy="142875"/>
          </a:xfrm>
          <a:prstGeom prst="rect">
            <a:avLst/>
          </a:prstGeom>
          <a:noFill/>
          <a:ln/>
        </p:spPr>
        <p:txBody>
          <a:bodyPr wrap="none" lIns="0" tIns="0" rIns="0" bIns="0" rtlCol="0" anchor="ctr"/>
          <a:lstStyle/>
          <a:p>
            <a:pPr algn="ctr" indent="0" marL="0">
              <a:lnSpc>
                <a:spcPts val="1519"/>
              </a:lnSpc>
              <a:buNone/>
            </a:pPr>
            <a:r>
              <a:rPr lang="en-US" sz="1013" b="1" spc="28" kern="0" dirty="0">
                <a:solidFill>
                  <a:srgbClr val="FF9933"/>
                </a:solidFill>
                <a:latin typeface="Liberation Sans Narrow" pitchFamily="34" charset="0"/>
                <a:ea typeface="Liberation Sans Narrow" pitchFamily="34" charset="-122"/>
                <a:cs typeface="Liberation Sans Narrow" pitchFamily="34" charset="-120"/>
              </a:rPr>
              <a:t>3x Lifespan</a:t>
            </a:r>
            <a:endParaRPr lang="en-US" sz="1013" dirty="0"/>
          </a:p>
        </p:txBody>
      </p:sp>
      <p:sp>
        <p:nvSpPr>
          <p:cNvPr id="10" name="Text 8"/>
          <p:cNvSpPr/>
          <p:nvPr/>
        </p:nvSpPr>
        <p:spPr>
          <a:xfrm>
            <a:off x="2157413" y="2708486"/>
            <a:ext cx="157163" cy="157163"/>
          </a:xfrm>
          <a:prstGeom prst="rect">
            <a:avLst/>
          </a:prstGeom>
          <a:noFill/>
          <a:ln/>
        </p:spPr>
        <p:txBody>
          <a:bodyPr wrap="none" lIns="0" tIns="0" rIns="0" bIns="0" rtlCol="0" anchor="ctr"/>
          <a:lstStyle/>
          <a:p>
            <a:pPr algn="ctr" indent="0" marL="0">
              <a:buNone/>
            </a:pPr>
            <a:r>
              <a:rPr lang="en-US" sz="1547" dirty="0">
                <a:solidFill>
                  <a:srgbClr val="FF9933"/>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3443622" y="2615617"/>
            <a:ext cx="1986297" cy="342900"/>
          </a:xfrm>
          <a:prstGeom prst="roundRect">
            <a:avLst>
              <a:gd name="adj" fmla="val 111111"/>
            </a:avLst>
          </a:prstGeom>
          <a:solidFill>
            <a:srgbClr val="138808">
              <a:alpha val="12000"/>
            </a:srgbClr>
          </a:solidFill>
          <a:ln w="7144">
            <a:solidFill>
              <a:srgbClr val="138808"/>
            </a:solidFill>
            <a:prstDash val="solid"/>
          </a:ln>
        </p:spPr>
        <p:txBody>
          <a:bodyPr wrap="square" rtlCol="0" anchor="ctr"/>
          <a:lstStyle/>
          <a:p>
            <a:pPr indent="0" marL="0">
              <a:buNone/>
            </a:pPr>
            <a:endParaRPr lang="en-US" dirty="0"/>
          </a:p>
        </p:txBody>
      </p:sp>
      <p:sp>
        <p:nvSpPr>
          <p:cNvPr id="12" name="Text 10"/>
          <p:cNvSpPr/>
          <p:nvPr/>
        </p:nvSpPr>
        <p:spPr>
          <a:xfrm>
            <a:off x="3832957" y="2712058"/>
            <a:ext cx="1421941" cy="142875"/>
          </a:xfrm>
          <a:prstGeom prst="rect">
            <a:avLst/>
          </a:prstGeom>
          <a:noFill/>
          <a:ln/>
        </p:spPr>
        <p:txBody>
          <a:bodyPr wrap="none" lIns="0" tIns="0" rIns="0" bIns="0" rtlCol="0" anchor="ctr"/>
          <a:lstStyle/>
          <a:p>
            <a:pPr algn="ctr" indent="0" marL="0">
              <a:lnSpc>
                <a:spcPts val="1519"/>
              </a:lnSpc>
              <a:buNone/>
            </a:pPr>
            <a:r>
              <a:rPr lang="en-US" sz="1013" b="1" spc="28" kern="0" dirty="0">
                <a:solidFill>
                  <a:srgbClr val="138808"/>
                </a:solidFill>
                <a:latin typeface="Liberation Sans Narrow" pitchFamily="34" charset="0"/>
                <a:ea typeface="Liberation Sans Narrow" pitchFamily="34" charset="-122"/>
                <a:cs typeface="Liberation Sans Narrow" pitchFamily="34" charset="-120"/>
              </a:rPr>
              <a:t>86.5% Cost Reduction</a:t>
            </a:r>
            <a:endParaRPr lang="en-US" sz="1013" dirty="0"/>
          </a:p>
        </p:txBody>
      </p:sp>
      <p:sp>
        <p:nvSpPr>
          <p:cNvPr id="13" name="Text 11"/>
          <p:cNvSpPr/>
          <p:nvPr/>
        </p:nvSpPr>
        <p:spPr>
          <a:xfrm>
            <a:off x="3618644" y="2708486"/>
            <a:ext cx="157163" cy="157163"/>
          </a:xfrm>
          <a:prstGeom prst="rect">
            <a:avLst/>
          </a:prstGeom>
          <a:noFill/>
          <a:ln/>
        </p:spPr>
        <p:txBody>
          <a:bodyPr wrap="none" lIns="0" tIns="0" rIns="0" bIns="0" rtlCol="0" anchor="ctr"/>
          <a:lstStyle/>
          <a:p>
            <a:pPr algn="ctr" indent="0" marL="0">
              <a:buNone/>
            </a:pPr>
            <a:r>
              <a:rPr lang="en-US" sz="1547" dirty="0">
                <a:solidFill>
                  <a:srgbClr val="138808"/>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5579938" y="2615617"/>
            <a:ext cx="1581671" cy="342900"/>
          </a:xfrm>
          <a:prstGeom prst="roundRect">
            <a:avLst>
              <a:gd name="adj" fmla="val 111111"/>
            </a:avLst>
          </a:prstGeom>
          <a:solidFill>
            <a:srgbClr val="FFFFFF">
              <a:alpha val="8000"/>
            </a:srgbClr>
          </a:solidFill>
          <a:ln w="7144">
            <a:solidFill>
              <a:srgbClr val="FFFFFF"/>
            </a:solidFill>
            <a:prstDash val="solid"/>
          </a:ln>
        </p:spPr>
        <p:txBody>
          <a:bodyPr wrap="square" rtlCol="0" anchor="ctr"/>
          <a:lstStyle/>
          <a:p>
            <a:pPr indent="0" marL="0">
              <a:buNone/>
            </a:pPr>
            <a:endParaRPr lang="en-US" dirty="0"/>
          </a:p>
        </p:txBody>
      </p:sp>
      <p:sp>
        <p:nvSpPr>
          <p:cNvPr id="15" name="Text 13"/>
          <p:cNvSpPr/>
          <p:nvPr/>
        </p:nvSpPr>
        <p:spPr>
          <a:xfrm>
            <a:off x="5969273" y="2712058"/>
            <a:ext cx="1017315" cy="142875"/>
          </a:xfrm>
          <a:prstGeom prst="rect">
            <a:avLst/>
          </a:prstGeom>
          <a:noFill/>
          <a:ln/>
        </p:spPr>
        <p:txBody>
          <a:bodyPr wrap="none" lIns="0" tIns="0" rIns="0" bIns="0" rtlCol="0" anchor="ctr"/>
          <a:lstStyle/>
          <a:p>
            <a:pPr algn="ctr" indent="0" marL="0">
              <a:lnSpc>
                <a:spcPts val="1519"/>
              </a:lnSpc>
              <a:buNone/>
            </a:pPr>
            <a:r>
              <a:rPr lang="en-US" sz="1013" b="1" spc="28" kern="0" dirty="0">
                <a:solidFill>
                  <a:srgbClr val="FFFFFF"/>
                </a:solidFill>
                <a:latin typeface="Liberation Sans Narrow" pitchFamily="34" charset="0"/>
                <a:ea typeface="Liberation Sans Narrow" pitchFamily="34" charset="-122"/>
                <a:cs typeface="Liberation Sans Narrow" pitchFamily="34" charset="-120"/>
              </a:rPr>
              <a:t>&lt;3s Alert Speed</a:t>
            </a:r>
            <a:endParaRPr lang="en-US" sz="1013" dirty="0"/>
          </a:p>
        </p:txBody>
      </p:sp>
      <p:sp>
        <p:nvSpPr>
          <p:cNvPr id="16" name="Text 14"/>
          <p:cNvSpPr/>
          <p:nvPr/>
        </p:nvSpPr>
        <p:spPr>
          <a:xfrm>
            <a:off x="5754960" y="2708486"/>
            <a:ext cx="157163" cy="157163"/>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3427857" y="3590739"/>
            <a:ext cx="2288174" cy="173593"/>
          </a:xfrm>
          <a:prstGeom prst="rect">
            <a:avLst/>
          </a:prstGeom>
          <a:noFill/>
          <a:ln/>
        </p:spPr>
        <p:txBody>
          <a:bodyPr wrap="square" lIns="0" tIns="0" rIns="0" bIns="0" rtlCol="0" anchor="t"/>
          <a:lstStyle/>
          <a:p>
            <a:pPr algn="ctr" indent="0" marL="0">
              <a:lnSpc>
                <a:spcPts val="1266"/>
              </a:lnSpc>
              <a:buNone/>
            </a:pPr>
            <a:r>
              <a:rPr lang="en-US" sz="844" dirty="0">
                <a:solidFill>
                  <a:srgbClr val="9CA3AF"/>
                </a:solidFill>
                <a:latin typeface="Carlito" pitchFamily="34" charset="0"/>
                <a:ea typeface="Carlito" pitchFamily="34" charset="-122"/>
                <a:cs typeface="Carlito" pitchFamily="34" charset="-120"/>
              </a:rPr>
              <a:t>Team Hamaraneta </a:t>
            </a:r>
            <a:pPr algn="ctr" indent="0" marL="0">
              <a:lnSpc>
                <a:spcPts val="1266"/>
              </a:lnSpc>
              <a:buNone/>
            </a:pPr>
            <a:r>
              <a:rPr lang="en-US" sz="844" dirty="0">
                <a:solidFill>
                  <a:srgbClr val="FFFFFF">
                    <a:alpha val="20000"/>
                  </a:srgbClr>
                </a:solidFill>
                <a:latin typeface="Carlito" pitchFamily="34" charset="0"/>
                <a:ea typeface="Carlito" pitchFamily="34" charset="-122"/>
                <a:cs typeface="Carlito" pitchFamily="34" charset="-120"/>
              </a:rPr>
              <a:t>|</a:t>
            </a:r>
            <a:pPr algn="ctr" indent="0" marL="0">
              <a:lnSpc>
                <a:spcPts val="1266"/>
              </a:lnSpc>
              <a:buNone/>
            </a:pPr>
            <a:r>
              <a:rPr lang="en-US" sz="844" dirty="0">
                <a:solidFill>
                  <a:srgbClr val="9CA3AF"/>
                </a:solidFill>
                <a:latin typeface="Carlito" pitchFamily="34" charset="0"/>
                <a:ea typeface="Carlito" pitchFamily="34" charset="-122"/>
                <a:cs typeface="Carlito" pitchFamily="34" charset="-120"/>
              </a:rPr>
              <a:t> India Innovates Initiative</a:t>
            </a:r>
            <a:endParaRPr lang="en-US" sz="844" dirty="0"/>
          </a:p>
        </p:txBody>
      </p:sp>
      <p:sp>
        <p:nvSpPr>
          <p:cNvPr id="18" name="Text 16"/>
          <p:cNvSpPr/>
          <p:nvPr/>
        </p:nvSpPr>
        <p:spPr>
          <a:xfrm>
            <a:off x="4071247" y="3822911"/>
            <a:ext cx="1001395" cy="231458"/>
          </a:xfrm>
          <a:prstGeom prst="rect">
            <a:avLst/>
          </a:prstGeom>
          <a:noFill/>
          <a:ln/>
        </p:spPr>
        <p:txBody>
          <a:bodyPr wrap="none" lIns="0" tIns="0" rIns="0" bIns="0" rtlCol="0" anchor="t"/>
          <a:lstStyle/>
          <a:p>
            <a:pPr algn="ctr" indent="0" marL="0">
              <a:lnSpc>
                <a:spcPts val="1688"/>
              </a:lnSpc>
              <a:buNone/>
            </a:pPr>
            <a:r>
              <a:rPr lang="en-US" sz="1125" b="1" spc="113" kern="0" dirty="0">
                <a:solidFill>
                  <a:srgbClr val="FF9933"/>
                </a:solidFill>
                <a:latin typeface="Carlito" pitchFamily="34" charset="0"/>
                <a:ea typeface="Carlito" pitchFamily="34" charset="-122"/>
                <a:cs typeface="Carlito" pitchFamily="34" charset="-120"/>
              </a:rPr>
              <a:t>JAI HIND</a:t>
            </a:r>
            <a:endParaRPr lang="en-US" sz="1125" dirty="0"/>
          </a:p>
        </p:txBody>
      </p:sp>
      <p:sp>
        <p:nvSpPr>
          <p:cNvPr id="19" name="Text 17"/>
          <p:cNvSpPr/>
          <p:nvPr/>
        </p:nvSpPr>
        <p:spPr>
          <a:xfrm>
            <a:off x="0" y="0"/>
            <a:ext cx="3047926" cy="71438"/>
          </a:xfrm>
          <a:prstGeom prst="rect">
            <a:avLst/>
          </a:prstGeom>
          <a:solidFill>
            <a:srgbClr val="FF9933"/>
          </a:solidFill>
          <a:ln/>
        </p:spPr>
        <p:txBody>
          <a:bodyPr wrap="square" rtlCol="0" anchor="ctr"/>
          <a:lstStyle/>
          <a:p>
            <a:pPr indent="0" marL="0">
              <a:buNone/>
            </a:pPr>
            <a:endParaRPr lang="en-US" dirty="0"/>
          </a:p>
        </p:txBody>
      </p:sp>
      <p:sp>
        <p:nvSpPr>
          <p:cNvPr id="20" name="Text 18"/>
          <p:cNvSpPr/>
          <p:nvPr/>
        </p:nvSpPr>
        <p:spPr>
          <a:xfrm>
            <a:off x="3047926" y="0"/>
            <a:ext cx="3048037" cy="71438"/>
          </a:xfrm>
          <a:prstGeom prst="rect">
            <a:avLst/>
          </a:prstGeom>
          <a:solidFill>
            <a:srgbClr val="FFFFFF"/>
          </a:solidFill>
          <a:ln/>
        </p:spPr>
        <p:txBody>
          <a:bodyPr wrap="square" rtlCol="0" anchor="ctr"/>
          <a:lstStyle/>
          <a:p>
            <a:pPr indent="0" marL="0">
              <a:buNone/>
            </a:pPr>
            <a:endParaRPr lang="en-US" dirty="0"/>
          </a:p>
        </p:txBody>
      </p:sp>
      <p:sp>
        <p:nvSpPr>
          <p:cNvPr id="21" name="Text 19"/>
          <p:cNvSpPr/>
          <p:nvPr/>
        </p:nvSpPr>
        <p:spPr>
          <a:xfrm>
            <a:off x="6095963" y="0"/>
            <a:ext cx="3048037" cy="71438"/>
          </a:xfrm>
          <a:prstGeom prst="rect">
            <a:avLst/>
          </a:prstGeom>
          <a:solidFill>
            <a:srgbClr val="138808"/>
          </a:solidFill>
          <a:ln/>
        </p:spPr>
        <p:txBody>
          <a:bodyPr wrap="square" rtlCol="0" anchor="ctr"/>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2026-06-24T12:13:43Z</dcterms:created>
  <dcterms:modified xsi:type="dcterms:W3CDTF">2026-06-24T12:13:43Z</dcterms:modified>
</cp:coreProperties>
</file>